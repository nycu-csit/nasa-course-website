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4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sldSz cx="11998325" cy="7559675"/>
  <p:notesSz cx="7559675" cy="10691813"/>
  <p:embeddedFontLst>
    <p:embeddedFont>
      <p:font typeface="DejaVu Sans Mono" panose="020B0609030804020204" pitchFamily="49" charset="0"/>
      <p:regular r:id="rId28"/>
      <p:bold r:id="rId29"/>
      <p:italic r:id="rId30"/>
      <p:boldItalic r:id="rId31"/>
    </p:embeddedFont>
    <p:embeddedFont>
      <p:font typeface="Microsoft JhengHei" panose="020B0604030504040204" pitchFamily="34" charset="-120"/>
      <p:regular r:id="rId32"/>
      <p:bold r:id="rId33"/>
    </p:embeddedFont>
    <p:embeddedFont>
      <p:font typeface="Noto Sans Symbols" pitchFamily="2" charset="0"/>
      <p:regular r:id="rId34"/>
      <p:bold r:id="rId35"/>
    </p:embeddedFont>
    <p:embeddedFont>
      <p:font typeface="Source Sans Pro" panose="020B0503030403020204" pitchFamily="34" charset="0"/>
      <p:regular r:id="rId36"/>
      <p:bold r:id="rId37"/>
      <p:italic r:id="rId38"/>
      <p:boldItalic r:id="rId39"/>
    </p:embeddedFont>
    <p:embeddedFont>
      <p:font typeface="Times" panose="02020603050405020304" pitchFamily="18" charset="0"/>
      <p:regular r:id="rId40"/>
      <p:bold r:id="rId41"/>
      <p:italic r:id="rId42"/>
      <p:boldItalic r:id="rId43"/>
    </p:embeddedFont>
    <p:embeddedFont>
      <p:font typeface="Ubuntu Mono" panose="020B0604020202020204" charset="0"/>
      <p:regular r:id="rId44"/>
      <p:bold r:id="rId45"/>
      <p:italic r:id="rId46"/>
      <p:boldItalic r:id="rId4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Li-Wen Hsu" initials="" lastIdx="2" clrIdx="0"/>
  <p:cmAuthor id="1" name="Jui-Nan Eric Lin" initials="" lastIdx="1" clrIdx="1"/>
  <p:cmAuthor id="2" name="李富源" initials="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6FB3297-4B54-43CD-9BC7-688ED428F494}">
  <a:tblStyle styleId="{76FB3297-4B54-43CD-9BC7-688ED428F4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76" y="16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12.fntdata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42" Type="http://schemas.openxmlformats.org/officeDocument/2006/relationships/font" Target="fonts/font15.fntdata"/><Relationship Id="rId47" Type="http://schemas.openxmlformats.org/officeDocument/2006/relationships/font" Target="fonts/font20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2.fntdata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font" Target="fonts/font18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4" Type="http://schemas.openxmlformats.org/officeDocument/2006/relationships/font" Target="fonts/font17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font" Target="fonts/font16.fntdata"/><Relationship Id="rId48" Type="http://schemas.openxmlformats.org/officeDocument/2006/relationships/commentAuthors" Target="commentAuthors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openxmlformats.org/officeDocument/2006/relationships/font" Target="fonts/font19.fntdata"/><Relationship Id="rId20" Type="http://schemas.openxmlformats.org/officeDocument/2006/relationships/slide" Target="slides/slide19.xml"/><Relationship Id="rId41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60175" y="801875"/>
            <a:ext cx="5040025" cy="40094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25" cy="481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ibimobiledevice/libimobiledevice/issues/1038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a42242cff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a42242cff4_0_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gaca77bcf3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" name="Google Shape;45;gaca77bcf3b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aca77bcf3b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aca77bcf3b_0_2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aca77bcf3b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aca77bcf3b_0_5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aca77bcf3b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aca77bcf3b_0_7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acbd3d15a4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acbd3d15a4_0_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acbd3d15a4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acbd3d15a4_0_13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acbd3d15a4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acbd3d15a4_0_2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acbd3d15a4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acbd3d15a4_0_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https://github.com/libimobiledevice/libimobiledevice/issues/1038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acbd3d15a4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acbd3d15a4_0_4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acbd3d15a4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acbd3d15a4_0_4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acbd3d15a4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acbd3d15a4_0_5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acbd3d15a4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acbd3d15a4_0_6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acbd3d15a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acbd3d15a4_0_6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acbd3d15a4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acbd3d15a4_0_78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acbd3d15a4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acbd3d15a4_0_8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acbd3d15a4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acbd3d15a4_0_9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acbd3d15a4_0_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acbd3d15a4_0_104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acbd3d15a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acbd3d15a4_0_126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acbd3d15a4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acbd3d15a4_0_132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acbd3d15a4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acbd3d15a4_0_139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acbd3d15a4_0_1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acbd3d15a4_0_145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acbd3d15a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acbd3d15a4_0_151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ad1162a0c8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ad1162a0c8_0_7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ad1162a0c8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598488" y="801688"/>
            <a:ext cx="6364287" cy="401002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ad1162a0c8_0_0:notes"/>
          <p:cNvSpPr txBox="1">
            <a:spLocks noGrp="1"/>
          </p:cNvSpPr>
          <p:nvPr>
            <p:ph type="body" idx="1"/>
          </p:nvPr>
        </p:nvSpPr>
        <p:spPr>
          <a:xfrm>
            <a:off x="755950" y="5078600"/>
            <a:ext cx="6047700" cy="481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大標題" type="tx" preserve="1">
  <p:cSld name="大標題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" name="Google Shape;11;p2"/>
          <p:cNvSpPr txBox="1"/>
          <p:nvPr/>
        </p:nvSpPr>
        <p:spPr>
          <a:xfrm>
            <a:off x="5272075" y="6385700"/>
            <a:ext cx="6126300" cy="103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 altLang="en-US" sz="30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國立陽明交通大學資工系資訊中心</a:t>
            </a:r>
          </a:p>
          <a:p>
            <a:pPr marL="0" lvl="0" indent="0" algn="r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1100" dirty="0">
                <a:solidFill>
                  <a:schemeClr val="lt1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Computer Center, Department of Computer Science, NYCU</a:t>
            </a:r>
          </a:p>
          <a:p>
            <a:pPr marL="0" lvl="0" indent="0" algn="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4500" dirty="0">
              <a:solidFill>
                <a:schemeClr val="lt1"/>
              </a:solidFill>
              <a:latin typeface="Microsoft JhengHei"/>
              <a:ea typeface="Microsoft JhengHei"/>
              <a:cs typeface="Microsoft JhengHei"/>
              <a:sym typeface="Microsoft JhengHei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99875" y="5339225"/>
            <a:ext cx="102675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DBF5F9"/>
              </a:buClr>
              <a:buSzPts val="3600"/>
              <a:buFont typeface="Source Sans Pro"/>
              <a:buNone/>
              <a:defRPr sz="3600">
                <a:solidFill>
                  <a:srgbClr val="DBF5F9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zh-TW" altLang="en-US"/>
              <a:t>按一下以編輯母片子標題樣式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9906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" type="obj" preserve="1">
  <p:cSld name="版面一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6468344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一 (程式碼)" preserve="1">
  <p:cSld name="版面一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000"/>
              <a:buFont typeface="Source Sans Pro"/>
              <a:buNone/>
              <a:defRPr sz="5000">
                <a:solidFill>
                  <a:srgbClr val="FFFFFF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2606676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81">
          <p15:clr>
            <a:srgbClr val="FA7B17"/>
          </p15:clr>
        </p15:guide>
        <p15:guide id="2" pos="3779">
          <p15:clr>
            <a:srgbClr val="FA7B17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" preserve="1">
  <p:cSld name="版面二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8626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版面二 (程式碼)" preserve="1">
  <p:cSld name="版面二 (程式碼)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10830900" cy="56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Times New Roman"/>
              <a:buNone/>
              <a:defRPr sz="3000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Font typeface="Times New Roman"/>
              <a:buNone/>
              <a:defRPr sz="2800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lvl="2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Times New Roman"/>
              <a:buNone/>
              <a:defRPr sz="2600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lvl="3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lvl="4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lvl="5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L="3200400" lvl="6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L="3657600" lvl="7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L="4114800" lvl="8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Times New Roman"/>
              <a:buNone/>
              <a:defRPr sz="2400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599040" y="30132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000"/>
              <a:buFont typeface="Source Sans Pro"/>
              <a:buNone/>
              <a:defRPr sz="5000"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6000"/>
              <a:buFont typeface="Source Sans Pro"/>
              <a:buNone/>
              <a:defRPr sz="6000"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r>
              <a:rPr lang="zh-TW" altLang="en-US"/>
              <a:t>按一下以編輯母片標題樣式</a:t>
            </a:r>
            <a:endParaRPr dirty="0"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615250" y="4153475"/>
            <a:ext cx="10798500" cy="1730100"/>
          </a:xfrm>
          <a:prstGeom prst="rect">
            <a:avLst/>
          </a:prstGeom>
          <a:solidFill>
            <a:srgbClr val="EFEFEF"/>
          </a:solidFill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1pPr>
            <a:lvl2pPr marL="914400" lvl="1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2pPr>
            <a:lvl3pPr marL="1371600" lvl="2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3pPr>
            <a:lvl4pPr marL="1828800" lvl="3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4pPr>
            <a:lvl5pPr marL="2286000" lvl="4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5pPr>
            <a:lvl6pPr marL="2743200" lvl="5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6pPr>
            <a:lvl7pPr marL="3200400" lvl="6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●"/>
              <a:defRPr sz="2200">
                <a:latin typeface="Ubuntu Mono"/>
                <a:ea typeface="Ubuntu Mono"/>
                <a:cs typeface="Ubuntu Mono"/>
                <a:sym typeface="Ubuntu Mono"/>
              </a:defRPr>
            </a:lvl7pPr>
            <a:lvl8pPr marL="3657600" lvl="7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○"/>
              <a:defRPr sz="2200">
                <a:latin typeface="Ubuntu Mono"/>
                <a:ea typeface="Ubuntu Mono"/>
                <a:cs typeface="Ubuntu Mono"/>
                <a:sym typeface="Ubuntu Mono"/>
              </a:defRPr>
            </a:lvl8pPr>
            <a:lvl9pPr marL="4114800" lvl="8" indent="-368300" rtl="0">
              <a:spcBef>
                <a:spcPts val="0"/>
              </a:spcBef>
              <a:spcAft>
                <a:spcPts val="0"/>
              </a:spcAft>
              <a:buSzPts val="2200"/>
              <a:buFont typeface="Ubuntu Mono"/>
              <a:buChar char="■"/>
              <a:defRPr sz="2200">
                <a:latin typeface="Ubuntu Mono"/>
                <a:ea typeface="Ubuntu Mono"/>
                <a:cs typeface="Ubuntu Mono"/>
                <a:sym typeface="Ubuntu Mono"/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21643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7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99877" y="3409970"/>
            <a:ext cx="107985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04617B"/>
              </a:buClr>
              <a:buSzPts val="6000"/>
              <a:buFont typeface="Source Sans Pro"/>
              <a:buNone/>
              <a:defRPr sz="6000">
                <a:solidFill>
                  <a:srgbClr val="04617B"/>
                </a:solidFill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sldNum" idx="12"/>
          </p:nvPr>
        </p:nvSpPr>
        <p:spPr>
          <a:xfrm>
            <a:off x="11227808" y="6981108"/>
            <a:ext cx="720000" cy="57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algn="ctr" rtl="0">
              <a:buNone/>
              <a:defRPr sz="1600">
                <a:solidFill>
                  <a:srgbClr val="DBF5F9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046672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en.wikipedia.org/wiki/Microkernel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kernel.org" TargetMode="Externa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freebsd.org/en/books/handbook/kernelconfig/#kernelconfig-config" TargetMode="External"/><Relationship Id="rId7" Type="http://schemas.openxmlformats.org/officeDocument/2006/relationships/hyperlink" Target="https://wiki.centos.org/HowTos/Custom_Kernel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iki.archlinux.org/index.php/Kernel/Arch_Build_System" TargetMode="External"/><Relationship Id="rId5" Type="http://schemas.openxmlformats.org/officeDocument/2006/relationships/hyperlink" Target="https://wiki.ubuntu.com/Kernel/BuildYourOwnKernel" TargetMode="External"/><Relationship Id="rId4" Type="http://schemas.openxmlformats.org/officeDocument/2006/relationships/hyperlink" Target="https://kernel-team.pages.debian.net/kernel-handbook/ch-common-tasks.html#s-common-official" TargetMode="Externa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Drivers and the Kernel</a:t>
            </a:r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200" dirty="0" err="1"/>
              <a:t>lwhsu</a:t>
            </a:r>
            <a:r>
              <a:rPr lang="en-US" sz="2200"/>
              <a:t> (2019-2021, CC BY)</a:t>
            </a:r>
            <a:endParaRPr sz="23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/>
              <a:t>? (?-2018) 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Introduction  – UNIX Kernel and Shell</a:t>
            </a:r>
            <a:endParaRPr/>
          </a:p>
        </p:txBody>
      </p:sp>
      <p:grpSp>
        <p:nvGrpSpPr>
          <p:cNvPr id="49" name="Google Shape;49;p8"/>
          <p:cNvGrpSpPr/>
          <p:nvPr/>
        </p:nvGrpSpPr>
        <p:grpSpPr>
          <a:xfrm>
            <a:off x="563350" y="1996325"/>
            <a:ext cx="9665428" cy="4405100"/>
            <a:chOff x="563350" y="1996325"/>
            <a:chExt cx="9665428" cy="4405100"/>
          </a:xfrm>
        </p:grpSpPr>
        <p:sp>
          <p:nvSpPr>
            <p:cNvPr id="50" name="Google Shape;50;p8"/>
            <p:cNvSpPr/>
            <p:nvPr/>
          </p:nvSpPr>
          <p:spPr>
            <a:xfrm>
              <a:off x="563350" y="1996325"/>
              <a:ext cx="7500600" cy="3049200"/>
            </a:xfrm>
            <a:prstGeom prst="rect">
              <a:avLst/>
            </a:prstGeom>
            <a:noFill/>
            <a:ln w="28575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     YOUR SHELL PROGRAMS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1" name="Google Shape;51;p8"/>
            <p:cNvSpPr/>
            <p:nvPr/>
          </p:nvSpPr>
          <p:spPr>
            <a:xfrm>
              <a:off x="872150" y="2418400"/>
              <a:ext cx="6758100" cy="2235900"/>
            </a:xfrm>
            <a:prstGeom prst="rect">
              <a:avLst/>
            </a:prstGeom>
            <a:noFill/>
            <a:ln w="28575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KORN SHELL                      C SHELL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2" name="Google Shape;52;p8"/>
            <p:cNvSpPr/>
            <p:nvPr/>
          </p:nvSpPr>
          <p:spPr>
            <a:xfrm>
              <a:off x="1415650" y="2838375"/>
              <a:ext cx="5783400" cy="1262100"/>
            </a:xfrm>
            <a:prstGeom prst="rect">
              <a:avLst/>
            </a:prstGeom>
            <a:noFill/>
            <a:ln w="28575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KERNEL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3" name="Google Shape;53;p8"/>
            <p:cNvSpPr/>
            <p:nvPr/>
          </p:nvSpPr>
          <p:spPr>
            <a:xfrm>
              <a:off x="1897400" y="3283075"/>
              <a:ext cx="4844700" cy="578700"/>
            </a:xfrm>
            <a:prstGeom prst="rect">
              <a:avLst/>
            </a:prstGeom>
            <a:noFill/>
            <a:ln w="28575" cap="flat" cmpd="sng">
              <a:solidFill>
                <a:srgbClr val="1F497D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HARDWARE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4" name="Google Shape;54;p8"/>
            <p:cNvSpPr txBox="1"/>
            <p:nvPr/>
          </p:nvSpPr>
          <p:spPr>
            <a:xfrm>
              <a:off x="1403150" y="4042575"/>
              <a:ext cx="6073200" cy="3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OTHER UNIX COMMANDS           BOURNE SHELL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5" name="Google Shape;55;p8"/>
            <p:cNvSpPr txBox="1"/>
            <p:nvPr/>
          </p:nvSpPr>
          <p:spPr>
            <a:xfrm>
              <a:off x="935900" y="4578100"/>
              <a:ext cx="5486700" cy="333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OTHER APPLICATION PROGRAMS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6" name="Google Shape;56;p8"/>
            <p:cNvSpPr txBox="1"/>
            <p:nvPr/>
          </p:nvSpPr>
          <p:spPr>
            <a:xfrm>
              <a:off x="8527000" y="3127425"/>
              <a:ext cx="1689000" cy="6300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FETCH COMMAND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7" name="Google Shape;57;p8"/>
            <p:cNvSpPr txBox="1"/>
            <p:nvPr/>
          </p:nvSpPr>
          <p:spPr>
            <a:xfrm>
              <a:off x="8539778" y="4337500"/>
              <a:ext cx="1689000" cy="6300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ANALYZE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58" name="Google Shape;58;p8"/>
            <p:cNvSpPr txBox="1"/>
            <p:nvPr/>
          </p:nvSpPr>
          <p:spPr>
            <a:xfrm>
              <a:off x="8539778" y="5547575"/>
              <a:ext cx="1689000" cy="630000"/>
            </a:xfrm>
            <a:prstGeom prst="rect">
              <a:avLst/>
            </a:prstGeom>
            <a:noFill/>
            <a:ln w="2857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00">
                  <a:latin typeface="Times New Roman"/>
                  <a:ea typeface="Times New Roman"/>
                  <a:cs typeface="Times New Roman"/>
                  <a:sym typeface="Times New Roman"/>
                </a:rPr>
                <a:t>EXECUTE</a:t>
              </a:r>
              <a:endParaRPr sz="19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cxnSp>
          <p:nvCxnSpPr>
            <p:cNvPr id="59" name="Google Shape;59;p8"/>
            <p:cNvCxnSpPr>
              <a:stCxn id="56" idx="2"/>
              <a:endCxn id="57" idx="0"/>
            </p:cNvCxnSpPr>
            <p:nvPr/>
          </p:nvCxnSpPr>
          <p:spPr>
            <a:xfrm>
              <a:off x="9371500" y="3757425"/>
              <a:ext cx="12900" cy="580200"/>
            </a:xfrm>
            <a:prstGeom prst="straightConnector1">
              <a:avLst/>
            </a:prstGeom>
            <a:noFill/>
            <a:ln w="28575" cap="flat" cmpd="sng">
              <a:solidFill>
                <a:srgbClr val="1F497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0" name="Google Shape;60;p8"/>
            <p:cNvCxnSpPr>
              <a:stCxn id="57" idx="2"/>
              <a:endCxn id="58" idx="0"/>
            </p:cNvCxnSpPr>
            <p:nvPr/>
          </p:nvCxnSpPr>
          <p:spPr>
            <a:xfrm>
              <a:off x="9384278" y="4967500"/>
              <a:ext cx="0" cy="580200"/>
            </a:xfrm>
            <a:prstGeom prst="straightConnector1">
              <a:avLst/>
            </a:prstGeom>
            <a:noFill/>
            <a:ln w="28575" cap="flat" cmpd="sng">
              <a:solidFill>
                <a:srgbClr val="1F497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61" name="Google Shape;61;p8"/>
            <p:cNvCxnSpPr>
              <a:stCxn id="58" idx="2"/>
              <a:endCxn id="56" idx="3"/>
            </p:cNvCxnSpPr>
            <p:nvPr/>
          </p:nvCxnSpPr>
          <p:spPr>
            <a:xfrm rot="-5400000">
              <a:off x="8432528" y="4394225"/>
              <a:ext cx="2735100" cy="831600"/>
            </a:xfrm>
            <a:prstGeom prst="bentConnector4">
              <a:avLst>
                <a:gd name="adj1" fmla="val -8706"/>
                <a:gd name="adj2" fmla="val 130186"/>
              </a:avLst>
            </a:prstGeom>
            <a:noFill/>
            <a:ln w="28575" cap="flat" cmpd="sng">
              <a:solidFill>
                <a:srgbClr val="1F497D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62" name="Google Shape;62;p8"/>
            <p:cNvSpPr txBox="1"/>
            <p:nvPr/>
          </p:nvSpPr>
          <p:spPr>
            <a:xfrm>
              <a:off x="6041300" y="5822725"/>
              <a:ext cx="3051000" cy="57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>
                  <a:latin typeface="Times New Roman"/>
                  <a:ea typeface="Times New Roman"/>
                  <a:cs typeface="Times New Roman"/>
                  <a:sym typeface="Times New Roman"/>
                </a:rPr>
                <a:t>Interpret</a:t>
              </a:r>
              <a:endParaRPr sz="31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63" name="Google Shape;63;p8"/>
            <p:cNvSpPr/>
            <p:nvPr/>
          </p:nvSpPr>
          <p:spPr>
            <a:xfrm>
              <a:off x="5804650" y="4511975"/>
              <a:ext cx="2668775" cy="1406975"/>
            </a:xfrm>
            <a:custGeom>
              <a:avLst/>
              <a:gdLst/>
              <a:ahLst/>
              <a:cxnLst/>
              <a:rect l="l" t="t" r="r" b="b"/>
              <a:pathLst>
                <a:path w="106751" h="56279" extrusionOk="0">
                  <a:moveTo>
                    <a:pt x="0" y="0"/>
                  </a:moveTo>
                  <a:lnTo>
                    <a:pt x="0" y="56279"/>
                  </a:lnTo>
                  <a:lnTo>
                    <a:pt x="106751" y="56279"/>
                  </a:lnTo>
                </a:path>
              </a:pathLst>
            </a:custGeom>
            <a:noFill/>
            <a:ln w="76200" cap="flat" cmpd="sng">
              <a:solidFill>
                <a:srgbClr val="1F497D"/>
              </a:solidFill>
              <a:prstDash val="solid"/>
              <a:round/>
              <a:headEnd type="none" w="med" len="med"/>
              <a:tailEnd type="triangle" w="med" len="med"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Run-time structure of the kernel</a:t>
            </a:r>
            <a:endParaRPr/>
          </a:p>
        </p:txBody>
      </p:sp>
      <p:pic>
        <p:nvPicPr>
          <p:cNvPr id="70" name="Google Shape;70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458225" y="1504700"/>
            <a:ext cx="9081863" cy="5507832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9"/>
          <p:cNvSpPr txBox="1"/>
          <p:nvPr/>
        </p:nvSpPr>
        <p:spPr>
          <a:xfrm>
            <a:off x="1458213" y="6872100"/>
            <a:ext cx="90819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3.1 - Design and Implementation of the FreeBSD Operating System, The, 2nd Edition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body" idx="1"/>
          </p:nvPr>
        </p:nvSpPr>
        <p:spPr>
          <a:xfrm>
            <a:off x="599050" y="1563425"/>
            <a:ext cx="54102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Components of a UNIX System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User-level programs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Kernel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Hardware</a:t>
            </a:r>
            <a:endParaRPr sz="26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Two roles of kernel (OS)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600"/>
              <a:buChar char="○"/>
            </a:pPr>
            <a:r>
              <a:rPr lang="en-US" sz="2600" dirty="0">
                <a:solidFill>
                  <a:schemeClr val="tx1"/>
                </a:solidFill>
              </a:rPr>
              <a:t>High-level abstractions</a:t>
            </a:r>
            <a:endParaRPr sz="2600" dirty="0">
              <a:solidFill>
                <a:schemeClr val="tx1"/>
              </a:solidFill>
            </a:endParaRPr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Process managements</a:t>
            </a:r>
            <a:endParaRPr sz="2400" dirty="0"/>
          </a:p>
          <a:p>
            <a:pPr marL="1828800" lvl="3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US" sz="2200" dirty="0"/>
              <a:t>Time sharing, memory protect</a:t>
            </a:r>
            <a:endParaRPr sz="22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File system management</a:t>
            </a:r>
            <a:endParaRPr sz="24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Memory management</a:t>
            </a:r>
            <a:endParaRPr sz="24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I/O management</a:t>
            </a:r>
            <a:endParaRPr sz="24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Low-level interfaces</a:t>
            </a:r>
            <a:endParaRPr sz="26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drivers</a:t>
            </a:r>
            <a:endParaRPr sz="2800" dirty="0"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Roles of Kernel</a:t>
            </a:r>
            <a:endParaRPr/>
          </a:p>
        </p:txBody>
      </p:sp>
      <p:grpSp>
        <p:nvGrpSpPr>
          <p:cNvPr id="79" name="Google Shape;79;p10"/>
          <p:cNvGrpSpPr/>
          <p:nvPr/>
        </p:nvGrpSpPr>
        <p:grpSpPr>
          <a:xfrm>
            <a:off x="7007170" y="1657059"/>
            <a:ext cx="4131557" cy="1058145"/>
            <a:chOff x="6987375" y="1657000"/>
            <a:chExt cx="3713425" cy="1262100"/>
          </a:xfrm>
        </p:grpSpPr>
        <p:sp>
          <p:nvSpPr>
            <p:cNvPr id="80" name="Google Shape;80;p10"/>
            <p:cNvSpPr/>
            <p:nvPr/>
          </p:nvSpPr>
          <p:spPr>
            <a:xfrm>
              <a:off x="6987375" y="1657000"/>
              <a:ext cx="3713400" cy="1262100"/>
            </a:xfrm>
            <a:prstGeom prst="rect">
              <a:avLst/>
            </a:prstGeom>
            <a:solidFill>
              <a:srgbClr val="FFFFFF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Applications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81" name="Google Shape;81;p10"/>
            <p:cNvSpPr/>
            <p:nvPr/>
          </p:nvSpPr>
          <p:spPr>
            <a:xfrm>
              <a:off x="7865800" y="2340400"/>
              <a:ext cx="2835000" cy="578700"/>
            </a:xfrm>
            <a:prstGeom prst="rect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latin typeface="Times New Roman"/>
                  <a:ea typeface="Times New Roman"/>
                  <a:cs typeface="Times New Roman"/>
                  <a:sym typeface="Times New Roman"/>
                </a:rPr>
                <a:t>Libraries</a:t>
              </a:r>
              <a:endParaRPr sz="2000"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grpSp>
        <p:nvGrpSpPr>
          <p:cNvPr id="82" name="Google Shape;82;p10"/>
          <p:cNvGrpSpPr/>
          <p:nvPr/>
        </p:nvGrpSpPr>
        <p:grpSpPr>
          <a:xfrm>
            <a:off x="6709000" y="2896900"/>
            <a:ext cx="4870833" cy="2781646"/>
            <a:chOff x="6348618" y="2896766"/>
            <a:chExt cx="5230144" cy="2781646"/>
          </a:xfrm>
        </p:grpSpPr>
        <p:grpSp>
          <p:nvGrpSpPr>
            <p:cNvPr id="83" name="Google Shape;83;p10"/>
            <p:cNvGrpSpPr/>
            <p:nvPr/>
          </p:nvGrpSpPr>
          <p:grpSpPr>
            <a:xfrm>
              <a:off x="6348618" y="2896766"/>
              <a:ext cx="5230144" cy="2781646"/>
              <a:chOff x="6528209" y="2896751"/>
              <a:chExt cx="4192500" cy="2267400"/>
            </a:xfrm>
          </p:grpSpPr>
          <p:sp>
            <p:nvSpPr>
              <p:cNvPr id="84" name="Google Shape;84;p10"/>
              <p:cNvSpPr/>
              <p:nvPr/>
            </p:nvSpPr>
            <p:spPr>
              <a:xfrm>
                <a:off x="6528209" y="2896751"/>
                <a:ext cx="4192500" cy="2267400"/>
              </a:xfrm>
              <a:prstGeom prst="roundRect">
                <a:avLst>
                  <a:gd name="adj" fmla="val 16667"/>
                </a:avLst>
              </a:prstGeom>
              <a:noFill/>
              <a:ln w="9525" cap="flat" cmpd="sng">
                <a:solidFill>
                  <a:schemeClr val="dk2"/>
                </a:solidFill>
                <a:prstDash val="lgDash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Kernel</a:t>
                </a:r>
                <a:endParaRPr sz="2000" dirty="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grpSp>
            <p:nvGrpSpPr>
              <p:cNvPr id="85" name="Google Shape;85;p10"/>
              <p:cNvGrpSpPr/>
              <p:nvPr/>
            </p:nvGrpSpPr>
            <p:grpSpPr>
              <a:xfrm>
                <a:off x="6753797" y="3562300"/>
                <a:ext cx="3686162" cy="1340400"/>
                <a:chOff x="7905913" y="3562300"/>
                <a:chExt cx="2615413" cy="1340400"/>
              </a:xfrm>
            </p:grpSpPr>
            <p:sp>
              <p:nvSpPr>
                <p:cNvPr id="86" name="Google Shape;86;p10"/>
                <p:cNvSpPr/>
                <p:nvPr/>
              </p:nvSpPr>
              <p:spPr>
                <a:xfrm>
                  <a:off x="7905925" y="3562300"/>
                  <a:ext cx="2615400" cy="6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High-level abstractions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  <p:sp>
              <p:nvSpPr>
                <p:cNvPr id="87" name="Google Shape;87;p10"/>
                <p:cNvSpPr/>
                <p:nvPr/>
              </p:nvSpPr>
              <p:spPr>
                <a:xfrm>
                  <a:off x="7905913" y="4232500"/>
                  <a:ext cx="2615400" cy="670200"/>
                </a:xfrm>
                <a:prstGeom prst="rect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b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latin typeface="Times New Roman"/>
                      <a:ea typeface="Times New Roman"/>
                      <a:cs typeface="Times New Roman"/>
                      <a:sym typeface="Times New Roman"/>
                    </a:rPr>
                    <a:t>Low-level interfaces</a:t>
                  </a:r>
                  <a:endParaRPr sz="2000">
                    <a:latin typeface="Times New Roman"/>
                    <a:ea typeface="Times New Roman"/>
                    <a:cs typeface="Times New Roman"/>
                    <a:sym typeface="Times New Roman"/>
                  </a:endParaRPr>
                </a:p>
              </p:txBody>
            </p:sp>
          </p:grpSp>
        </p:grpSp>
        <p:grpSp>
          <p:nvGrpSpPr>
            <p:cNvPr id="88" name="Google Shape;88;p10"/>
            <p:cNvGrpSpPr/>
            <p:nvPr/>
          </p:nvGrpSpPr>
          <p:grpSpPr>
            <a:xfrm>
              <a:off x="8030400" y="4209940"/>
              <a:ext cx="3197400" cy="707400"/>
              <a:chOff x="6009250" y="6516402"/>
              <a:chExt cx="3197400" cy="707400"/>
            </a:xfrm>
          </p:grpSpPr>
          <p:sp>
            <p:nvSpPr>
              <p:cNvPr id="89" name="Google Shape;89;p10"/>
              <p:cNvSpPr/>
              <p:nvPr/>
            </p:nvSpPr>
            <p:spPr>
              <a:xfrm>
                <a:off x="6009250" y="6516402"/>
                <a:ext cx="1597200" cy="7074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File</a:t>
                </a:r>
                <a:br>
                  <a:rPr lang="en-US" sz="2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</a:br>
                <a:r>
                  <a:rPr lang="en-US" sz="2000" dirty="0">
                    <a:latin typeface="Times New Roman"/>
                    <a:ea typeface="Times New Roman"/>
                    <a:cs typeface="Times New Roman"/>
                    <a:sym typeface="Times New Roman"/>
                  </a:rPr>
                  <a:t>systems</a:t>
                </a:r>
                <a:endParaRPr sz="2000" dirty="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90" name="Google Shape;90;p10"/>
              <p:cNvSpPr/>
              <p:nvPr/>
            </p:nvSpPr>
            <p:spPr>
              <a:xfrm>
                <a:off x="7609450" y="6516402"/>
                <a:ext cx="1597200" cy="707400"/>
              </a:xfrm>
              <a:prstGeom prst="rect">
                <a:avLst/>
              </a:prstGeom>
              <a:solidFill>
                <a:srgbClr val="FFFFFF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latin typeface="Times New Roman"/>
                    <a:ea typeface="Times New Roman"/>
                    <a:cs typeface="Times New Roman"/>
                    <a:sym typeface="Times New Roman"/>
                  </a:rPr>
                  <a:t>Network protocols</a:t>
                </a:r>
                <a:endParaRPr sz="2000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91" name="Google Shape;91;p10"/>
          <p:cNvSpPr/>
          <p:nvPr/>
        </p:nvSpPr>
        <p:spPr>
          <a:xfrm>
            <a:off x="7007175" y="5924253"/>
            <a:ext cx="4131600" cy="5787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Times New Roman"/>
                <a:ea typeface="Times New Roman"/>
                <a:cs typeface="Times New Roman"/>
                <a:sym typeface="Times New Roman"/>
              </a:rPr>
              <a:t>Hardware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sp>
        <p:nvSpPr>
          <p:cNvPr id="97" name="Google Shape;97;p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I/O structure</a:t>
            </a:r>
            <a:endParaRPr/>
          </a:p>
        </p:txBody>
      </p:sp>
      <p:pic>
        <p:nvPicPr>
          <p:cNvPr id="98" name="Google Shape;98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48088" y="1266525"/>
            <a:ext cx="8502161" cy="571457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1"/>
          <p:cNvSpPr txBox="1"/>
          <p:nvPr/>
        </p:nvSpPr>
        <p:spPr>
          <a:xfrm>
            <a:off x="1458213" y="6872100"/>
            <a:ext cx="90819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Figure 7.1 - Design and Implementation of the FreeBSD Operating System, The, 2nd Edition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105" name="Google Shape;105;p1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Types</a:t>
            </a:r>
            <a:endParaRPr/>
          </a:p>
        </p:txBody>
      </p:sp>
      <p:pic>
        <p:nvPicPr>
          <p:cNvPr id="106" name="Google Shape;106;p12" descr="C:\Users\PhD TA\Desktop\OS-structure.svg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41600" y="1396300"/>
            <a:ext cx="10313400" cy="550048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2"/>
          <p:cNvSpPr txBox="1"/>
          <p:nvPr/>
        </p:nvSpPr>
        <p:spPr>
          <a:xfrm>
            <a:off x="1458213" y="6872100"/>
            <a:ext cx="9081900" cy="31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https://en.wikipedia.org/wiki/Microkernel </a:t>
            </a:r>
            <a:endParaRPr sz="18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3"/>
          <p:cNvSpPr txBox="1">
            <a:spLocks noGrp="1"/>
          </p:cNvSpPr>
          <p:nvPr>
            <p:ph type="body" idx="1"/>
          </p:nvPr>
        </p:nvSpPr>
        <p:spPr>
          <a:xfrm>
            <a:off x="599050" y="18682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Two extreme types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b="1"/>
              <a:t>Microkernel</a:t>
            </a:r>
            <a:endParaRPr sz="2300" b="1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b="1"/>
              <a:t>Provide only necessarily, compact and small functionalities</a:t>
            </a:r>
            <a:endParaRPr sz="2100" b="1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b="1"/>
              <a:t>Other functions is</a:t>
            </a:r>
            <a:r>
              <a:rPr lang="en-US" sz="2100" b="1">
                <a:solidFill>
                  <a:srgbClr val="FF0000"/>
                </a:solidFill>
              </a:rPr>
              <a:t> added via well-defined interfaces</a:t>
            </a:r>
            <a:endParaRPr sz="2100" b="1">
              <a:solidFill>
                <a:srgbClr val="FF0000"/>
              </a:solidFill>
            </a:endParaRPr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 b="1"/>
              <a:t>Monolithic kernel (a huge kernel - e.g., UNIX)</a:t>
            </a:r>
            <a:endParaRPr sz="2300" b="1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b="1"/>
              <a:t>Whole functionalities in one kernel, </a:t>
            </a:r>
            <a:r>
              <a:rPr lang="en-US" sz="2100" b="1">
                <a:solidFill>
                  <a:srgbClr val="FF0000"/>
                </a:solidFill>
              </a:rPr>
              <a:t>tightly integrated</a:t>
            </a:r>
            <a:endParaRPr sz="2100" b="1">
              <a:solidFill>
                <a:srgbClr val="FF0000"/>
              </a:solidFill>
            </a:endParaRPr>
          </a:p>
          <a:p>
            <a:pPr marL="457200" lvl="0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●"/>
            </a:pPr>
            <a:r>
              <a:rPr lang="en-US" sz="2500"/>
              <a:t>Modern OS</a:t>
            </a:r>
            <a:endParaRPr sz="2500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Solaris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b="1" u="sng"/>
              <a:t>Completely modular kernel</a:t>
            </a:r>
            <a:endParaRPr sz="2100" b="1" u="sng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b="1"/>
              <a:t>Load necessary module when it is needed</a:t>
            </a:r>
            <a:endParaRPr sz="2100" b="1"/>
          </a:p>
          <a:p>
            <a:pPr marL="914400" lvl="1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○"/>
            </a:pPr>
            <a:r>
              <a:rPr lang="en-US" sz="2300"/>
              <a:t>BSD/Linux-derived system</a:t>
            </a:r>
            <a:endParaRPr sz="2300"/>
          </a:p>
          <a:p>
            <a:pPr marL="1371600" lvl="2" indent="-361950" algn="l" rtl="0">
              <a:spcBef>
                <a:spcPts val="0"/>
              </a:spcBef>
              <a:spcAft>
                <a:spcPts val="0"/>
              </a:spcAft>
              <a:buSzPts val="2100"/>
              <a:buChar char="■"/>
            </a:pPr>
            <a:r>
              <a:rPr lang="en-US" sz="2100" b="1"/>
              <a:t>Much of the kernel's functionality is contained in modules</a:t>
            </a:r>
            <a:r>
              <a:rPr lang="en-US" sz="2100"/>
              <a:t> </a:t>
            </a:r>
            <a:endParaRPr sz="2100"/>
          </a:p>
        </p:txBody>
      </p:sp>
      <p:sp>
        <p:nvSpPr>
          <p:cNvPr id="112" name="Google Shape;112;p1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Types</a:t>
            </a:r>
            <a:endParaRPr/>
          </a:p>
        </p:txBody>
      </p:sp>
      <p:sp>
        <p:nvSpPr>
          <p:cNvPr id="115" name="Google Shape;115;p13"/>
          <p:cNvSpPr/>
          <p:nvPr/>
        </p:nvSpPr>
        <p:spPr>
          <a:xfrm>
            <a:off x="1792599" y="6659875"/>
            <a:ext cx="84438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Monolithic kernel developing towards micro kernel (being more modulized), 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but without IPC (message passing) problem</a:t>
            </a:r>
            <a:endParaRPr sz="2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6" name="Google Shape;116;p13"/>
          <p:cNvSpPr/>
          <p:nvPr/>
        </p:nvSpPr>
        <p:spPr>
          <a:xfrm>
            <a:off x="4876975" y="216975"/>
            <a:ext cx="5835000" cy="19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Concept of being </a:t>
            </a:r>
            <a:r>
              <a:rPr lang="en-US" sz="20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modulized</a:t>
            </a:r>
            <a:r>
              <a:rPr lang="en-US" sz="2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… 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only provides essential functionalities;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Put other sophisticated functions into user level</a:t>
            </a:r>
            <a:endParaRPr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e.g., I/O management in the user level</a:t>
            </a:r>
            <a:endParaRPr sz="2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85750" lvl="0" indent="-2984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increase scalability and less difficult in maintenance</a:t>
            </a:r>
            <a:endParaRPr sz="2000" dirty="0"/>
          </a:p>
          <a:p>
            <a:pPr marL="285750" lvl="0" indent="-29845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•"/>
            </a:pPr>
            <a:r>
              <a:rPr lang="en-US" sz="2000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How to communicate? </a:t>
            </a:r>
            <a:endParaRPr sz="2000" dirty="0"/>
          </a:p>
          <a:p>
            <a:pPr marL="444500" lvl="1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</a:pPr>
            <a:r>
              <a:rPr lang="en-US" sz="2000" dirty="0">
                <a:solidFill>
                  <a:srgbClr val="FF0000"/>
                </a:solidFill>
                <a:latin typeface="Times"/>
                <a:ea typeface="Times"/>
                <a:cs typeface="Times"/>
                <a:sym typeface="Times"/>
              </a:rPr>
              <a:t>-&gt; Message passing – less efficient</a:t>
            </a:r>
            <a:endParaRPr sz="20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4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Source directory and location</a:t>
            </a:r>
            <a:endParaRPr dirty="0"/>
          </a:p>
        </p:txBody>
      </p:sp>
      <p:sp>
        <p:nvSpPr>
          <p:cNvPr id="121" name="Google Shape;121;p1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122" name="Google Shape;122;p1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Kernel related directories</a:t>
            </a:r>
            <a:endParaRPr dirty="0"/>
          </a:p>
        </p:txBody>
      </p:sp>
      <p:graphicFrame>
        <p:nvGraphicFramePr>
          <p:cNvPr id="124" name="Google Shape;124;p14"/>
          <p:cNvGraphicFramePr/>
          <p:nvPr>
            <p:extLst>
              <p:ext uri="{D42A27DB-BD31-4B8C-83A1-F6EECF244321}">
                <p14:modId xmlns:p14="http://schemas.microsoft.com/office/powerpoint/2010/main" val="603406485"/>
              </p:ext>
            </p:extLst>
          </p:nvPr>
        </p:nvGraphicFramePr>
        <p:xfrm>
          <a:off x="1109550" y="2174325"/>
          <a:ext cx="9777500" cy="3571040"/>
        </p:xfrm>
        <a:graphic>
          <a:graphicData uri="http://schemas.openxmlformats.org/drawingml/2006/table">
            <a:tbl>
              <a:tblPr>
                <a:noFill/>
                <a:tableStyleId>{76FB3297-4B54-43CD-9BC7-688ED428F494}</a:tableStyleId>
              </a:tblPr>
              <a:tblGrid>
                <a:gridCol w="179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16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63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System</a:t>
                      </a:r>
                      <a:endParaRPr sz="2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Source Directory</a:t>
                      </a:r>
                      <a:endParaRPr sz="2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Kernel file</a:t>
                      </a:r>
                      <a:endParaRPr sz="28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8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FreeBSD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/usr/src/sys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/kernel (&lt; 4.x)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/boot/kernel/kernel (&gt;= 5.x)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870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Linux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/usr/src/linux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/vmlinuz or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5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/boot/vmlinuz</a:t>
                      </a:r>
                      <a:endParaRPr sz="2800" i="0" u="none" strike="noStrike" cap="none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Solaris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/kernel/unix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SunOS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/usr/kvm/sys</a:t>
                      </a:r>
                      <a:endParaRPr sz="28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Noto Sans Symbols"/>
                        <a:buNone/>
                      </a:pPr>
                      <a:r>
                        <a:rPr lang="en-US" sz="28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/</a:t>
                      </a:r>
                      <a:r>
                        <a:rPr lang="en-US" sz="2800" i="0" u="none" strike="noStrike" cap="none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vmunix</a:t>
                      </a:r>
                      <a:endParaRPr sz="280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00" marB="45700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The GENERIC kernel is for </a:t>
            </a:r>
            <a:r>
              <a:rPr lang="en-US" u="sng" dirty="0"/>
              <a:t>general purpose</a:t>
            </a:r>
            <a:endParaRPr u="sng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Tailoring kernel to match site situation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Purge unnecessary kernel devices and options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Add functionalities that you want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Patching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Remedy </a:t>
            </a:r>
            <a:r>
              <a:rPr lang="en-US" u="sng" dirty="0"/>
              <a:t>security hole</a:t>
            </a:r>
            <a:r>
              <a:rPr lang="en-US" dirty="0"/>
              <a:t> of kernel implementation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Fine-tuning system performance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Such as </a:t>
            </a:r>
            <a:r>
              <a:rPr lang="en-US" u="sng" dirty="0"/>
              <a:t>adjusting important system parameters</a:t>
            </a:r>
            <a:endParaRPr u="sng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Add device drivers or features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Decrease boot time</a:t>
            </a:r>
            <a:endParaRPr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Lower memory usage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9" name="Google Shape;129;p1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130" name="Google Shape;130;p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Why customize kernel?</a:t>
            </a:r>
            <a:endParaRPr dirty="0"/>
          </a:p>
        </p:txBody>
      </p:sp>
      <p:sp>
        <p:nvSpPr>
          <p:cNvPr id="132" name="Google Shape;132;p15"/>
          <p:cNvSpPr/>
          <p:nvPr/>
        </p:nvSpPr>
        <p:spPr>
          <a:xfrm>
            <a:off x="6754200" y="917225"/>
            <a:ext cx="5125251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GENERIC: with most common devices and feature supported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15"/>
          <p:cNvSpPr/>
          <p:nvPr/>
        </p:nvSpPr>
        <p:spPr>
          <a:xfrm>
            <a:off x="7750650" y="2355275"/>
            <a:ext cx="4043560" cy="3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 image -&gt; memory usage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6"/>
          <p:cNvSpPr txBox="1">
            <a:spLocks noGrp="1"/>
          </p:cNvSpPr>
          <p:nvPr>
            <p:ph type="body" idx="1"/>
          </p:nvPr>
        </p:nvSpPr>
        <p:spPr>
          <a:xfrm>
            <a:off x="599040" y="1563420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dirty="0"/>
              <a:t>Kernel source</a:t>
            </a:r>
            <a:endParaRPr sz="26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/</a:t>
            </a:r>
            <a:r>
              <a:rPr lang="en-US" sz="2400" dirty="0" err="1"/>
              <a:t>usr</a:t>
            </a:r>
            <a:r>
              <a:rPr lang="en-US" sz="2400" dirty="0"/>
              <a:t>/</a:t>
            </a:r>
            <a:r>
              <a:rPr lang="en-US" sz="2400" dirty="0" err="1"/>
              <a:t>src</a:t>
            </a:r>
            <a:r>
              <a:rPr lang="en-US" sz="2400" dirty="0"/>
              <a:t>/sys</a:t>
            </a:r>
            <a:endParaRPr sz="2400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dirty="0"/>
              <a:t>Kernel configuration file</a:t>
            </a:r>
            <a:endParaRPr sz="26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/</a:t>
            </a:r>
            <a:r>
              <a:rPr lang="en-US" sz="2400" dirty="0" err="1"/>
              <a:t>usr</a:t>
            </a:r>
            <a:r>
              <a:rPr lang="en-US" sz="2400" dirty="0"/>
              <a:t>/</a:t>
            </a:r>
            <a:r>
              <a:rPr lang="en-US" sz="2400" dirty="0" err="1"/>
              <a:t>src</a:t>
            </a:r>
            <a:r>
              <a:rPr lang="en-US" sz="2400" dirty="0"/>
              <a:t>/sys/&lt;ARCH&gt;/conf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GENERIC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LINT  (generated by `make LINT` under this directory)</a:t>
            </a:r>
            <a:endParaRPr sz="22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NOTES (all options with comments)</a:t>
            </a:r>
            <a:endParaRPr sz="2200" dirty="0"/>
          </a:p>
          <a:p>
            <a:pPr marL="457200" lvl="0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 dirty="0"/>
              <a:t>Steps to build a new kernel</a:t>
            </a:r>
            <a:endParaRPr sz="26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Edit /</a:t>
            </a:r>
            <a:r>
              <a:rPr lang="en-US" sz="2400" dirty="0" err="1"/>
              <a:t>usr</a:t>
            </a:r>
            <a:r>
              <a:rPr lang="en-US" sz="2400" dirty="0"/>
              <a:t>/</a:t>
            </a:r>
            <a:r>
              <a:rPr lang="en-US" sz="2400" dirty="0" err="1"/>
              <a:t>src</a:t>
            </a:r>
            <a:r>
              <a:rPr lang="en-US" sz="2400" dirty="0"/>
              <a:t>/sys/&lt;ARCH&gt;/conf/&lt;KERNCONF&gt;</a:t>
            </a:r>
            <a:endParaRPr sz="2400" dirty="0"/>
          </a:p>
          <a:p>
            <a:pPr marL="1371600" lvl="2" indent="-368300" algn="l" rtl="0">
              <a:spcBef>
                <a:spcPts val="0"/>
              </a:spcBef>
              <a:spcAft>
                <a:spcPts val="0"/>
              </a:spcAft>
              <a:buSzPts val="2200"/>
              <a:buChar char="■"/>
            </a:pPr>
            <a:r>
              <a:rPr lang="en-US" sz="2200" dirty="0"/>
              <a:t>For example, save a configuration file named as SABSD</a:t>
            </a:r>
            <a:endParaRPr sz="22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$ cd /</a:t>
            </a:r>
            <a:r>
              <a:rPr lang="en-US" sz="2400" dirty="0" err="1"/>
              <a:t>usr</a:t>
            </a:r>
            <a:r>
              <a:rPr lang="en-US" sz="2400" dirty="0"/>
              <a:t>/</a:t>
            </a:r>
            <a:r>
              <a:rPr lang="en-US" sz="2400" dirty="0" err="1"/>
              <a:t>src</a:t>
            </a:r>
            <a:r>
              <a:rPr lang="en-US" sz="2400" dirty="0"/>
              <a:t> ; 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$ make –j&lt;N&gt; </a:t>
            </a:r>
            <a:r>
              <a:rPr lang="en-US" sz="2400" dirty="0" err="1"/>
              <a:t>buildkernel</a:t>
            </a:r>
            <a:r>
              <a:rPr lang="en-US" sz="2400" dirty="0"/>
              <a:t> KERNCONF=SABSD</a:t>
            </a:r>
            <a:endParaRPr sz="2400" dirty="0"/>
          </a:p>
          <a:p>
            <a:pPr marL="914400" lvl="1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 dirty="0"/>
              <a:t>$ make </a:t>
            </a:r>
            <a:r>
              <a:rPr lang="en-US" sz="2400" dirty="0" err="1"/>
              <a:t>installkernel</a:t>
            </a:r>
            <a:r>
              <a:rPr lang="en-US" sz="2400" dirty="0"/>
              <a:t> KERNCONF=SABSD</a:t>
            </a:r>
            <a:endParaRPr sz="2600" dirty="0"/>
          </a:p>
        </p:txBody>
      </p:sp>
      <p:sp>
        <p:nvSpPr>
          <p:cNvPr id="138" name="Google Shape;138;p1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139" name="Google Shape;139;p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 and install FreeBSD Kernel</a:t>
            </a:r>
            <a:endParaRPr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B80C085A-38A6-49F0-8B53-D8BB884F4282}"/>
              </a:ext>
            </a:extLst>
          </p:cNvPr>
          <p:cNvSpPr txBox="1"/>
          <p:nvPr/>
        </p:nvSpPr>
        <p:spPr>
          <a:xfrm>
            <a:off x="0" y="6899590"/>
            <a:ext cx="647004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 dirty="0">
                <a:solidFill>
                  <a:schemeClr val="hlink"/>
                </a:solidFill>
              </a:rPr>
              <a:t>https://freebsdfoundation.org/updating-freebsd-from-git/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u="sng" dirty="0">
                <a:solidFill>
                  <a:schemeClr val="hlink"/>
                </a:solidFill>
              </a:rPr>
              <a:t>https://docs.freebsd.org/en/books/handbook/kernelconfig/#kernelconfig-building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What to Choose?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What to Load?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Option Settings?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Device Drivers?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sp>
        <p:nvSpPr>
          <p:cNvPr id="146" name="Google Shape;146;p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To Build a FreeBSD Kernel…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Before venturing into kernel configuration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Get an inventory list of the machine’s hardware</a:t>
            </a:r>
          </a:p>
          <a:p>
            <a:pPr lvl="2" indent="-406400">
              <a:buSzPts val="2800"/>
              <a:buFont typeface="Times New Roman"/>
              <a:buChar char="○"/>
            </a:pPr>
            <a:r>
              <a:rPr lang="en-US" dirty="0"/>
              <a:t>Focus on what you want to use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Microsoft's </a:t>
            </a:r>
            <a:r>
              <a:rPr lang="en-US" b="1" dirty="0"/>
              <a:t>Device Manager</a:t>
            </a:r>
            <a:r>
              <a:rPr lang="en-US" dirty="0"/>
              <a:t> </a:t>
            </a:r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 err="1"/>
              <a:t>dmesg</a:t>
            </a:r>
            <a:r>
              <a:rPr lang="en-US" dirty="0"/>
              <a:t> 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dmesg</a:t>
            </a:r>
            <a:r>
              <a:rPr lang="en-US" dirty="0"/>
              <a:t>(8) - display the system message buffer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cat /var/run/</a:t>
            </a:r>
            <a:r>
              <a:rPr lang="en-US" dirty="0" err="1"/>
              <a:t>dmesg.boot</a:t>
            </a:r>
            <a:endParaRPr dirty="0"/>
          </a:p>
        </p:txBody>
      </p:sp>
      <p:sp>
        <p:nvSpPr>
          <p:cNvPr id="152" name="Google Shape;152;p1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153" name="Google Shape;153;p1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the system hardware (1)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1157025" y="5273387"/>
            <a:ext cx="9651600" cy="1383134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vtnet0: &lt;</a:t>
            </a:r>
            <a:r>
              <a:rPr lang="en-US" sz="2100" dirty="0" err="1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VirtIO</a:t>
            </a:r>
            <a:r>
              <a:rPr lang="en-US" sz="21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 Networking Adapter&gt; on virtio_pci0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vtnet0: Ethernet address: </a:t>
            </a:r>
            <a:r>
              <a:rPr lang="en-US" sz="2100" dirty="0" err="1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xx:xx:xx:xx:xx:xx</a:t>
            </a:r>
            <a:endParaRPr lang="en-US" sz="2100" dirty="0">
              <a:solidFill>
                <a:srgbClr val="000000"/>
              </a:solidFill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vtnet0: </a:t>
            </a:r>
            <a:r>
              <a:rPr lang="en-US" sz="2100" dirty="0" err="1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netmap</a:t>
            </a:r>
            <a:r>
              <a:rPr lang="en-US" sz="21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 queues/slots: TX 8/256, RX 8/128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dirty="0">
                <a:solidFill>
                  <a:srgbClr val="000000"/>
                </a:solidFill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  <a:sym typeface="Courier New"/>
              </a:rPr>
              <a:t>vtnet0: link state changed to UP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 err="1"/>
              <a:t>pciconf</a:t>
            </a:r>
            <a:r>
              <a:rPr lang="en-US" dirty="0"/>
              <a:t> &amp; man page 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man -k </a:t>
            </a:r>
            <a:r>
              <a:rPr lang="en-US" dirty="0" err="1"/>
              <a:t>atheros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Find drivers from company name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pciconf</a:t>
            </a:r>
            <a:r>
              <a:rPr lang="en-US" dirty="0"/>
              <a:t> -l &amp; man</a:t>
            </a:r>
            <a:endParaRPr dirty="0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List all attached devices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162" name="Google Shape;162;p1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the system hardware (2)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56450" y="4045575"/>
            <a:ext cx="10316100" cy="1743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ehci1@pci0:0:29:7:      class=0x0c0320 card=0x3a3a8086 chip=0x3a3a8086 rev=0x00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pcib10@pci0:0:30:0:     class=0x060401 card=0x244e8086 chip=0x244e8086 rev=0x90 hdr=0x01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isab0@pci0:0:31:0:      class=0x060100 card=0x3a168086 chip=0x3a168086 rev=0x00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ahci0@pci0:0:31:2:      class=0x010601 card=0x3a228086 chip=0x3a228086 rev=0x00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none8@pci0:0:31:3:      class=0x0c0500 card=0x3a308086 chip=0x3a308086 rev=0x00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em0@pci0:3:0:0:         class=0x020000 card=0x00008086 chip=0x10d38086 rev=0x00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em1@pci0:2:0:0:         class=0x020000 card=0x00008086 chip=0x10d38086 rev=0x00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 err="1"/>
              <a:t>pciconf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 err="1"/>
              <a:t>pciconf</a:t>
            </a:r>
            <a:r>
              <a:rPr lang="en-US" dirty="0"/>
              <a:t> -lv </a:t>
            </a:r>
            <a:endParaRPr dirty="0"/>
          </a:p>
        </p:txBody>
      </p:sp>
      <p:sp>
        <p:nvSpPr>
          <p:cNvPr id="171" name="Google Shape;171;p2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  <p:sp>
        <p:nvSpPr>
          <p:cNvPr id="172" name="Google Shape;172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the system hardware (3)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744851" y="2718500"/>
            <a:ext cx="10506900" cy="1025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none3@pci0:0:20:3:      class=0x028000 card=0x00348086 chip=0x9df08086 rev=0x30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vendor     = 'Intel Corporation'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device     = 'Cannon Point-LP CNVi [Wireless-AC]'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class      = network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744850" y="4067980"/>
            <a:ext cx="10506900" cy="240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em0@pci0:0:31:6:        class=0x020000 card=0x20748086 chip=0x15be8086 rev=0x30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vendor     = 'Intel Corporation'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device     = 'Ethernet Connection (6) I219-V'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class      = network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subclass   = ethernet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nvme0@pci0:109:0:0:     class=0x010802 card=0x2263c0a9 chip=0x2263c0a9 rev=0x03 hdr=0x00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vendor     = 'Micron/Crucial Technology'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device     = 'P1 NVMe PCIe SSD'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class      = mass storage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subclass   = NVM</a:t>
            </a:r>
            <a:endParaRPr sz="15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76" name="Google Shape;176;p20"/>
          <p:cNvSpPr/>
          <p:nvPr/>
        </p:nvSpPr>
        <p:spPr>
          <a:xfrm>
            <a:off x="4741500" y="6662850"/>
            <a:ext cx="6486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May not support by GENERIC because of size, license, or…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Man page for devices</a:t>
            </a:r>
            <a:endParaRPr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man [device]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e.g.: man </a:t>
            </a:r>
            <a:r>
              <a:rPr lang="en-US" dirty="0" err="1"/>
              <a:t>em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1" name="Google Shape;181;p2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  <p:sp>
        <p:nvSpPr>
          <p:cNvPr id="182" name="Google Shape;182;p2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Finding the system hardware (4)</a:t>
            </a:r>
            <a:endParaRPr/>
          </a:p>
        </p:txBody>
      </p:sp>
      <p:pic>
        <p:nvPicPr>
          <p:cNvPr id="184" name="Google Shape;184;p21"/>
          <p:cNvPicPr preferRelativeResize="0"/>
          <p:nvPr/>
        </p:nvPicPr>
        <p:blipFill rotWithShape="1">
          <a:blip r:embed="rId3">
            <a:alphaModFix/>
          </a:blip>
          <a:srcRect r="3558"/>
          <a:stretch/>
        </p:blipFill>
        <p:spPr>
          <a:xfrm>
            <a:off x="582850" y="3289724"/>
            <a:ext cx="10830900" cy="40006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2"/>
          <p:cNvSpPr txBox="1">
            <a:spLocks noGrp="1"/>
          </p:cNvSpPr>
          <p:nvPr>
            <p:ph type="body" idx="1"/>
          </p:nvPr>
        </p:nvSpPr>
        <p:spPr>
          <a:xfrm>
            <a:off x="599050" y="1411025"/>
            <a:ext cx="10830900" cy="5865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sz="2800" dirty="0"/>
              <a:t>Each line is a control </a:t>
            </a:r>
            <a:r>
              <a:rPr lang="en-US" sz="2400" dirty="0"/>
              <a:t>phrase</a:t>
            </a:r>
            <a:endParaRPr sz="2800" dirty="0"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Keyword + arguments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sz="2400" dirty="0"/>
              <a:t>config(5), config(8)</a:t>
            </a:r>
          </a:p>
        </p:txBody>
      </p:sp>
      <p:sp>
        <p:nvSpPr>
          <p:cNvPr id="189" name="Google Shape;189;p22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US" dirty="0"/>
              <a:t>Configuration file of FreeBSD Kernel </a:t>
            </a:r>
            <a:endParaRPr dirty="0"/>
          </a:p>
        </p:txBody>
      </p:sp>
      <p:graphicFrame>
        <p:nvGraphicFramePr>
          <p:cNvPr id="192" name="Google Shape;192;p22"/>
          <p:cNvGraphicFramePr/>
          <p:nvPr>
            <p:extLst>
              <p:ext uri="{D42A27DB-BD31-4B8C-83A1-F6EECF244321}">
                <p14:modId xmlns:p14="http://schemas.microsoft.com/office/powerpoint/2010/main" val="1812048960"/>
              </p:ext>
            </p:extLst>
          </p:nvPr>
        </p:nvGraphicFramePr>
        <p:xfrm>
          <a:off x="776250" y="2673125"/>
          <a:ext cx="10476500" cy="3170000"/>
        </p:xfrm>
        <a:graphic>
          <a:graphicData uri="http://schemas.openxmlformats.org/drawingml/2006/table">
            <a:tbl>
              <a:tblPr>
                <a:noFill/>
                <a:tableStyleId>{76FB3297-4B54-43CD-9BC7-688ED428F494}</a:tableStyleId>
              </a:tblPr>
              <a:tblGrid>
                <a:gridCol w="19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974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120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Keyword</a:t>
                      </a:r>
                      <a:endParaRPr sz="2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Function</a:t>
                      </a:r>
                      <a:endParaRPr sz="2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b="1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Example</a:t>
                      </a:r>
                      <a:endParaRPr sz="2000" b="1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D9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machine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Sets the machine architecture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amd64 or arm64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cpu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Sets the CPU type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HAMMER or ARM64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Sets the name of the kernel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SABSD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(no)options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Sets various </a:t>
                      </a: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compile</a:t>
                      </a: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-time options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INET, INET6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device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Declares devices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 err="1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em</a:t>
                      </a: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, ix</a:t>
                      </a:r>
                      <a:endParaRPr sz="200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envvar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 compiled-in env prepared for loader(8)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hint.psm.0.irq=“12"</a:t>
                      </a:r>
                      <a:endParaRPr sz="200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49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(no)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makeoptions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dirty="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Set options for generated </a:t>
                      </a:r>
                      <a:r>
                        <a:rPr lang="en-US" sz="2000" dirty="0" err="1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makefile</a:t>
                      </a:r>
                      <a:endParaRPr sz="2000" dirty="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Noto Sans Symbols"/>
                        <a:buNone/>
                      </a:pPr>
                      <a:r>
                        <a:rPr lang="en-US" sz="2000" i="0" u="none" strike="noStrike" cap="none" dirty="0">
                          <a:solidFill>
                            <a:srgbClr val="00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DEBUG=g</a:t>
                      </a:r>
                      <a:endParaRPr sz="2000" i="0" u="none" strike="noStrike" cap="none" dirty="0">
                        <a:solidFill>
                          <a:srgbClr val="00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0517627"/>
                  </a:ext>
                </a:extLst>
              </a:tr>
            </a:tbl>
          </a:graphicData>
        </a:graphic>
      </p:graphicFrame>
      <p:sp>
        <p:nvSpPr>
          <p:cNvPr id="193" name="Google Shape;193;p22"/>
          <p:cNvSpPr txBox="1"/>
          <p:nvPr/>
        </p:nvSpPr>
        <p:spPr>
          <a:xfrm>
            <a:off x="1585191" y="5896460"/>
            <a:ext cx="9029100" cy="132653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cpu</a:t>
            </a:r>
            <a:r>
              <a:rPr lang="en-US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HAMMER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ident           GENERIC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makeoptions</a:t>
            </a:r>
            <a:r>
              <a:rPr lang="en-US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    DEBUG=-g                # Build kernel with 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gdb</a:t>
            </a:r>
            <a:r>
              <a:rPr lang="en-US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(1) debug symbols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options         SCHED_ULE               # ULE scheduler</a:t>
            </a:r>
            <a:endParaRPr dirty="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options         INET                    # 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InterNETworking</a:t>
            </a:r>
            <a:endParaRPr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device          </a:t>
            </a:r>
            <a:r>
              <a:rPr lang="en-US" dirty="0" err="1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em</a:t>
            </a:r>
            <a:endParaRPr dirty="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22"/>
          <p:cNvSpPr txBox="1"/>
          <p:nvPr/>
        </p:nvSpPr>
        <p:spPr>
          <a:xfrm>
            <a:off x="8178132" y="5896460"/>
            <a:ext cx="2582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amd64/conf/GENERIC</a:t>
            </a:r>
            <a:endParaRPr sz="1800" b="1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85A5BBB1-514C-4DF8-A7C0-591DBAA91C0C}"/>
              </a:ext>
            </a:extLst>
          </p:cNvPr>
          <p:cNvSpPr txBox="1"/>
          <p:nvPr/>
        </p:nvSpPr>
        <p:spPr>
          <a:xfrm>
            <a:off x="0" y="7171955"/>
            <a:ext cx="633057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u="sng" dirty="0">
                <a:solidFill>
                  <a:schemeClr val="hlink"/>
                </a:solidFill>
              </a:rPr>
              <a:t>https://docs.freebsd.org/en/books/handbook/kernelconfig/#kernelconfig-config</a:t>
            </a:r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Kernel file locations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Put in the /boot directory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/boot/kernel/kernel, /boot/</a:t>
            </a:r>
            <a:r>
              <a:rPr lang="en-US" dirty="0" err="1"/>
              <a:t>kernel.old</a:t>
            </a:r>
            <a:r>
              <a:rPr lang="en-US" dirty="0"/>
              <a:t>/kernel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dirty="0"/>
              <a:t>If something goes wrong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Char char="○"/>
            </a:pPr>
            <a:r>
              <a:rPr lang="en-US" dirty="0">
                <a:solidFill>
                  <a:srgbClr val="FF0000"/>
                </a:solidFill>
              </a:rPr>
              <a:t>ok mode !</a:t>
            </a: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unload kernel; load </a:t>
            </a:r>
            <a:r>
              <a:rPr lang="en-US" dirty="0" err="1"/>
              <a:t>kernel.old</a:t>
            </a:r>
            <a:r>
              <a:rPr lang="en-US" dirty="0"/>
              <a:t>/kernel</a:t>
            </a:r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■"/>
            </a:pPr>
            <a:r>
              <a:rPr lang="en-US" dirty="0"/>
              <a:t>load kernel modules</a:t>
            </a:r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○"/>
            </a:pPr>
            <a:r>
              <a:rPr lang="en-US" dirty="0"/>
              <a:t>mv /boot/kernel /boot/</a:t>
            </a:r>
            <a:r>
              <a:rPr lang="en-US" dirty="0" err="1"/>
              <a:t>kernel.bad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marR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u="sng" dirty="0">
                <a:solidFill>
                  <a:schemeClr val="hlink"/>
                </a:solidFill>
              </a:rPr>
              <a:t>https://docs.freebsd.org/en/books/handbook/kernelconfig/#kernelconfig-trouble</a:t>
            </a:r>
            <a:endParaRPr lang="en-US" dirty="0"/>
          </a:p>
        </p:txBody>
      </p:sp>
      <p:sp>
        <p:nvSpPr>
          <p:cNvPr id="200" name="Google Shape;200;p23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  <p:sp>
        <p:nvSpPr>
          <p:cNvPr id="201" name="Google Shape;201;p2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Kernel backup</a:t>
            </a:r>
            <a:endParaRPr dirty="0"/>
          </a:p>
        </p:txBody>
      </p:sp>
      <p:sp>
        <p:nvSpPr>
          <p:cNvPr id="203" name="Google Shape;203;p23"/>
          <p:cNvSpPr/>
          <p:nvPr/>
        </p:nvSpPr>
        <p:spPr>
          <a:xfrm>
            <a:off x="4965000" y="1462288"/>
            <a:ext cx="6152100" cy="6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Old kernel is automatically moved to </a:t>
            </a:r>
            <a:r>
              <a:rPr lang="en-US" sz="2400" dirty="0" err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kernel.old</a:t>
            </a:r>
            <a:endParaRPr sz="24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when you’re installing the new kernel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4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  <p:sp>
        <p:nvSpPr>
          <p:cNvPr id="209" name="Google Shape;209;p2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Ok mode</a:t>
            </a:r>
            <a:endParaRPr/>
          </a:p>
        </p:txBody>
      </p:sp>
      <p:grpSp>
        <p:nvGrpSpPr>
          <p:cNvPr id="210" name="Google Shape;210;p24"/>
          <p:cNvGrpSpPr/>
          <p:nvPr/>
        </p:nvGrpSpPr>
        <p:grpSpPr>
          <a:xfrm>
            <a:off x="598426" y="5211734"/>
            <a:ext cx="10639206" cy="1482243"/>
            <a:chOff x="758510" y="4876800"/>
            <a:chExt cx="8204200" cy="1143000"/>
          </a:xfrm>
        </p:grpSpPr>
        <p:pic>
          <p:nvPicPr>
            <p:cNvPr id="211" name="Google Shape;211;p24" descr="load.jpg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58510" y="4876800"/>
              <a:ext cx="8204200" cy="1143000"/>
            </a:xfrm>
            <a:prstGeom prst="rect">
              <a:avLst/>
            </a:prstGeom>
            <a:noFill/>
            <a:ln>
              <a:noFill/>
            </a:ln>
          </p:spPr>
        </p:pic>
        <p:cxnSp>
          <p:nvCxnSpPr>
            <p:cNvPr id="212" name="Google Shape;212;p24"/>
            <p:cNvCxnSpPr/>
            <p:nvPr/>
          </p:nvCxnSpPr>
          <p:spPr>
            <a:xfrm rot="10800000">
              <a:off x="2485710" y="5181600"/>
              <a:ext cx="914400" cy="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  <p:cxnSp>
          <p:nvCxnSpPr>
            <p:cNvPr id="213" name="Google Shape;213;p24"/>
            <p:cNvCxnSpPr/>
            <p:nvPr/>
          </p:nvCxnSpPr>
          <p:spPr>
            <a:xfrm rot="10800000">
              <a:off x="4009710" y="5334000"/>
              <a:ext cx="914400" cy="0"/>
            </a:xfrm>
            <a:prstGeom prst="straightConnector1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med" len="med"/>
              <a:tailEnd type="stealth" w="med" len="med"/>
            </a:ln>
          </p:spPr>
        </p:cxnSp>
      </p:grpSp>
      <p:sp>
        <p:nvSpPr>
          <p:cNvPr id="214" name="Google Shape;214;p24"/>
          <p:cNvSpPr/>
          <p:nvPr/>
        </p:nvSpPr>
        <p:spPr>
          <a:xfrm>
            <a:off x="6139250" y="6861850"/>
            <a:ext cx="5088600" cy="476400"/>
          </a:xfrm>
          <a:prstGeom prst="rect">
            <a:avLst/>
          </a:prstGeom>
          <a:solidFill>
            <a:srgbClr val="FFFFFF"/>
          </a:solidFill>
          <a:ln w="9525" cap="flat" cmpd="sng">
            <a:solidFill>
              <a:srgbClr val="FF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 “enable modules” in the ok mode..</a:t>
            </a:r>
            <a:endParaRPr sz="24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15" name="Google Shape;215;p24"/>
          <p:cNvGrpSpPr/>
          <p:nvPr/>
        </p:nvGrpSpPr>
        <p:grpSpPr>
          <a:xfrm>
            <a:off x="599112" y="1563576"/>
            <a:ext cx="10639191" cy="3543391"/>
            <a:chOff x="758510" y="1905000"/>
            <a:chExt cx="8236580" cy="2743200"/>
          </a:xfrm>
        </p:grpSpPr>
        <p:pic>
          <p:nvPicPr>
            <p:cNvPr id="216" name="Google Shape;216;p24"/>
            <p:cNvPicPr preferRelativeResize="0"/>
            <p:nvPr/>
          </p:nvPicPr>
          <p:blipFill rotWithShape="1">
            <a:blip r:embed="rId4">
              <a:alphaModFix/>
            </a:blip>
            <a:srcRect t="27115" b="11867"/>
            <a:stretch/>
          </p:blipFill>
          <p:spPr>
            <a:xfrm>
              <a:off x="758510" y="1905000"/>
              <a:ext cx="8236580" cy="2743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7" name="Google Shape;217;p24"/>
            <p:cNvSpPr/>
            <p:nvPr/>
          </p:nvSpPr>
          <p:spPr>
            <a:xfrm>
              <a:off x="1040567" y="2819400"/>
              <a:ext cx="3836100" cy="228600"/>
            </a:xfrm>
            <a:prstGeom prst="rect">
              <a:avLst/>
            </a:prstGeom>
            <a:noFill/>
            <a:ln w="2857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5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 err="1"/>
              <a:t>sysctl</a:t>
            </a:r>
            <a:r>
              <a:rPr lang="en-US" sz="2700" dirty="0"/>
              <a:t>(8) command</a:t>
            </a:r>
            <a:endParaRPr sz="2700" dirty="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/>
              <a:t>Dynamically set or get kernel parameters</a:t>
            </a:r>
            <a:endParaRPr sz="2500" dirty="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/>
              <a:t>All changes made by </a:t>
            </a:r>
            <a:r>
              <a:rPr lang="en-US" sz="2500" dirty="0" err="1"/>
              <a:t>sysctl</a:t>
            </a:r>
            <a:r>
              <a:rPr lang="en-US" sz="2500" dirty="0"/>
              <a:t> will be lost across reboot</a:t>
            </a:r>
            <a:endParaRPr sz="2500" dirty="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/>
              <a:t>Use </a:t>
            </a:r>
            <a:r>
              <a:rPr lang="en-US" sz="2500" dirty="0" err="1"/>
              <a:t>sysctl</a:t>
            </a:r>
            <a:r>
              <a:rPr lang="en-US" sz="2500" dirty="0"/>
              <a:t> to tune the kernel and test it, then recompile the kernel</a:t>
            </a:r>
            <a:endParaRPr sz="2500" dirty="0"/>
          </a:p>
          <a:p>
            <a:pPr marL="9144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00" dirty="0">
                <a:solidFill>
                  <a:srgbClr val="FF0000"/>
                </a:solidFill>
              </a:rPr>
              <a:t>The other way is to write your settings into /</a:t>
            </a:r>
            <a:r>
              <a:rPr lang="en-US" sz="2500" dirty="0" err="1">
                <a:solidFill>
                  <a:srgbClr val="FF0000"/>
                </a:solidFill>
              </a:rPr>
              <a:t>etc</a:t>
            </a:r>
            <a:r>
              <a:rPr lang="en-US" sz="2500" dirty="0">
                <a:solidFill>
                  <a:srgbClr val="FF0000"/>
                </a:solidFill>
              </a:rPr>
              <a:t>/</a:t>
            </a:r>
            <a:r>
              <a:rPr lang="en-US" sz="2500" dirty="0" err="1">
                <a:solidFill>
                  <a:srgbClr val="FF0000"/>
                </a:solidFill>
              </a:rPr>
              <a:t>sysctl.conf</a:t>
            </a:r>
            <a:r>
              <a:rPr lang="en-US" sz="2500" dirty="0">
                <a:solidFill>
                  <a:srgbClr val="FF0000"/>
                </a:solidFill>
              </a:rPr>
              <a:t>…</a:t>
            </a:r>
            <a:endParaRPr sz="2500" dirty="0"/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/>
              <a:t>Format:</a:t>
            </a:r>
            <a:endParaRPr sz="2500" dirty="0"/>
          </a:p>
          <a:p>
            <a:pPr marL="1371600" lvl="2" indent="-374650" algn="l" rtl="0">
              <a:spcBef>
                <a:spcPts val="0"/>
              </a:spcBef>
              <a:spcAft>
                <a:spcPts val="0"/>
              </a:spcAft>
              <a:buSzPts val="2300"/>
              <a:buChar char="■"/>
            </a:pP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% </a:t>
            </a:r>
            <a:r>
              <a:rPr lang="en-US" sz="20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sysctl</a:t>
            </a:r>
            <a:r>
              <a:rPr lang="en-US" sz="20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[options] name[=value] …</a:t>
            </a:r>
            <a:endParaRPr sz="20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914400" lvl="1" indent="-387350" algn="l" rtl="0">
              <a:spcBef>
                <a:spcPts val="0"/>
              </a:spcBef>
              <a:spcAft>
                <a:spcPts val="0"/>
              </a:spcAft>
              <a:buSzPts val="2500"/>
              <a:buChar char="○"/>
            </a:pPr>
            <a:r>
              <a:rPr lang="en-US" sz="2500" dirty="0"/>
              <a:t>E.g.:</a:t>
            </a:r>
            <a:endParaRPr sz="2500" dirty="0"/>
          </a:p>
          <a:p>
            <a:pPr lvl="2" indent="-374650">
              <a:buSzPts val="2300"/>
              <a:buFont typeface="Times New Roman"/>
              <a:buChar char="■"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%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sysctl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-a 			# list all kernel variables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lvl="2" indent="-374650">
              <a:buSzPts val="2300"/>
              <a:buFont typeface="Times New Roman"/>
              <a:buChar char="■"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%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sysctl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-d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vfs.zfs.arc_max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# print the description of the variable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lvl="2" indent="-374650">
              <a:buSzPts val="2300"/>
              <a:buFont typeface="Times New Roman"/>
              <a:buChar char="■"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%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sysctl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vfs.zfs.arc_max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		# print the value of the variable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lvl="2" indent="-374650">
              <a:buSzPts val="2300"/>
              <a:buFont typeface="Times New Roman"/>
              <a:buChar char="■"/>
            </a:pP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%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sudo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sysctl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 </a:t>
            </a:r>
            <a:r>
              <a:rPr lang="en-US" sz="1600" dirty="0" err="1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vfs.zfs.arc_max</a:t>
            </a:r>
            <a:r>
              <a:rPr lang="en-US" sz="1600" dirty="0">
                <a:latin typeface="DejaVu Sans Mono" panose="020B0609030804020204" pitchFamily="49" charset="0"/>
                <a:ea typeface="DejaVu Sans Mono" panose="020B0609030804020204" pitchFamily="49" charset="0"/>
                <a:cs typeface="DejaVu Sans Mono" panose="020B0609030804020204" pitchFamily="49" charset="0"/>
              </a:rPr>
              <a:t>=4294967296	# set (only root writable) value</a:t>
            </a:r>
            <a:endParaRPr sz="1600" dirty="0">
              <a:latin typeface="DejaVu Sans Mono" panose="020B0609030804020204" pitchFamily="49" charset="0"/>
              <a:ea typeface="DejaVu Sans Mono" panose="020B0609030804020204" pitchFamily="49" charset="0"/>
              <a:cs typeface="DejaVu Sans Mono" panose="020B0609030804020204" pitchFamily="49" charset="0"/>
            </a:endParaRPr>
          </a:p>
          <a:p>
            <a:pPr marL="457200" lvl="0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●"/>
            </a:pPr>
            <a:r>
              <a:rPr lang="en-US" sz="2700" dirty="0"/>
              <a:t>tuning(7)</a:t>
            </a:r>
            <a:endParaRPr sz="2700" dirty="0"/>
          </a:p>
        </p:txBody>
      </p:sp>
      <p:sp>
        <p:nvSpPr>
          <p:cNvPr id="222" name="Google Shape;222;p25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  <p:sp>
        <p:nvSpPr>
          <p:cNvPr id="223" name="Google Shape;223;p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Tuning the FreeBSD Kernel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6"/>
          <p:cNvSpPr txBox="1">
            <a:spLocks noGrp="1"/>
          </p:cNvSpPr>
          <p:nvPr>
            <p:ph type="body" idx="1"/>
          </p:nvPr>
        </p:nvSpPr>
        <p:spPr>
          <a:xfrm>
            <a:off x="599050" y="1258625"/>
            <a:ext cx="10830900" cy="566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Kernel module location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/boot/kernel/*.ko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/boot/modules</a:t>
            </a:r>
            <a:endParaRPr sz="26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 err="1"/>
              <a:t>kldstat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Load/unload kernel modules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 err="1"/>
              <a:t>kldload</a:t>
            </a:r>
            <a:r>
              <a:rPr lang="en-US" sz="2600" dirty="0"/>
              <a:t>(8), </a:t>
            </a:r>
            <a:r>
              <a:rPr lang="en-US" sz="2600" dirty="0" err="1"/>
              <a:t>kldunload</a:t>
            </a:r>
            <a:r>
              <a:rPr lang="en-US" sz="2600" dirty="0"/>
              <a:t>(8)</a:t>
            </a:r>
            <a:endParaRPr sz="2600" dirty="0"/>
          </a:p>
          <a:p>
            <a:pPr marL="1371600" lvl="2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■"/>
            </a:pPr>
            <a:r>
              <a:rPr lang="en-US" sz="2400" dirty="0"/>
              <a:t>E.g., </a:t>
            </a:r>
            <a:r>
              <a:rPr lang="en-US" sz="2400" dirty="0" err="1"/>
              <a:t>kldload</a:t>
            </a:r>
            <a:r>
              <a:rPr lang="en-US" sz="2400" dirty="0"/>
              <a:t> </a:t>
            </a:r>
            <a:r>
              <a:rPr lang="en-US" sz="2400" dirty="0" err="1"/>
              <a:t>if_em</a:t>
            </a:r>
            <a:endParaRPr sz="24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Examples in share/examples/</a:t>
            </a:r>
            <a:r>
              <a:rPr lang="en-US" sz="2800" dirty="0" err="1"/>
              <a:t>kld</a:t>
            </a:r>
            <a:endParaRPr sz="28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/>
          </a:p>
        </p:txBody>
      </p:sp>
      <p:sp>
        <p:nvSpPr>
          <p:cNvPr id="229" name="Google Shape;229;p26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  <p:sp>
        <p:nvSpPr>
          <p:cNvPr id="230" name="Google Shape;230;p2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modules </a:t>
            </a:r>
            <a:endParaRPr/>
          </a:p>
        </p:txBody>
      </p:sp>
      <p:sp>
        <p:nvSpPr>
          <p:cNvPr id="232" name="Google Shape;232;p26"/>
          <p:cNvSpPr txBox="1"/>
          <p:nvPr/>
        </p:nvSpPr>
        <p:spPr>
          <a:xfrm>
            <a:off x="1065175" y="3195100"/>
            <a:ext cx="6642900" cy="224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zfs[/boot/kernel] -chiahung- kldstat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Id Refs Address    Size     Name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1   15 0xc0400000 4abd60   kernel</a:t>
            </a:r>
            <a:endParaRPr sz="2000"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2    1 0xc08ac000 13b0fc   zfs.ko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3    2 0xc09e8000 3d5c     opensolaris.ko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4    2 0xc09ec000 16b84    krpc.ko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 5    1 0xc0a03000 8c48     if_le.ko</a:t>
            </a:r>
            <a:endParaRPr sz="2000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Loading a device module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pciconf -l for a device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man vendor name for module name in BSD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find the name in /boot/kernel/*.ko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kldload [module name]</a:t>
            </a:r>
            <a:endParaRPr/>
          </a:p>
          <a:p>
            <a:pPr marL="914400" lvl="1" indent="-406400" algn="l" rtl="0"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-US"/>
              <a:t>Setup permanently by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AutoNum type="alphaUcPeriod"/>
            </a:pPr>
            <a:r>
              <a:rPr lang="en-US" b="1"/>
              <a:t>Recompile the kernel</a:t>
            </a:r>
            <a:r>
              <a:rPr lang="en-US"/>
              <a:t> or</a:t>
            </a:r>
            <a:endParaRPr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AutoNum type="alphaUcPeriod"/>
            </a:pPr>
            <a:r>
              <a:rPr lang="en-US" b="1"/>
              <a:t>Add [module name]_enable="YES" in /boot/loader.conf</a:t>
            </a:r>
            <a:r>
              <a:rPr lang="en-US">
                <a:solidFill>
                  <a:schemeClr val="dk1"/>
                </a:solidFill>
              </a:rPr>
              <a:t> or</a:t>
            </a:r>
            <a:endParaRPr b="1"/>
          </a:p>
          <a:p>
            <a:pPr marL="1371600" lvl="2" indent="-393700" algn="l" rtl="0">
              <a:spcBef>
                <a:spcPts val="0"/>
              </a:spcBef>
              <a:spcAft>
                <a:spcPts val="0"/>
              </a:spcAft>
              <a:buSzPts val="2600"/>
              <a:buAutoNum type="alphaUcPeriod"/>
            </a:pPr>
            <a:r>
              <a:rPr lang="en-US" b="1"/>
              <a:t>Put to “kld_list” in /etc/rc.conf</a:t>
            </a:r>
            <a:endParaRPr b="1"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 b="1"/>
              <a:t>devmatch(8)</a:t>
            </a:r>
            <a:endParaRPr b="1"/>
          </a:p>
        </p:txBody>
      </p:sp>
      <p:sp>
        <p:nvSpPr>
          <p:cNvPr id="237" name="Google Shape;237;p27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  <p:sp>
        <p:nvSpPr>
          <p:cNvPr id="238" name="Google Shape;238;p2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Procedure of Loading a Device Module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General procedure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Install kernel toolchain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Get source code from </a:t>
            </a:r>
            <a:r>
              <a:rPr lang="en-US" sz="2700" u="sng">
                <a:solidFill>
                  <a:schemeClr val="hlink"/>
                </a:solidFill>
                <a:hlinkClick r:id="rId3"/>
              </a:rPr>
              <a:t>https://kernel.org</a:t>
            </a:r>
            <a:r>
              <a:rPr lang="en-US" sz="2700"/>
              <a:t> 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Extract to /usr/src/linux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make menuconfig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make –jN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make modules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make modules_install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make install</a:t>
            </a:r>
            <a:endParaRPr sz="27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Check /boot/{initramfs.img,System.map,vmlinuz}</a:t>
            </a:r>
            <a:endParaRPr sz="2700"/>
          </a:p>
          <a:p>
            <a:pPr marL="457200" lvl="0" indent="-412750" algn="l" rtl="0">
              <a:spcBef>
                <a:spcPts val="0"/>
              </a:spcBef>
              <a:spcAft>
                <a:spcPts val="0"/>
              </a:spcAft>
              <a:buSzPts val="2900"/>
              <a:buChar char="●"/>
            </a:pPr>
            <a:r>
              <a:rPr lang="en-US" sz="2900"/>
              <a:t>Check the distribution specified method</a:t>
            </a:r>
            <a:endParaRPr sz="2900"/>
          </a:p>
          <a:p>
            <a:pPr marL="914400" lvl="1" indent="-400050" algn="l" rtl="0">
              <a:spcBef>
                <a:spcPts val="0"/>
              </a:spcBef>
              <a:spcAft>
                <a:spcPts val="0"/>
              </a:spcAft>
              <a:buSzPts val="2700"/>
              <a:buChar char="○"/>
            </a:pPr>
            <a:r>
              <a:rPr lang="en-US" sz="2700"/>
              <a:t>Kernel package</a:t>
            </a:r>
            <a:endParaRPr sz="2700"/>
          </a:p>
        </p:txBody>
      </p:sp>
      <p:sp>
        <p:nvSpPr>
          <p:cNvPr id="244" name="Google Shape;244;p28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  <p:sp>
        <p:nvSpPr>
          <p:cNvPr id="245" name="Google Shape;245;p2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Building Linux Kernel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>
                <a:hlinkClick r:id="rId3"/>
              </a:rPr>
              <a:t>https://docs.freebsd.org/en/books/handbook/kernelconfig/#kernelconfig-config</a:t>
            </a:r>
            <a:endParaRPr sz="28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/</a:t>
            </a:r>
            <a:r>
              <a:rPr lang="en-US" sz="2800" dirty="0" err="1"/>
              <a:t>usr</a:t>
            </a:r>
            <a:r>
              <a:rPr lang="en-US" sz="2800" dirty="0"/>
              <a:t>/</a:t>
            </a:r>
            <a:r>
              <a:rPr lang="en-US" sz="2800" dirty="0" err="1"/>
              <a:t>src</a:t>
            </a:r>
            <a:r>
              <a:rPr lang="en-US" sz="2800" dirty="0"/>
              <a:t>/sys/&lt;ARCH&gt;/conf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NOTES </a:t>
            </a:r>
            <a:r>
              <a:rPr lang="en-US" sz="2600" dirty="0">
                <a:solidFill>
                  <a:srgbClr val="FF0000"/>
                </a:solidFill>
              </a:rPr>
              <a:t>-&gt; machine dependent kernel configuration with comments</a:t>
            </a:r>
            <a:endParaRPr sz="2600" dirty="0">
              <a:solidFill>
                <a:srgbClr val="FF0000"/>
              </a:solidFill>
            </a:endParaRPr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LINT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dirty="0"/>
              <a:t>GENERIC</a:t>
            </a:r>
            <a:endParaRPr sz="2600" dirty="0"/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SzPts val="2800"/>
              <a:buChar char="●"/>
            </a:pPr>
            <a:r>
              <a:rPr lang="en-US" sz="2800" dirty="0"/>
              <a:t>"building kernel" of Linux distributions documents</a:t>
            </a:r>
            <a:endParaRPr sz="28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u="sng" dirty="0">
                <a:solidFill>
                  <a:schemeClr val="hlink"/>
                </a:solidFill>
                <a:hlinkClick r:id="rId4"/>
              </a:rPr>
              <a:t>https://kernel-team.pages.debian.net/kernel-handbook/ch-common-tasks.html#s-common-official 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u="sng" dirty="0">
                <a:solidFill>
                  <a:schemeClr val="hlink"/>
                </a:solidFill>
                <a:hlinkClick r:id="rId5"/>
              </a:rPr>
              <a:t>https://wiki.ubuntu.com/Kernel/BuildYourOwnKernel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u="sng" dirty="0">
                <a:solidFill>
                  <a:schemeClr val="hlink"/>
                </a:solidFill>
                <a:hlinkClick r:id="rId6"/>
              </a:rPr>
              <a:t>https://wiki.archlinux.org/index.php/Kernel/Arch_Build_System</a:t>
            </a:r>
            <a:endParaRPr sz="2600" dirty="0"/>
          </a:p>
          <a:p>
            <a:pPr marL="914400" lvl="1" indent="-393700" algn="l" rtl="0">
              <a:spcBef>
                <a:spcPts val="0"/>
              </a:spcBef>
              <a:spcAft>
                <a:spcPts val="0"/>
              </a:spcAft>
              <a:buSzPts val="2600"/>
              <a:buChar char="○"/>
            </a:pPr>
            <a:r>
              <a:rPr lang="en-US" sz="2600" u="sng" dirty="0">
                <a:solidFill>
                  <a:schemeClr val="hlink"/>
                </a:solidFill>
                <a:hlinkClick r:id="rId7"/>
              </a:rPr>
              <a:t>https://wiki.centos.org/HowTos/Custom_Kernel</a:t>
            </a:r>
            <a:endParaRPr sz="2800" dirty="0"/>
          </a:p>
        </p:txBody>
      </p:sp>
      <p:sp>
        <p:nvSpPr>
          <p:cNvPr id="251" name="Google Shape;251;p29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  <p:sp>
        <p:nvSpPr>
          <p:cNvPr id="252" name="Google Shape;252;p2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Reference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Backup Slides</a:t>
            </a:r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rgbClr val="DBF5F9"/>
                </a:solidFill>
              </a:rPr>
              <a:t>24</a:t>
            </a:fld>
            <a:endParaRPr>
              <a:solidFill>
                <a:srgbClr val="DBF5F9"/>
              </a:solidFill>
            </a:endParaRPr>
          </a:p>
        </p:txBody>
      </p:sp>
      <p:sp>
        <p:nvSpPr>
          <p:cNvPr id="260" name="Google Shape;260;p30"/>
          <p:cNvSpPr txBox="1">
            <a:spLocks noGrp="1"/>
          </p:cNvSpPr>
          <p:nvPr>
            <p:ph type="subTitle" idx="1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1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Build &amp; install kernel module from 3rd party</a:t>
            </a:r>
            <a:endParaRPr/>
          </a:p>
          <a:p>
            <a:pPr marL="457200" lvl="0" indent="-419100" algn="l" rtl="0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-US"/>
              <a:t>DKMS (Dynamic Kernel Module Support)</a:t>
            </a:r>
            <a:endParaRPr/>
          </a:p>
        </p:txBody>
      </p:sp>
      <p:sp>
        <p:nvSpPr>
          <p:cNvPr id="265" name="Google Shape;265;p31"/>
          <p:cNvSpPr txBox="1">
            <a:spLocks noGrp="1"/>
          </p:cNvSpPr>
          <p:nvPr>
            <p:ph type="sldNum" idx="12"/>
          </p:nvPr>
        </p:nvSpPr>
        <p:spPr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  <p:sp>
        <p:nvSpPr>
          <p:cNvPr id="266" name="Google Shape;266;p3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Kernel Module (c.)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SCC NASA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簡報3" id="{AF2700AA-4C18-4E07-9861-8125D27C7E13}" vid="{9DFC94F1-C4F1-4F8A-9F88-3762BB8FA196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1114</TotalTime>
  <Words>1793</Words>
  <Application>Microsoft Office PowerPoint</Application>
  <PresentationFormat>自訂</PresentationFormat>
  <Paragraphs>321</Paragraphs>
  <Slides>25</Slides>
  <Notes>25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5" baseType="lpstr">
      <vt:lpstr>Arial</vt:lpstr>
      <vt:lpstr>Ubuntu Mono</vt:lpstr>
      <vt:lpstr>DejaVu Sans Mono</vt:lpstr>
      <vt:lpstr>Times</vt:lpstr>
      <vt:lpstr>Courier New</vt:lpstr>
      <vt:lpstr>Source Sans Pro</vt:lpstr>
      <vt:lpstr>Noto Sans Symbols</vt:lpstr>
      <vt:lpstr>Times New Roman</vt:lpstr>
      <vt:lpstr>Microsoft JhengHei</vt:lpstr>
      <vt:lpstr>1_CSCC NASA</vt:lpstr>
      <vt:lpstr>Drivers and the Kernel</vt:lpstr>
      <vt:lpstr>Introduction  – UNIX Kernel and Shell</vt:lpstr>
      <vt:lpstr>Run-time structure of the kernel</vt:lpstr>
      <vt:lpstr>Roles of Kernel</vt:lpstr>
      <vt:lpstr>Kernel I/O structure</vt:lpstr>
      <vt:lpstr>Kernel Types</vt:lpstr>
      <vt:lpstr>Kernel Types</vt:lpstr>
      <vt:lpstr>Kernel related directories</vt:lpstr>
      <vt:lpstr>Why customize kernel?</vt:lpstr>
      <vt:lpstr>Build and install FreeBSD Kernel</vt:lpstr>
      <vt:lpstr>To Build a FreeBSD Kernel…</vt:lpstr>
      <vt:lpstr>Finding the system hardware (1)</vt:lpstr>
      <vt:lpstr>Finding the system hardware (2)</vt:lpstr>
      <vt:lpstr>Finding the system hardware (3)</vt:lpstr>
      <vt:lpstr>Finding the system hardware (4)</vt:lpstr>
      <vt:lpstr>Configuration file of FreeBSD Kernel </vt:lpstr>
      <vt:lpstr>Kernel backup</vt:lpstr>
      <vt:lpstr>Ok mode</vt:lpstr>
      <vt:lpstr>Tuning the FreeBSD Kernel</vt:lpstr>
      <vt:lpstr>Kernel modules </vt:lpstr>
      <vt:lpstr>Procedure of Loading a Device Module</vt:lpstr>
      <vt:lpstr>Building Linux Kernel</vt:lpstr>
      <vt:lpstr>Reference </vt:lpstr>
      <vt:lpstr>Backup Slides</vt:lpstr>
      <vt:lpstr>Kernel Module (c.)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Drivers and the Kernel</dc:title>
  <cp:lastModifiedBy>Li-Wen Hsu</cp:lastModifiedBy>
  <cp:revision>46</cp:revision>
  <dcterms:modified xsi:type="dcterms:W3CDTF">2021-11-25T10:04:53Z</dcterms:modified>
</cp:coreProperties>
</file>