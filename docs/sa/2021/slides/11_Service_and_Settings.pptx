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7559675" cx="11998325"/>
  <p:notesSz cx="7559675" cy="10691800"/>
  <p:embeddedFontLst>
    <p:embeddedFont>
      <p:font typeface="Source Sans Pro Light"/>
      <p:regular r:id="rId39"/>
      <p:bold r:id="rId40"/>
      <p:italic r:id="rId41"/>
      <p:boldItalic r:id="rId42"/>
    </p:embeddedFont>
    <p:embeddedFont>
      <p:font typeface="Ubuntu Mono"/>
      <p:regular r:id="rId43"/>
      <p:bold r:id="rId44"/>
      <p:italic r:id="rId45"/>
      <p:boldItalic r:id="rId46"/>
    </p:embeddedFont>
    <p:embeddedFont>
      <p:font typeface="Source Sans Pr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51" roundtripDataSignature="AMtx7mhLCNFAIoo12r7zPOY21AOa7G3v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2A2A4E-B9FC-48E4-A632-5B406C85569A}">
  <a:tblStyle styleId="{BE2A2A4E-B9FC-48E4-A632-5B406C85569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SansProLight-bold.fntdata"/><Relationship Id="rId42" Type="http://schemas.openxmlformats.org/officeDocument/2006/relationships/font" Target="fonts/SourceSansProLight-boldItalic.fntdata"/><Relationship Id="rId41" Type="http://schemas.openxmlformats.org/officeDocument/2006/relationships/font" Target="fonts/SourceSansProLight-italic.fntdata"/><Relationship Id="rId44" Type="http://schemas.openxmlformats.org/officeDocument/2006/relationships/font" Target="fonts/UbuntuMono-bold.fntdata"/><Relationship Id="rId43" Type="http://schemas.openxmlformats.org/officeDocument/2006/relationships/font" Target="fonts/UbuntuMono-regular.fntdata"/><Relationship Id="rId46" Type="http://schemas.openxmlformats.org/officeDocument/2006/relationships/font" Target="fonts/UbuntuMono-boldItalic.fntdata"/><Relationship Id="rId45" Type="http://schemas.openxmlformats.org/officeDocument/2006/relationships/font" Target="fonts/UbuntuMon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ourceSansPro-bold.fntdata"/><Relationship Id="rId47" Type="http://schemas.openxmlformats.org/officeDocument/2006/relationships/font" Target="fonts/SourceSansPro-regular.fntdata"/><Relationship Id="rId49" Type="http://schemas.openxmlformats.org/officeDocument/2006/relationships/font" Target="fonts/SourceSans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SourceSansProLight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SourceSansPr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講課時間：40分鐘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3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5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3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35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b="0" i="0" sz="30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b="0" i="0" sz="11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45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35"/>
          <p:cNvPicPr preferRelativeResize="0"/>
          <p:nvPr/>
        </p:nvPicPr>
        <p:blipFill rotWithShape="1">
          <a:blip r:embed="rId2">
            <a:alphaModFix amt="90000"/>
          </a:blip>
          <a:srcRect b="0" l="0" r="0" t="0"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5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b="0" i="0" sz="3600" u="none" cap="none" strike="noStrike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6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3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  <a:defRPr b="0" i="0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  <a:defRPr b="0" i="0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7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3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3" name="Google Shape;23;p3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  <a:defRPr b="0" i="0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  <a:defRPr b="0" i="0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37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7" name="Google Shape;27;p3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  <a:defRPr b="0" i="0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  <a:defRPr b="0" i="0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3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38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2" name="Google Shape;32;p3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  <a:defRPr b="0" i="0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  <a:defRPr b="0" i="0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3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39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9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●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○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Ubuntu Mono"/>
              <a:buChar char="■"/>
              <a:defRPr b="0" i="0" sz="2200" u="none" cap="none" strike="noStrike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b="0" i="0" sz="6000" u="none" cap="none" strike="noStrike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reebsd.org/doc/en/books/handbook/configtuning-starting-services.html" TargetMode="External"/><Relationship Id="rId4" Type="http://schemas.openxmlformats.org/officeDocument/2006/relationships/hyperlink" Target="https://www.freebsd.org/doc/zh_TW/books/handbook/configtuning-starting-services.html" TargetMode="External"/><Relationship Id="rId5" Type="http://schemas.openxmlformats.org/officeDocument/2006/relationships/hyperlink" Target="https://www.freebsd.org/doc/en/books/handbook/configtuning-rcd.html" TargetMode="External"/><Relationship Id="rId6" Type="http://schemas.openxmlformats.org/officeDocument/2006/relationships/hyperlink" Target="https://www.freebsd.org/doc/zh_TW/books/handbook/configtuning-rcd.html" TargetMode="External"/><Relationship Id="rId7" Type="http://schemas.openxmlformats.org/officeDocument/2006/relationships/hyperlink" Target="https://www.freebsd.org/cgi/man.cgi?rc(8)" TargetMode="External"/><Relationship Id="rId8" Type="http://schemas.openxmlformats.org/officeDocument/2006/relationships/hyperlink" Target="https://www.freebsd.org/cgi/man.cgi?service(8)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freebsd.org/cgi/man.cgi?service(8)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freebsd.org/cgi/man.cgi?rc(8)" TargetMode="External"/><Relationship Id="rId4" Type="http://schemas.openxmlformats.org/officeDocument/2006/relationships/hyperlink" Target="https://www.freebsd.org/doc/handbook/configtuning-rcd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freebsd.org/cgi/man.cgi?rcorder(8)" TargetMode="External"/><Relationship Id="rId4" Type="http://schemas.openxmlformats.org/officeDocument/2006/relationships/hyperlink" Target="https://www.freebsd.org/cgi/man.cgi?rc.subr" TargetMode="External"/><Relationship Id="rId5" Type="http://schemas.openxmlformats.org/officeDocument/2006/relationships/hyperlink" Target="https://www.freebsd.org/cgi/man.cgi?rcorder(8)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man7.org/linux/man-pages/man1/systemctl.1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Services &amp; Settings</a:t>
            </a:r>
            <a:endParaRPr/>
          </a:p>
        </p:txBody>
      </p:sp>
      <p:sp>
        <p:nvSpPr>
          <p:cNvPr id="41" name="Google Shape;41;p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lctseng (2019-2021, CC BY-SA)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? (1996-2018)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Handbook and Manual pages</a:t>
            </a:r>
            <a:endParaRPr/>
          </a:p>
        </p:txBody>
      </p:sp>
      <p:sp>
        <p:nvSpPr>
          <p:cNvPr id="49" name="Google Shape;49;p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Official guide and be found at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Configuring Starting Services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https://www.freebsd.org/doc/en/books/handbook/configtuning-starting-services.html</a:t>
            </a:r>
            <a:r>
              <a:rPr lang="en-US"/>
              <a:t> 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https://www.freebsd.org/doc/zh_TW/books/handbook/configtuning-starting-services.html</a:t>
            </a:r>
            <a:r>
              <a:rPr lang="en-US"/>
              <a:t> 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Configuring RC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https://www.freebsd.org/doc/en/books/handbook/configtuning-rcd.html</a:t>
            </a:r>
            <a:r>
              <a:rPr lang="en-US"/>
              <a:t> 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https://www.freebsd.org/doc/zh_TW/books/handbook/configtuning-rcd.html</a:t>
            </a:r>
            <a:r>
              <a:rPr lang="en-US"/>
              <a:t> 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7"/>
              </a:rPr>
              <a:t>rc(8)</a:t>
            </a:r>
            <a:r>
              <a:rPr lang="en-US"/>
              <a:t>, </a:t>
            </a:r>
            <a:r>
              <a:rPr lang="en-US" u="sng">
                <a:solidFill>
                  <a:schemeClr val="hlink"/>
                </a:solidFill>
                <a:hlinkClick r:id="rId8"/>
              </a:rPr>
              <a:t>service(8)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Basic Knowledge about Services</a:t>
            </a:r>
            <a:endParaRPr/>
          </a:p>
        </p:txBody>
      </p:sp>
      <p:sp>
        <p:nvSpPr>
          <p:cNvPr id="55" name="Google Shape;55;p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3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For FreeBSD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The Service</a:t>
            </a:r>
            <a:endParaRPr/>
          </a:p>
        </p:txBody>
      </p:sp>
      <p:sp>
        <p:nvSpPr>
          <p:cNvPr id="63" name="Google Shape;63;p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Background processes that provide services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A.k.a daemon process (usually with name xxx</a:t>
            </a:r>
            <a:r>
              <a:rPr b="1" lang="en-US">
                <a:solidFill>
                  <a:srgbClr val="FF0000"/>
                </a:solidFill>
              </a:rPr>
              <a:t>d</a:t>
            </a:r>
            <a:r>
              <a:rPr lang="en-US">
                <a:solidFill>
                  <a:schemeClr val="dk1"/>
                </a:solidFill>
              </a:rPr>
              <a:t>)</a:t>
            </a:r>
            <a:endParaRPr sz="3000">
              <a:solidFill>
                <a:schemeClr val="dk1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3000">
                <a:solidFill>
                  <a:schemeClr val="dk1"/>
                </a:solidFill>
              </a:rPr>
              <a:t>Automatically started during boot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Standard services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NTP (ntpd)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Secure Shell (sshd)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Commonly known services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Web (httpd)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DNS (named)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Common Flow of Running a Service</a:t>
            </a:r>
            <a:endParaRPr/>
          </a:p>
        </p:txBody>
      </p:sp>
      <p:sp>
        <p:nvSpPr>
          <p:cNvPr id="70" name="Google Shape;70;p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AutoNum type="arabicPeriod"/>
            </a:pPr>
            <a:r>
              <a:rPr lang="en-US" sz="3300"/>
              <a:t>Installation</a:t>
            </a:r>
            <a:endParaRPr sz="3300"/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○"/>
            </a:pPr>
            <a:r>
              <a:rPr lang="en-US" sz="3100"/>
              <a:t>Through ports, packages, or source tarballs</a:t>
            </a:r>
            <a:endParaRPr sz="3100"/>
          </a:p>
          <a:p>
            <a:pPr indent="-4127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■"/>
            </a:pPr>
            <a:r>
              <a:rPr lang="en-US" sz="2900"/>
              <a:t>pkg install kde4</a:t>
            </a:r>
            <a:endParaRPr sz="2900"/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AutoNum type="arabicPeriod"/>
            </a:pPr>
            <a:r>
              <a:rPr lang="en-US" sz="3300"/>
              <a:t>Configuration</a:t>
            </a:r>
            <a:endParaRPr sz="3300"/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○"/>
            </a:pPr>
            <a:r>
              <a:rPr lang="en-US" sz="3100"/>
              <a:t>Service specific configuration file(s)</a:t>
            </a:r>
            <a:endParaRPr sz="3100"/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○"/>
            </a:pPr>
            <a:r>
              <a:rPr lang="en-US" sz="3100"/>
              <a:t>Make it start on boot </a:t>
            </a:r>
            <a:endParaRPr sz="3100"/>
          </a:p>
          <a:p>
            <a:pPr indent="-425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■"/>
            </a:pPr>
            <a:r>
              <a:rPr lang="en-US" sz="3100"/>
              <a:t>Manually update /etc/rc.conf</a:t>
            </a:r>
            <a:endParaRPr sz="3100"/>
          </a:p>
          <a:p>
            <a:pPr indent="-4127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kdm4_enable="YES"</a:t>
            </a:r>
            <a:endParaRPr sz="2900"/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○"/>
            </a:pPr>
            <a:r>
              <a:rPr lang="en-US" sz="3100"/>
              <a:t>Or using </a:t>
            </a:r>
            <a:r>
              <a:rPr lang="en-US" sz="3100" u="sng">
                <a:solidFill>
                  <a:schemeClr val="hlink"/>
                </a:solidFill>
                <a:hlinkClick r:id="rId3"/>
              </a:rPr>
              <a:t>service(8)</a:t>
            </a:r>
            <a:r>
              <a:rPr lang="en-US" sz="3100"/>
              <a:t> command</a:t>
            </a:r>
            <a:endParaRPr sz="3100"/>
          </a:p>
          <a:p>
            <a:pPr indent="-4254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service kdm4 enable</a:t>
            </a:r>
            <a:endParaRPr sz="3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Common Flow of Running a Service</a:t>
            </a:r>
            <a:endParaRPr/>
          </a:p>
        </p:txBody>
      </p:sp>
      <p:sp>
        <p:nvSpPr>
          <p:cNvPr id="77" name="Google Shape;77;p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AutoNum type="arabicPeriod" startAt="3"/>
            </a:pPr>
            <a:r>
              <a:rPr lang="en-US" sz="3300">
                <a:solidFill>
                  <a:schemeClr val="dk1"/>
                </a:solidFill>
              </a:rPr>
              <a:t>Start the service now</a:t>
            </a:r>
            <a:endParaRPr sz="3300">
              <a:solidFill>
                <a:schemeClr val="dk1"/>
              </a:solidFill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Calling script under rc.d/*</a:t>
            </a:r>
            <a:endParaRPr sz="3100">
              <a:solidFill>
                <a:schemeClr val="dk1"/>
              </a:solidFill>
            </a:endParaRPr>
          </a:p>
          <a:p>
            <a:pPr indent="-4127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■"/>
            </a:pPr>
            <a:r>
              <a:rPr lang="en-US" sz="2900">
                <a:solidFill>
                  <a:schemeClr val="dk1"/>
                </a:solidFill>
              </a:rPr>
              <a:t>/usr/local/etc/rc.d/kdm4 start </a:t>
            </a:r>
            <a:endParaRPr sz="2900">
              <a:solidFill>
                <a:schemeClr val="dk1"/>
              </a:solidFill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Or using "service"</a:t>
            </a:r>
            <a:endParaRPr sz="3100">
              <a:solidFill>
                <a:schemeClr val="dk1"/>
              </a:solidFill>
            </a:endParaRPr>
          </a:p>
          <a:p>
            <a:pPr indent="-425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■"/>
            </a:pPr>
            <a:r>
              <a:rPr lang="en-US" sz="3100">
                <a:solidFill>
                  <a:schemeClr val="dk1"/>
                </a:solidFill>
              </a:rPr>
              <a:t>service kdm4 start</a:t>
            </a:r>
            <a:endParaRPr sz="3100">
              <a:solidFill>
                <a:schemeClr val="dk1"/>
              </a:solidFill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AutoNum type="arabicPeriod" startAt="3"/>
            </a:pPr>
            <a:r>
              <a:rPr lang="en-US" sz="3300">
                <a:solidFill>
                  <a:schemeClr val="dk1"/>
                </a:solidFill>
              </a:rPr>
              <a:t>Maintenance</a:t>
            </a:r>
            <a:endParaRPr sz="3300">
              <a:solidFill>
                <a:schemeClr val="dk1"/>
              </a:solidFill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Updating、Restarting</a:t>
            </a:r>
            <a:endParaRPr sz="3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Configuration Files</a:t>
            </a:r>
            <a:endParaRPr/>
          </a:p>
        </p:txBody>
      </p:sp>
      <p:sp>
        <p:nvSpPr>
          <p:cNvPr id="84" name="Google Shape;84;p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/usr/local/etc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Configuration files of </a:t>
            </a:r>
            <a:r>
              <a:rPr lang="en-US"/>
              <a:t>local installed programs are located there.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graphicFrame>
        <p:nvGraphicFramePr>
          <p:cNvPr id="85" name="Google Shape;85;p7"/>
          <p:cNvGraphicFramePr/>
          <p:nvPr/>
        </p:nvGraphicFramePr>
        <p:xfrm>
          <a:off x="1099638" y="2586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{BE2A2A4E-B9FC-48E4-A632-5B406C85569A}</a:tableStyleId>
              </a:tblPr>
              <a:tblGrid>
                <a:gridCol w="4898650"/>
                <a:gridCol w="4898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Daemon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Program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/usr/local/etc/pure-ftpd</a:t>
                      </a:r>
                      <a:r>
                        <a:rPr lang="en-US" sz="25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.conf</a:t>
                      </a:r>
                      <a:endParaRPr sz="25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/usr/local/etc/vim/vim</a:t>
                      </a:r>
                      <a:r>
                        <a:rPr lang="en-US" sz="25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rc</a:t>
                      </a:r>
                      <a:endParaRPr sz="25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/usr/local/etc/apache24/httpd</a:t>
                      </a:r>
                      <a:r>
                        <a:rPr lang="en-US" sz="25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.conf</a:t>
                      </a:r>
                      <a:endParaRPr sz="25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/usr/local/etc/screen</a:t>
                      </a:r>
                      <a:r>
                        <a:rPr lang="en-US" sz="25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rc</a:t>
                      </a:r>
                      <a:endParaRPr sz="25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6" name="Google Shape;86;p7"/>
          <p:cNvSpPr txBox="1"/>
          <p:nvPr>
            <p:ph idx="1" type="body"/>
          </p:nvPr>
        </p:nvSpPr>
        <p:spPr>
          <a:xfrm>
            <a:off x="599050" y="43828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Default config file usually installed with </a:t>
            </a:r>
            <a:r>
              <a:rPr lang="en-US">
                <a:solidFill>
                  <a:srgbClr val="FF0000"/>
                </a:solidFill>
              </a:rPr>
              <a:t>.sample </a:t>
            </a:r>
            <a:r>
              <a:rPr lang="en-US">
                <a:solidFill>
                  <a:schemeClr val="dk1"/>
                </a:solidFill>
              </a:rPr>
              <a:t>suffix,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.default </a:t>
            </a:r>
            <a:r>
              <a:rPr lang="en-US"/>
              <a:t>suffix, or different suffix for different purpose. (</a:t>
            </a:r>
            <a:r>
              <a:rPr b="1" lang="en-US"/>
              <a:t>Copy and rename before using.</a:t>
            </a:r>
            <a:r>
              <a:rPr lang="en-US"/>
              <a:t>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pure-ftpd.conf</a:t>
            </a:r>
            <a:r>
              <a:rPr lang="en-US">
                <a:solidFill>
                  <a:srgbClr val="FF0000"/>
                </a:solidFill>
              </a:rPr>
              <a:t>.sample</a:t>
            </a:r>
            <a:endParaRPr>
              <a:solidFill>
                <a:srgbClr val="FF0000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php.ini</a:t>
            </a:r>
            <a:r>
              <a:rPr lang="en-US">
                <a:solidFill>
                  <a:srgbClr val="FF0000"/>
                </a:solidFill>
              </a:rPr>
              <a:t>-dist</a:t>
            </a:r>
            <a:endParaRPr>
              <a:solidFill>
                <a:srgbClr val="FF0000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php.ini</a:t>
            </a:r>
            <a:r>
              <a:rPr lang="en-US">
                <a:solidFill>
                  <a:srgbClr val="FF0000"/>
                </a:solidFill>
              </a:rPr>
              <a:t>-recommended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Configuration Files</a:t>
            </a:r>
            <a:endParaRPr/>
          </a:p>
        </p:txBody>
      </p:sp>
      <p:sp>
        <p:nvSpPr>
          <p:cNvPr id="93" name="Google Shape;93;p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 program with multiple config files are usually located in /usr/local/etc/program-name/ 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apache*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postfix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Most configuration files have clear comment at the beginning or before each description</a:t>
            </a:r>
            <a:endParaRPr/>
          </a:p>
        </p:txBody>
      </p:sp>
      <p:sp>
        <p:nvSpPr>
          <p:cNvPr id="94" name="Google Shape;94;p8"/>
          <p:cNvSpPr txBox="1"/>
          <p:nvPr>
            <p:ph idx="2" type="body"/>
          </p:nvPr>
        </p:nvSpPr>
        <p:spPr>
          <a:xfrm>
            <a:off x="1685800" y="4690325"/>
            <a:ext cx="8657400" cy="25335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# pure-ftpd.conf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# IP address/port to listen to (default=all IP and port 21)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Bind                               127.0.0.1,21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# Fork in background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Daemonize                       yes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Configuration Files</a:t>
            </a:r>
            <a:endParaRPr/>
          </a:p>
        </p:txBody>
      </p:sp>
      <p:sp>
        <p:nvSpPr>
          <p:cNvPr id="101" name="Google Shape;101;p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Most popular styles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key &lt;space&gt; value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key = value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Some with local effectiveness (e.g. http server)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Markup language-like: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2" name="Google Shape;102;p9"/>
          <p:cNvSpPr txBox="1"/>
          <p:nvPr>
            <p:ph idx="2" type="body"/>
          </p:nvPr>
        </p:nvSpPr>
        <p:spPr>
          <a:xfrm>
            <a:off x="1570325" y="4132775"/>
            <a:ext cx="4080900" cy="1262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&lt;directory /path&gt;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    setting-for-this-path…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&lt;/directory&gt;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03" name="Google Shape;103;p9"/>
          <p:cNvSpPr txBox="1"/>
          <p:nvPr>
            <p:ph idx="1" type="body"/>
          </p:nvPr>
        </p:nvSpPr>
        <p:spPr>
          <a:xfrm>
            <a:off x="599050" y="5494725"/>
            <a:ext cx="10830900" cy="26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Samba、rsync、devfs…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 txBox="1"/>
          <p:nvPr>
            <p:ph idx="2" type="body"/>
          </p:nvPr>
        </p:nvSpPr>
        <p:spPr>
          <a:xfrm>
            <a:off x="1646525" y="5961575"/>
            <a:ext cx="4080900" cy="14340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[xxxx]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settings…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[yyyy]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settings…</a:t>
            </a:r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3">
            <a:alphaModFix/>
          </a:blip>
          <a:srcRect b="36532" l="0" r="12853" t="0"/>
          <a:stretch/>
        </p:blipFill>
        <p:spPr>
          <a:xfrm>
            <a:off x="6664650" y="3659400"/>
            <a:ext cx="4765300" cy="237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9"/>
          <p:cNvPicPr preferRelativeResize="0"/>
          <p:nvPr/>
        </p:nvPicPr>
        <p:blipFill rotWithShape="1">
          <a:blip r:embed="rId4">
            <a:alphaModFix/>
          </a:blip>
          <a:srcRect b="17373" l="2016" r="7148" t="12204"/>
          <a:stretch/>
        </p:blipFill>
        <p:spPr>
          <a:xfrm>
            <a:off x="6694150" y="6268700"/>
            <a:ext cx="4765300" cy="5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RC Script</a:t>
            </a:r>
            <a:endParaRPr/>
          </a:p>
        </p:txBody>
      </p:sp>
      <p:sp>
        <p:nvSpPr>
          <p:cNvPr id="112" name="Google Shape;112;p1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10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Scripts for starting / stopping a service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What does RC means?</a:t>
            </a:r>
            <a:endParaRPr/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rgbClr val="FF0000"/>
                </a:solidFill>
              </a:rPr>
              <a:t>R</a:t>
            </a:r>
            <a:r>
              <a:rPr lang="en-US"/>
              <a:t>un 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/>
              <a:t>ommands (RunCom)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Command scripts for auto-reboot and daemon startup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rc(8)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https://www.freebsd.org/doc/handbook/configtuning-rcd.html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1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Why do we need RC Script?</a:t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Start services on system startup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Starting and stopping services in a standard way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Write configuration in the rc script for easy launch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graphicFrame>
        <p:nvGraphicFramePr>
          <p:cNvPr id="128" name="Google Shape;128;p12"/>
          <p:cNvGraphicFramePr/>
          <p:nvPr/>
        </p:nvGraphicFramePr>
        <p:xfrm>
          <a:off x="952488" y="339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{BE2A2A4E-B9FC-48E4-A632-5B406C85569A}</a:tableStyleId>
              </a:tblPr>
              <a:tblGrid>
                <a:gridCol w="2186850"/>
                <a:gridCol w="7906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 RC script</a:t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service pure-ftpd start</a:t>
                      </a:r>
                      <a:endParaRPr sz="2200" u="none" cap="none" strike="noStrike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without RC script</a:t>
                      </a:r>
                      <a:endParaRPr sz="2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$ /usr/local/sbin/pure-ftpd -g /var/run/pure-ftpd.pid -A -c50 -B -C8 -D -fftp -H -I15 -lpam -lunix -L10000:8 -m4 -s -U133:022 -u100 -k99 -Z</a:t>
                      </a:r>
                      <a:endParaRPr sz="2200" u="none" cap="none" strike="noStrike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1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RC Script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body"/>
          </p:nvPr>
        </p:nvSpPr>
        <p:spPr>
          <a:xfrm>
            <a:off x="599050" y="4672900"/>
            <a:ext cx="10830900" cy="22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Dependency between each service is described in header of the script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 u="sng">
                <a:solidFill>
                  <a:schemeClr val="hlink"/>
                </a:solidFill>
                <a:hlinkClick r:id="rId3"/>
              </a:rPr>
              <a:t>rcorder(8)</a:t>
            </a:r>
            <a:r>
              <a:rPr lang="en-US" sz="2900"/>
              <a:t> is used to find out dependency ordering of each script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Each rc script defines what to do when start / stop …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/etc/rc.subr defines what to do &amp; check before / after start stop ….</a:t>
            </a:r>
            <a:endParaRPr sz="2900"/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 u="sng">
                <a:solidFill>
                  <a:schemeClr val="hlink"/>
                </a:solidFill>
                <a:hlinkClick r:id="rId4"/>
              </a:rPr>
              <a:t>rc.subr(8)</a:t>
            </a:r>
            <a:endParaRPr sz="2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900"/>
          </a:p>
        </p:txBody>
      </p:sp>
      <p:sp>
        <p:nvSpPr>
          <p:cNvPr id="136" name="Google Shape;136;p13"/>
          <p:cNvSpPr/>
          <p:nvPr/>
        </p:nvSpPr>
        <p:spPr>
          <a:xfrm>
            <a:off x="2106250" y="1443700"/>
            <a:ext cx="1518600" cy="578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2106250" y="2300750"/>
            <a:ext cx="1507500" cy="57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/etc/rc.d/*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1745950" y="3151425"/>
            <a:ext cx="2239200" cy="57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/usr/local/etc/rc.d/*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2106250" y="4002100"/>
            <a:ext cx="1518600" cy="578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0" name="Google Shape;140;p13"/>
          <p:cNvGraphicFramePr/>
          <p:nvPr/>
        </p:nvGraphicFramePr>
        <p:xfrm>
          <a:off x="6008050" y="150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{BE2A2A4E-B9FC-48E4-A632-5B406C85569A}</a:tableStyleId>
              </a:tblPr>
              <a:tblGrid>
                <a:gridCol w="16136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Samba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rsyncd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prftpd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mysql-server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lighttpd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…...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41" name="Google Shape;141;p13"/>
          <p:cNvSpPr/>
          <p:nvPr/>
        </p:nvSpPr>
        <p:spPr>
          <a:xfrm>
            <a:off x="9047200" y="3143863"/>
            <a:ext cx="1507500" cy="57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/etc/rc.subr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" name="Google Shape;142;p13"/>
          <p:cNvCxnSpPr>
            <a:stCxn id="138" idx="3"/>
          </p:cNvCxnSpPr>
          <p:nvPr/>
        </p:nvCxnSpPr>
        <p:spPr>
          <a:xfrm flipH="1" rot="10800000">
            <a:off x="3985150" y="3432675"/>
            <a:ext cx="2043600" cy="8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" name="Google Shape;143;p13"/>
          <p:cNvSpPr txBox="1"/>
          <p:nvPr/>
        </p:nvSpPr>
        <p:spPr>
          <a:xfrm>
            <a:off x="4016200" y="2984000"/>
            <a:ext cx="19401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 by </a:t>
            </a:r>
            <a:r>
              <a:rPr b="0" i="0" lang="en-US" sz="20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rcorder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4" name="Google Shape;144;p13"/>
          <p:cNvCxnSpPr/>
          <p:nvPr/>
        </p:nvCxnSpPr>
        <p:spPr>
          <a:xfrm>
            <a:off x="7617400" y="3440438"/>
            <a:ext cx="1429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5" name="Google Shape;145;p13"/>
          <p:cNvSpPr txBox="1"/>
          <p:nvPr/>
        </p:nvSpPr>
        <p:spPr>
          <a:xfrm>
            <a:off x="7722100" y="2996138"/>
            <a:ext cx="12417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6" name="Google Shape;146;p13"/>
          <p:cNvCxnSpPr>
            <a:stCxn id="136" idx="2"/>
            <a:endCxn id="137" idx="0"/>
          </p:cNvCxnSpPr>
          <p:nvPr/>
        </p:nvCxnSpPr>
        <p:spPr>
          <a:xfrm flipH="1">
            <a:off x="2859850" y="2022400"/>
            <a:ext cx="5700" cy="27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" name="Google Shape;147;p13"/>
          <p:cNvCxnSpPr>
            <a:stCxn id="137" idx="2"/>
            <a:endCxn id="138" idx="0"/>
          </p:cNvCxnSpPr>
          <p:nvPr/>
        </p:nvCxnSpPr>
        <p:spPr>
          <a:xfrm>
            <a:off x="2860000" y="2879450"/>
            <a:ext cx="5700" cy="272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" name="Google Shape;148;p13"/>
          <p:cNvCxnSpPr>
            <a:stCxn id="138" idx="2"/>
            <a:endCxn id="139" idx="0"/>
          </p:cNvCxnSpPr>
          <p:nvPr/>
        </p:nvCxnSpPr>
        <p:spPr>
          <a:xfrm>
            <a:off x="2865550" y="3730125"/>
            <a:ext cx="0" cy="272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1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 sz="4800"/>
              <a:t>Components to launch daemon processes</a:t>
            </a:r>
            <a:endParaRPr sz="4800"/>
          </a:p>
        </p:txBody>
      </p:sp>
      <p:sp>
        <p:nvSpPr>
          <p:cNvPr id="155" name="Google Shape;155;p1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To launch a daemon process in background, we need: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Launch command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Path to the executable binary/script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/usr/sbin/inetd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Path to configuration file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Program-specified configuration (ports to use, files to read/write, … 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/etc/inetd.conf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Pidfile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Records (master) process id of the service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Other process (like “service" tool) can know what PID to show/kill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/var/run/inetd.pid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1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Inside the RC Script</a:t>
            </a:r>
            <a:endParaRPr/>
          </a:p>
        </p:txBody>
      </p:sp>
      <p:sp>
        <p:nvSpPr>
          <p:cNvPr id="162" name="Google Shape;162;p1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Example: /etc/rc.d/inetd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163" name="Google Shape;163;p15"/>
          <p:cNvPicPr preferRelativeResize="0"/>
          <p:nvPr/>
        </p:nvPicPr>
        <p:blipFill rotWithShape="1">
          <a:blip r:embed="rId3">
            <a:alphaModFix/>
          </a:blip>
          <a:srcRect b="0" l="0" r="25527" t="0"/>
          <a:stretch/>
        </p:blipFill>
        <p:spPr>
          <a:xfrm>
            <a:off x="1831727" y="2164450"/>
            <a:ext cx="8524924" cy="50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/>
          <p:nvPr/>
        </p:nvSpPr>
        <p:spPr>
          <a:xfrm>
            <a:off x="1672350" y="3266703"/>
            <a:ext cx="5381646" cy="946307"/>
          </a:xfrm>
          <a:prstGeom prst="flowChartProcess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7124830" y="3427964"/>
            <a:ext cx="3061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rcorder(8) to sort.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1672350" y="4314020"/>
            <a:ext cx="5381646" cy="379232"/>
          </a:xfrm>
          <a:prstGeom prst="flowChartProcess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7124830" y="4071241"/>
            <a:ext cx="28917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need to be included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by every RC script.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1672350" y="4794262"/>
            <a:ext cx="5381646" cy="2330325"/>
          </a:xfrm>
          <a:prstGeom prst="flowChartProcess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7133685" y="5049446"/>
            <a:ext cx="22842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to do with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start/stop/.... 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1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How to use rc script</a:t>
            </a:r>
            <a:endParaRPr/>
          </a:p>
        </p:txBody>
      </p:sp>
      <p:sp>
        <p:nvSpPr>
          <p:cNvPr id="176" name="Google Shape;176;p16"/>
          <p:cNvSpPr txBox="1"/>
          <p:nvPr>
            <p:ph idx="1" type="body"/>
          </p:nvPr>
        </p:nvSpPr>
        <p:spPr>
          <a:xfrm>
            <a:off x="599050" y="1563425"/>
            <a:ext cx="108309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Example: ntpd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 txBox="1"/>
          <p:nvPr>
            <p:ph idx="2" type="body"/>
          </p:nvPr>
        </p:nvSpPr>
        <p:spPr>
          <a:xfrm>
            <a:off x="1050050" y="2172275"/>
            <a:ext cx="10067100" cy="13230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nctucs [~] -lctseng- /etc/rc.d/ntpd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Usage: /etc/rc.d/ntpd [fast|force|one|quiet](</a:t>
            </a:r>
            <a:r>
              <a:rPr lang="en-US" sz="2000">
                <a:solidFill>
                  <a:srgbClr val="FF0000"/>
                </a:solidFill>
              </a:rPr>
              <a:t>start</a:t>
            </a:r>
            <a:r>
              <a:rPr lang="en-US" sz="2000"/>
              <a:t>|</a:t>
            </a:r>
            <a:r>
              <a:rPr lang="en-US" sz="2000">
                <a:solidFill>
                  <a:srgbClr val="FF0000"/>
                </a:solidFill>
              </a:rPr>
              <a:t>stop</a:t>
            </a:r>
            <a:r>
              <a:rPr lang="en-US" sz="2000"/>
              <a:t>|</a:t>
            </a:r>
            <a:r>
              <a:rPr lang="en-US" sz="2000">
                <a:solidFill>
                  <a:srgbClr val="FF0000"/>
                </a:solidFill>
              </a:rPr>
              <a:t>restart</a:t>
            </a:r>
            <a:r>
              <a:rPr lang="en-US" sz="2000"/>
              <a:t>|</a:t>
            </a:r>
            <a:r>
              <a:rPr lang="en-US" sz="2000">
                <a:solidFill>
                  <a:srgbClr val="FF0000"/>
                </a:solidFill>
              </a:rPr>
              <a:t>rcvar</a:t>
            </a:r>
            <a:r>
              <a:rPr lang="en-US" sz="2000"/>
              <a:t>|</a:t>
            </a:r>
            <a:r>
              <a:rPr lang="en-US" sz="2000">
                <a:solidFill>
                  <a:srgbClr val="FF0000"/>
                </a:solidFill>
              </a:rPr>
              <a:t>enable</a:t>
            </a:r>
            <a:r>
              <a:rPr lang="en-US" sz="2000"/>
              <a:t>|</a:t>
            </a:r>
            <a:r>
              <a:rPr lang="en-US" sz="2000">
                <a:solidFill>
                  <a:srgbClr val="FF0000"/>
                </a:solidFill>
              </a:rPr>
              <a:t>disable</a:t>
            </a:r>
            <a:r>
              <a:rPr lang="en-US" sz="2000"/>
              <a:t>|delete|enabled|describe|extracommands|fetch|needfetch|</a:t>
            </a:r>
            <a:r>
              <a:rPr lang="en-US" sz="2000">
                <a:solidFill>
                  <a:srgbClr val="FF0000"/>
                </a:solidFill>
              </a:rPr>
              <a:t>status</a:t>
            </a:r>
            <a:r>
              <a:rPr lang="en-US" sz="2000"/>
              <a:t>|poll</a:t>
            </a:r>
            <a:endParaRPr sz="2000"/>
          </a:p>
        </p:txBody>
      </p:sp>
      <p:sp>
        <p:nvSpPr>
          <p:cNvPr id="178" name="Google Shape;178;p16"/>
          <p:cNvSpPr txBox="1"/>
          <p:nvPr>
            <p:ph idx="1" type="body"/>
          </p:nvPr>
        </p:nvSpPr>
        <p:spPr>
          <a:xfrm>
            <a:off x="599050" y="3544625"/>
            <a:ext cx="108309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After booting… (rc.conf)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79" name="Google Shape;179;p16"/>
          <p:cNvSpPr txBox="1"/>
          <p:nvPr>
            <p:ph idx="2" type="body"/>
          </p:nvPr>
        </p:nvSpPr>
        <p:spPr>
          <a:xfrm>
            <a:off x="1050050" y="4077275"/>
            <a:ext cx="10067100" cy="16950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nctucs [~] -lctseng- cat /var/db/ntp/ntpd.pid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>
                <a:solidFill>
                  <a:srgbClr val="FF0000"/>
                </a:solidFill>
              </a:rPr>
              <a:t>4239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nctucs [~] -lctseng- ps aux | grep ntp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ntpd </a:t>
            </a:r>
            <a:r>
              <a:rPr lang="en-US" sz="2000">
                <a:solidFill>
                  <a:srgbClr val="FF0000"/>
                </a:solidFill>
              </a:rPr>
              <a:t>4239</a:t>
            </a:r>
            <a:r>
              <a:rPr lang="en-US" sz="2000"/>
              <a:t>   0.0  0.8 16488 16580  -  Ss   08:45      0:00.02 /usr/sbin/ntpd -p /var/db/ntp/ntpd.pid -c /etc/ntp.conf -f /var/db/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</p:txBody>
      </p:sp>
      <p:sp>
        <p:nvSpPr>
          <p:cNvPr id="180" name="Google Shape;180;p16"/>
          <p:cNvSpPr txBox="1"/>
          <p:nvPr>
            <p:ph idx="1" type="body"/>
          </p:nvPr>
        </p:nvSpPr>
        <p:spPr>
          <a:xfrm>
            <a:off x="599050" y="5830625"/>
            <a:ext cx="108309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An easy way to access: "service"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service ntpd start/stop/restart/reload/…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Search /etc/rc.d and /usr/local/etc/rc.d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1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How to use rc script</a:t>
            </a:r>
            <a:endParaRPr/>
          </a:p>
        </p:txBody>
      </p:sp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Start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Start the service and write PID files now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Stop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Terminates the service by killing the process with PID recorded in pidfile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Restart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Restart the service (or just start a new one if not running)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Some services implement 'restart' by ‘stop + start'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Enable/Disable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Edit /etc/rc.conf with XXX_enable=“YES" or “NO"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Whether to automatically launch when booting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1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How to use rc script</a:t>
            </a:r>
            <a:endParaRPr/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Status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Check the service is running or not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Reload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Reload configuration file if the service support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Rcvar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Show the variables used in rc.conf </a:t>
            </a:r>
            <a:endParaRPr/>
          </a:p>
        </p:txBody>
      </p:sp>
      <p:sp>
        <p:nvSpPr>
          <p:cNvPr id="195" name="Google Shape;195;p18"/>
          <p:cNvSpPr txBox="1"/>
          <p:nvPr>
            <p:ph idx="2" type="body"/>
          </p:nvPr>
        </p:nvSpPr>
        <p:spPr>
          <a:xfrm>
            <a:off x="1556500" y="4686875"/>
            <a:ext cx="8696100" cy="19740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nctucs [~] -lctseng- </a:t>
            </a:r>
            <a:r>
              <a:rPr lang="en-US">
                <a:solidFill>
                  <a:srgbClr val="FF0000"/>
                </a:solidFill>
              </a:rPr>
              <a:t>service pure-ftpd rcvar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# pureftpd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#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>
                <a:solidFill>
                  <a:srgbClr val="FF0000"/>
                </a:solidFill>
              </a:rPr>
              <a:t>pureftpd_enable</a:t>
            </a:r>
            <a:r>
              <a:rPr lang="en-US"/>
              <a:t>="no"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#   (default: "")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1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How to use rc script</a:t>
            </a:r>
            <a:endParaRPr/>
          </a:p>
        </p:txBody>
      </p:sp>
      <p:sp>
        <p:nvSpPr>
          <p:cNvPr id="202" name="Google Shape;202;p1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[one | fast | force]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One 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Skip the check of rcvar="YES" 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Start the service even if XXXX_enable="NO"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Force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Force start the service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Ignore any error it encountered (no prerequisite test)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ignore rcvar="YES" and set rc_force="YES"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Fast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Skip the check for an existing running process (pid check)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Set rc_fast="YES"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Local installed service</a:t>
            </a:r>
            <a:endParaRPr/>
          </a:p>
        </p:txBody>
      </p:sp>
      <p:sp>
        <p:nvSpPr>
          <p:cNvPr id="209" name="Google Shape;209;p2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More about how to use rc.conf for an installed service, read comments from that script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/usr/local/etc/rc.d/pure-ftpd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 txBox="1"/>
          <p:nvPr>
            <p:ph idx="2" type="body"/>
          </p:nvPr>
        </p:nvSpPr>
        <p:spPr>
          <a:xfrm>
            <a:off x="1529650" y="3064200"/>
            <a:ext cx="8686200" cy="42819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 Add the following lines to /etc/rc.conf to enable pure-ftpd: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 pureftpd_enable="yes"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 pureftpd_flags="&lt;set as needed&gt;"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 Add the following lines to /etc/rc.conf to enable pure-authd daemon: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 pureftpd_authd_enable="yes"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 pureftpd_authdscript="/full/path/to/auth_script"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 pureftpd_authsocket="/var/run/ftpd.sock"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 Add the following lines to /etc/rc.conf to enable uploadscript daemon: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 pureftpd_upload_enable="yes"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# pureftpd_uploadscript="/full/path/to/upload_script"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System-V</a:t>
            </a:r>
            <a:endParaRPr/>
          </a:p>
        </p:txBody>
      </p:sp>
      <p:sp>
        <p:nvSpPr>
          <p:cNvPr id="216" name="Google Shape;216;p2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21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Startup Scripts</a:t>
            </a:r>
            <a:endParaRPr/>
          </a:p>
        </p:txBody>
      </p:sp>
      <p:sp>
        <p:nvSpPr>
          <p:cNvPr id="224" name="Google Shape;224;p22"/>
          <p:cNvSpPr txBox="1"/>
          <p:nvPr>
            <p:ph idx="1" type="body"/>
          </p:nvPr>
        </p:nvSpPr>
        <p:spPr>
          <a:xfrm>
            <a:off x="599050" y="1563425"/>
            <a:ext cx="51201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SystemV-style startup scripts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Sun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/etc/init.d/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/etc/rc.d/rcn.d/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Each script is responsible for one daemon or one aspect of system.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 txBox="1"/>
          <p:nvPr>
            <p:ph idx="2" type="body"/>
          </p:nvPr>
        </p:nvSpPr>
        <p:spPr>
          <a:xfrm>
            <a:off x="5719200" y="2071288"/>
            <a:ext cx="6102300" cy="48006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case "$1" in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'start')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    if [ -x /usr/local/sbin/sshd ]; then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        echo "Starting the secure shell daemon"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        /usr/local/sbin/sshd &amp;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    fi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    ;;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'stop')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    echo "Stopping the secure shell daemon "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    pkill -TERM sshd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    ;;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*)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    echo "Usage: /etc/init.d/sshd { start | stop }"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    ;;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esac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800"/>
              <a:t>exit 0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800"/>
          </a:p>
        </p:txBody>
      </p:sp>
      <p:sp>
        <p:nvSpPr>
          <p:cNvPr id="226" name="Google Shape;226;p22"/>
          <p:cNvSpPr txBox="1"/>
          <p:nvPr/>
        </p:nvSpPr>
        <p:spPr>
          <a:xfrm>
            <a:off x="8844325" y="1803450"/>
            <a:ext cx="2717700" cy="470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sshd in SunOS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7" name="Google Shape;227;p22"/>
          <p:cNvCxnSpPr/>
          <p:nvPr/>
        </p:nvCxnSpPr>
        <p:spPr>
          <a:xfrm>
            <a:off x="3014100" y="2817150"/>
            <a:ext cx="642300" cy="494100"/>
          </a:xfrm>
          <a:prstGeom prst="bentConnector3">
            <a:avLst>
              <a:gd fmla="val 169236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28" name="Google Shape;228;p22"/>
          <p:cNvSpPr txBox="1"/>
          <p:nvPr/>
        </p:nvSpPr>
        <p:spPr>
          <a:xfrm>
            <a:off x="4101100" y="2880900"/>
            <a:ext cx="1470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Symbolic 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2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Startup Scripts –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                 SystemV-style startup scripts (1)</a:t>
            </a:r>
            <a:endParaRPr/>
          </a:p>
        </p:txBody>
      </p:sp>
      <p:sp>
        <p:nvSpPr>
          <p:cNvPr id="235" name="Google Shape;235;p23"/>
          <p:cNvSpPr txBox="1"/>
          <p:nvPr>
            <p:ph idx="1" type="body"/>
          </p:nvPr>
        </p:nvSpPr>
        <p:spPr>
          <a:xfrm>
            <a:off x="599050" y="1717800"/>
            <a:ext cx="10830900" cy="55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/etc/rc.d/rcn.d/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When init transitions from lower run level to higher one, 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It runs all the scripts that start with "S" in ascending order with "start" argument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When init transitions from high run level to lower one, 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It runs all the scripts that start with "K" in descending order with "stop" argument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2563" y="5173425"/>
            <a:ext cx="814387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2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Startup Scripts –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                 SystemV-style startup scripts (2)</a:t>
            </a:r>
            <a:endParaRPr/>
          </a:p>
        </p:txBody>
      </p:sp>
      <p:sp>
        <p:nvSpPr>
          <p:cNvPr id="243" name="Google Shape;243;p24"/>
          <p:cNvSpPr txBox="1"/>
          <p:nvPr>
            <p:ph idx="1" type="body"/>
          </p:nvPr>
        </p:nvSpPr>
        <p:spPr>
          <a:xfrm>
            <a:off x="599050" y="1717800"/>
            <a:ext cx="10830900" cy="55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If you write a daemon and want init to start/stop it,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write a script and put in /etc/init.d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make suitable symbolic link in rcn.d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ln -s /etc/init.d/initiald /etc/rc2.d/S61initiald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ln -s /etc/init.d/initiald /etc/rc0.d/K33initiald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Systemd</a:t>
            </a:r>
            <a:endParaRPr/>
          </a:p>
        </p:txBody>
      </p:sp>
      <p:sp>
        <p:nvSpPr>
          <p:cNvPr id="249" name="Google Shape;249;p2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2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Systemd </a:t>
            </a:r>
            <a:endParaRPr/>
          </a:p>
        </p:txBody>
      </p:sp>
      <p:sp>
        <p:nvSpPr>
          <p:cNvPr id="257" name="Google Shape;257;p2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Evolved from System-V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Backward compatibility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Goal: provide a faster booting process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Less processes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Parallel launching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Use "targets" replace run-levels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Easier to use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Tool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systemctl (1)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Similar to "service" tool in FreeBSD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2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Flow of Running a Service with Systemd</a:t>
            </a:r>
            <a:endParaRPr/>
          </a:p>
        </p:txBody>
      </p:sp>
      <p:sp>
        <p:nvSpPr>
          <p:cNvPr id="264" name="Google Shape;264;p2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Installation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Through packages, or source tarballs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apt install apache2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Configuration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Service specific configuration file(s)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/etc/apache2/*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systemctl enable </a:t>
            </a:r>
            <a:r>
              <a:rPr lang="en-US" sz="2600">
                <a:solidFill>
                  <a:schemeClr val="dk1"/>
                </a:solidFill>
              </a:rPr>
              <a:t>apache2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Start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systemctl start </a:t>
            </a:r>
            <a:r>
              <a:rPr lang="en-US" sz="2600">
                <a:solidFill>
                  <a:schemeClr val="dk1"/>
                </a:solidFill>
              </a:rPr>
              <a:t>apache2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Maintenance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Updating、Restarting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7753150" y="1325950"/>
            <a:ext cx="34773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with Ubuntu</a:t>
            </a:r>
            <a:endParaRPr b="1" i="0" sz="2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2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How to use systemctl</a:t>
            </a:r>
            <a:endParaRPr/>
          </a:p>
        </p:txBody>
      </p:sp>
      <p:sp>
        <p:nvSpPr>
          <p:cNvPr id="272" name="Google Shape;272;p2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Usage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systemctl [OPTIONS…] {COMMAND} …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Common commands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enable / disable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Enable/disable launch when booting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start / stop / reload / restart / status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condrestart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Restart only if service is running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2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Unit files</a:t>
            </a:r>
            <a:endParaRPr/>
          </a:p>
        </p:txBody>
      </p:sp>
      <p:sp>
        <p:nvSpPr>
          <p:cNvPr id="279" name="Google Shape;279;p2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Define services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/lib/systemd/system/*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Similar to /etc/rc.d/*  in FreeBSD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systemd.service (5)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 1: (simple service)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Type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Simple: main process keeps running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Forking: main process forks and exits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ExecStart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Command to launch the service</a:t>
            </a:r>
            <a:endParaRPr/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WantedBy</a:t>
            </a:r>
            <a:endParaRPr/>
          </a:p>
          <a:p>
            <a:pPr indent="-3937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Run this service at which target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280" name="Google Shape;280;p29"/>
          <p:cNvSpPr txBox="1"/>
          <p:nvPr>
            <p:ph idx="2" type="body"/>
          </p:nvPr>
        </p:nvSpPr>
        <p:spPr>
          <a:xfrm>
            <a:off x="6526100" y="1054825"/>
            <a:ext cx="5206500" cy="35058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[Unit]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Description=Some simple daemon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[Service]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>
                <a:solidFill>
                  <a:srgbClr val="FF0000"/>
                </a:solidFill>
              </a:rPr>
              <a:t>Type</a:t>
            </a:r>
            <a:r>
              <a:rPr lang="en-US" sz="2000"/>
              <a:t>=forking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>
                <a:solidFill>
                  <a:srgbClr val="FF0000"/>
                </a:solidFill>
              </a:rPr>
              <a:t>ExecStart</a:t>
            </a:r>
            <a:r>
              <a:rPr lang="en-US" sz="2000"/>
              <a:t>=/usr/sbin/my-simple-daemon -d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PIDFile=/var/run/my-daemon.pid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/>
              <a:t>[Install]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000">
                <a:solidFill>
                  <a:srgbClr val="FF0000"/>
                </a:solidFill>
              </a:rPr>
              <a:t>WantedBy</a:t>
            </a:r>
            <a:r>
              <a:rPr lang="en-US" sz="2000"/>
              <a:t>=multi-user.target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3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Unit files</a:t>
            </a:r>
            <a:endParaRPr/>
          </a:p>
        </p:txBody>
      </p:sp>
      <p:sp>
        <p:nvSpPr>
          <p:cNvPr id="287" name="Google Shape;287;p30"/>
          <p:cNvSpPr txBox="1"/>
          <p:nvPr>
            <p:ph idx="1" type="body"/>
          </p:nvPr>
        </p:nvSpPr>
        <p:spPr>
          <a:xfrm>
            <a:off x="599050" y="1563425"/>
            <a:ext cx="50697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apache2.service</a:t>
            </a:r>
            <a:endParaRPr sz="2900"/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After</a:t>
            </a:r>
            <a:endParaRPr sz="2700"/>
          </a:p>
          <a:p>
            <a:pPr indent="-3873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Dependency. Start service after dependency is fulfilled</a:t>
            </a:r>
            <a:endParaRPr sz="2500"/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ExecStop / ExecReload</a:t>
            </a:r>
            <a:endParaRPr sz="2700"/>
          </a:p>
          <a:p>
            <a:pPr indent="-3873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Custom command to stop / reload the service</a:t>
            </a:r>
            <a:endParaRPr sz="2700"/>
          </a:p>
        </p:txBody>
      </p:sp>
      <p:sp>
        <p:nvSpPr>
          <p:cNvPr id="288" name="Google Shape;288;p30"/>
          <p:cNvSpPr txBox="1"/>
          <p:nvPr>
            <p:ph idx="2" type="body"/>
          </p:nvPr>
        </p:nvSpPr>
        <p:spPr>
          <a:xfrm>
            <a:off x="5702524" y="1695800"/>
            <a:ext cx="6143400" cy="43008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/>
              <a:t>[Unit]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/>
              <a:t>Description=The Apache HTTP Server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>
                <a:solidFill>
                  <a:srgbClr val="FF0000"/>
                </a:solidFill>
              </a:rPr>
              <a:t>After</a:t>
            </a:r>
            <a:r>
              <a:rPr lang="en-US" sz="1700"/>
              <a:t>=network.target remote-fs.target nss-lookup.target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/>
              <a:t>[Service]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/>
              <a:t>Type=forking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/>
              <a:t>Environment=APACHE_STARTED_BY_SYSTEMD=true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/>
              <a:t>ExecStart=/usr/sbin/apachectl start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>
                <a:solidFill>
                  <a:srgbClr val="FF0000"/>
                </a:solidFill>
              </a:rPr>
              <a:t>ExecStop</a:t>
            </a:r>
            <a:r>
              <a:rPr lang="en-US" sz="1700"/>
              <a:t>=/usr/sbin/apachectl stop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>
                <a:solidFill>
                  <a:srgbClr val="FF0000"/>
                </a:solidFill>
              </a:rPr>
              <a:t>ExecReload</a:t>
            </a:r>
            <a:r>
              <a:rPr lang="en-US" sz="1700"/>
              <a:t>=/usr/sbin/apachectl graceful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/>
              <a:t>PrivateTmp=true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/>
              <a:t>Restart=on-abort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/>
              <a:t>[Install]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700"/>
              <a:t>WantedBy=multi-user.target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3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Unit files</a:t>
            </a:r>
            <a:endParaRPr/>
          </a:p>
        </p:txBody>
      </p:sp>
      <p:sp>
        <p:nvSpPr>
          <p:cNvPr id="295" name="Google Shape;295;p3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When enable a service, it will create links from "lib/systemd/system/*.service" to "etc/systemd/system/XXX.target.wants/*"</a:t>
            </a:r>
            <a:endParaRPr/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/etc/systemd/system/multi-user.target.wants/apache2.service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 -&gt; /lib/systemd/system/apache2.service</a:t>
            </a:r>
            <a:endParaRPr/>
          </a:p>
        </p:txBody>
      </p:sp>
      <p:pic>
        <p:nvPicPr>
          <p:cNvPr id="296" name="Google Shape;296;p31"/>
          <p:cNvPicPr preferRelativeResize="0"/>
          <p:nvPr/>
        </p:nvPicPr>
        <p:blipFill rotWithShape="1">
          <a:blip r:embed="rId3">
            <a:alphaModFix/>
          </a:blip>
          <a:srcRect b="0" l="0" r="20823" t="2466"/>
          <a:stretch/>
        </p:blipFill>
        <p:spPr>
          <a:xfrm>
            <a:off x="866113" y="4160750"/>
            <a:ext cx="10264382" cy="30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t/>
            </a:r>
            <a:endParaRPr b="0" i="0" sz="8000" u="none" cap="none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02" name="Google Shape;302;p32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3" name="Google Shape;303;p32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5800"/>
              <a:t>Appendix: Other init systems</a:t>
            </a:r>
            <a:endParaRPr sz="5800"/>
          </a:p>
        </p:txBody>
      </p:sp>
      <p:sp>
        <p:nvSpPr>
          <p:cNvPr id="304" name="Google Shape;304;p3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p32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Different Init Systems</a:t>
            </a:r>
            <a:endParaRPr/>
          </a:p>
        </p:txBody>
      </p:sp>
      <p:sp>
        <p:nvSpPr>
          <p:cNvPr id="311" name="Google Shape;311;p3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2" name="Google Shape;312;p33"/>
          <p:cNvGraphicFramePr/>
          <p:nvPr/>
        </p:nvGraphicFramePr>
        <p:xfrm>
          <a:off x="384813" y="1466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{BE2A2A4E-B9FC-48E4-A632-5B406C85569A}</a:tableStyleId>
              </a:tblPr>
              <a:tblGrid>
                <a:gridCol w="1879900"/>
                <a:gridCol w="1879900"/>
                <a:gridCol w="1879900"/>
                <a:gridCol w="1879900"/>
                <a:gridCol w="1879900"/>
                <a:gridCol w="1879900"/>
              </a:tblGrid>
              <a:tr h="98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BSD rc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sysvinit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(System V)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systemd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launchd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OpenRC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</a:tr>
              <a:tr h="162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Operating Systems 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NetBSD, FreeBSD, OpenBSD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Debian</a:t>
                      </a:r>
                      <a:b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(&lt; 8.0)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Ubuntu, Debian </a:t>
                      </a:r>
                      <a:b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(&gt;= 8.0)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 OS X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Gentoo Linux, FreeBSD, NetBSD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62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 commands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service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init, telinit, runlevel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systemctl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launchctl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rc-service, rc-update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40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Service config files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/etc/rc.d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/etc/init.d/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/lib/systemd/system/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/System/Library/LaunchDaemons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/etc/init.d/</a:t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