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7559675" cx="11998325"/>
  <p:notesSz cx="7559675" cy="10691800"/>
  <p:embeddedFontLst>
    <p:embeddedFont>
      <p:font typeface="Ubuntu Mono"/>
      <p:regular r:id="rId55"/>
      <p:bold r:id="rId56"/>
      <p:italic r:id="rId57"/>
      <p:boldItalic r:id="rId58"/>
    </p:embeddedFont>
    <p:embeddedFont>
      <p:font typeface="Source Sans Pr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0ABD37-0B51-4981-9FDC-5E86E34CDE57}">
  <a:tblStyle styleId="{060ABD37-0B51-4981-9FDC-5E86E34CDE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SourceSansPro-boldItalic.fntdata"/><Relationship Id="rId61" Type="http://schemas.openxmlformats.org/officeDocument/2006/relationships/font" Target="fonts/SourceSansPr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SourceSansPr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UbuntuMon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UbuntuMono-italic.fntdata"/><Relationship Id="rId12" Type="http://schemas.openxmlformats.org/officeDocument/2006/relationships/slide" Target="slides/slide7.xml"/><Relationship Id="rId56" Type="http://schemas.openxmlformats.org/officeDocument/2006/relationships/font" Target="fonts/UbuntuMono-bold.fntdata"/><Relationship Id="rId15" Type="http://schemas.openxmlformats.org/officeDocument/2006/relationships/slide" Target="slides/slide10.xml"/><Relationship Id="rId59" Type="http://schemas.openxmlformats.org/officeDocument/2006/relationships/font" Target="fonts/SourceSansPro-regular.fntdata"/><Relationship Id="rId14" Type="http://schemas.openxmlformats.org/officeDocument/2006/relationships/slide" Target="slides/slide9.xml"/><Relationship Id="rId58" Type="http://schemas.openxmlformats.org/officeDocument/2006/relationships/font" Target="fonts/Ubuntu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8c8c54d5e5_0_3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8c8c54d5e5_0_3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3333"/>
                </a:solidFill>
                <a:highlight>
                  <a:srgbClr val="FFFBE1"/>
                </a:highlight>
              </a:rPr>
              <a:t>2020上課時數：第一週30分鐘沒上完，只上到P21</a:t>
            </a:r>
            <a:endParaRPr sz="1050">
              <a:solidFill>
                <a:srgbClr val="333333"/>
              </a:solidFill>
              <a:highlight>
                <a:srgbClr val="FFFBE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3333"/>
                </a:solidFill>
                <a:highlight>
                  <a:srgbClr val="FFFBE1"/>
                </a:highlight>
              </a:rPr>
              <a:t>剩下的講完花了40分鐘</a:t>
            </a:r>
            <a:endParaRPr sz="1050">
              <a:solidFill>
                <a:srgbClr val="333333"/>
              </a:solidFill>
              <a:highlight>
                <a:srgbClr val="FFFBE1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8c8c54d5e5_1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8c8c54d5e5_1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99bc412c64_2_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99bc412c64_2_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c8c54d5e5_1_9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c8c54d5e5_1_9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tcsh: tee c-shell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aeb3610d5_2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aeb3610d5_2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c8c54d5e5_1_1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c8c54d5e5_1_1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c8c54d5e5_1_1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c8c54d5e5_1_1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c8c54d5e5_1_1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c8c54d5e5_1_1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c8c54d5e5_1_1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c8c54d5e5_1_1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c8c54d5e5_1_1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c8c54d5e5_1_1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c8c54d5e5_1_16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c8c54d5e5_1_16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c8c54d5e5_4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c8c54d5e5_4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c8c54d5e5_4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c8c54d5e5_4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8c8c54d5e5_4_5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8c8c54d5e5_4_5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c8c54d5e5_4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c8c54d5e5_4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c8c54d5e5_1_1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c8c54d5e5_1_1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c8c54d5e5_1_2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c8c54d5e5_1_2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c8c54d5e5_1_2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c8c54d5e5_1_2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c8c54d5e5_1_2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c8c54d5e5_1_2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c8c54d5e5_1_2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c8c54d5e5_1_2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c8c54d5e5_1_2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c8c54d5e5_1_2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ca8aea250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ca8aea250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69b59bb16_3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69b59bb16_3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69b59bb16_3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69b59bb16_3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869b59bb16_3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869b59bb16_3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69b59bb16_3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69b59bb16_3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9b59bb16_3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9b59bb16_3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69b59bb16_3_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69b59bb16_3_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69b59bb16_3_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69b59bb16_3_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69b59bb16_3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69b59bb16_3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69b59bb16_3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69b59bb16_3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69b59bb16_3_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69b59bb16_3_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69b59bb16_3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69b59bb16_3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69b59bb16_3_10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69b59bb16_3_10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69b59bb16_3_1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69b59bb16_3_1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869b59bb16_3_1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869b59bb16_3_1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869b59bb16_3_1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869b59bb16_3_1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69b59bb16_3_1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69b59bb16_3_1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869b59bb16_6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869b59bb16_6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869b59bb16_6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869b59bb16_6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869b59bb16_6_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869b59bb16_6_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69b59bb16_6_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869b59bb16_6_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869b59bb16_6_4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869b59bb16_6_4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869b59bb16_6_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869b59bb16_6_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869b59bb16_6_6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869b59bb16_6_6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9b0017f934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9b0017f934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869b59bb16_6_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869b59bb16_6_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69b59bb16_6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69b59bb16_6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69b59bb16_6_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69b59bb16_6_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4741075" y="77478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訂版面配置 1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microsoft.com/zh-tw/powershell/scripting/install/installing-powershell-core-on-linux?view=powershell-7" TargetMode="External"/><Relationship Id="rId4" Type="http://schemas.openxmlformats.org/officeDocument/2006/relationships/hyperlink" Target="https://docs.microsoft.com/zh-tw/powershell/scripting/install/installing-powershell-core-on-macos?view=powershell-7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it.cs.nycu.edu.tw/unix-basic-commands" TargetMode="External"/><Relationship Id="rId4" Type="http://schemas.openxmlformats.org/officeDocument/2006/relationships/hyperlink" Target="https://cscc.cs.nctu.edu.tw/unix-basic-commands" TargetMode="External"/><Relationship Id="rId5" Type="http://schemas.openxmlformats.org/officeDocument/2006/relationships/hyperlink" Target="http://www.unix.org.ua/orelly/unix/unixnut/ch04_06.htm" TargetMode="External"/><Relationship Id="rId6" Type="http://schemas.openxmlformats.org/officeDocument/2006/relationships/hyperlink" Target="http://publib.boulder.ibm.com/infocenter/pseries/index.jsp?topic=/com.ibm.aix.doc/aixuser/usrosdev/list_c_builtin_cmds.htm" TargetMode="External"/><Relationship Id="rId7" Type="http://schemas.openxmlformats.org/officeDocument/2006/relationships/hyperlink" Target="https://www.freebsd.org/cgi/man.cgi?query=tcsh" TargetMode="External"/><Relationship Id="rId8" Type="http://schemas.openxmlformats.org/officeDocument/2006/relationships/hyperlink" Target="https://www.freebsd.org/cgi/man.cgi?query=sh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freebsd.org/cgi/man.cgi?query=sh&amp;sektion=1" TargetMode="External"/><Relationship Id="rId4" Type="http://schemas.openxmlformats.org/officeDocument/2006/relationships/hyperlink" Target="https://www.freebsd.org/cgi/man.cgi?query=tcsh&amp;sektion=1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0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en.wikipedia.org/wiki/Unix_philosophy" TargetMode="External"/><Relationship Id="rId4" Type="http://schemas.openxmlformats.org/officeDocument/2006/relationships/hyperlink" Target="https://github.com/robbyrussell/oh-my-zsh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shellcheck.net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freebsd.org/cgi/man.cgi?query=tcsh&amp;sektion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Shells</a:t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? (1996-2018)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UNIX Kernel and Shell</a:t>
            </a:r>
            <a:endParaRPr/>
          </a:p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Interface to communicate with kernel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Where you type commands </a:t>
            </a:r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750" y="3887353"/>
            <a:ext cx="3517051" cy="2714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2801" y="2298413"/>
            <a:ext cx="1588942" cy="15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01" y="4117988"/>
            <a:ext cx="5796925" cy="22530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6"/>
          <p:cNvCxnSpPr/>
          <p:nvPr/>
        </p:nvCxnSpPr>
        <p:spPr>
          <a:xfrm>
            <a:off x="8637272" y="3695175"/>
            <a:ext cx="0" cy="20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UNIX Kernel and Shell (2)</a:t>
            </a:r>
            <a:endParaRPr/>
          </a:p>
        </p:txBody>
      </p:sp>
      <p:grpSp>
        <p:nvGrpSpPr>
          <p:cNvPr id="46" name="Google Shape;46;p7"/>
          <p:cNvGrpSpPr/>
          <p:nvPr/>
        </p:nvGrpSpPr>
        <p:grpSpPr>
          <a:xfrm>
            <a:off x="563350" y="1996325"/>
            <a:ext cx="9665428" cy="4405100"/>
            <a:chOff x="563350" y="1996325"/>
            <a:chExt cx="9665428" cy="4405100"/>
          </a:xfrm>
        </p:grpSpPr>
        <p:sp>
          <p:nvSpPr>
            <p:cNvPr id="47" name="Google Shape;47;p7"/>
            <p:cNvSpPr/>
            <p:nvPr/>
          </p:nvSpPr>
          <p:spPr>
            <a:xfrm>
              <a:off x="563350" y="1996325"/>
              <a:ext cx="7500600" cy="30492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     </a:t>
              </a: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YOUR SHELL PROGRAMS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872150" y="2418400"/>
              <a:ext cx="6758100" cy="2235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KORN SHELL                      C SHELL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1415650" y="2838375"/>
              <a:ext cx="5783400" cy="12621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KERNEL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897400" y="3283075"/>
              <a:ext cx="4844700" cy="5787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HARDWARE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51;p7"/>
            <p:cNvSpPr txBox="1"/>
            <p:nvPr/>
          </p:nvSpPr>
          <p:spPr>
            <a:xfrm>
              <a:off x="1403150" y="4042575"/>
              <a:ext cx="60732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OTHER UNIX COMMANDS           BOURNE SHELL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935900" y="4578100"/>
              <a:ext cx="54867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OTHER APPLICATION PROGRAMS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53;p7"/>
            <p:cNvSpPr txBox="1"/>
            <p:nvPr/>
          </p:nvSpPr>
          <p:spPr>
            <a:xfrm>
              <a:off x="8527000" y="3127425"/>
              <a:ext cx="1689000" cy="630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FETCH COMMAND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54;p7"/>
            <p:cNvSpPr txBox="1"/>
            <p:nvPr/>
          </p:nvSpPr>
          <p:spPr>
            <a:xfrm>
              <a:off x="8539778" y="4337500"/>
              <a:ext cx="1689000" cy="630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ANALYZE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55;p7"/>
            <p:cNvSpPr txBox="1"/>
            <p:nvPr/>
          </p:nvSpPr>
          <p:spPr>
            <a:xfrm>
              <a:off x="8539778" y="5547575"/>
              <a:ext cx="1689000" cy="630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EXECUTE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6" name="Google Shape;56;p7"/>
            <p:cNvCxnSpPr>
              <a:stCxn id="53" idx="2"/>
              <a:endCxn id="54" idx="0"/>
            </p:cNvCxnSpPr>
            <p:nvPr/>
          </p:nvCxnSpPr>
          <p:spPr>
            <a:xfrm>
              <a:off x="9371500" y="3757425"/>
              <a:ext cx="12900" cy="580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" name="Google Shape;57;p7"/>
            <p:cNvCxnSpPr>
              <a:stCxn id="54" idx="2"/>
              <a:endCxn id="55" idx="0"/>
            </p:cNvCxnSpPr>
            <p:nvPr/>
          </p:nvCxnSpPr>
          <p:spPr>
            <a:xfrm>
              <a:off x="9384278" y="4967500"/>
              <a:ext cx="0" cy="580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" name="Google Shape;58;p7"/>
            <p:cNvCxnSpPr>
              <a:stCxn id="55" idx="2"/>
              <a:endCxn id="53" idx="3"/>
            </p:cNvCxnSpPr>
            <p:nvPr/>
          </p:nvCxnSpPr>
          <p:spPr>
            <a:xfrm rot="-5400000">
              <a:off x="8432528" y="4394225"/>
              <a:ext cx="2735100" cy="831600"/>
            </a:xfrm>
            <a:prstGeom prst="bentConnector4">
              <a:avLst>
                <a:gd fmla="val -15448" name="adj1"/>
                <a:gd fmla="val 23018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" name="Google Shape;59;p7"/>
            <p:cNvSpPr txBox="1"/>
            <p:nvPr/>
          </p:nvSpPr>
          <p:spPr>
            <a:xfrm>
              <a:off x="6041300" y="5822725"/>
              <a:ext cx="3051000" cy="57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>
                  <a:latin typeface="Times New Roman"/>
                  <a:ea typeface="Times New Roman"/>
                  <a:cs typeface="Times New Roman"/>
                  <a:sym typeface="Times New Roman"/>
                </a:rPr>
                <a:t>Interpret</a:t>
              </a:r>
              <a:endParaRPr sz="3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804650" y="4511975"/>
              <a:ext cx="2668775" cy="1406975"/>
            </a:xfrm>
            <a:custGeom>
              <a:rect b="b" l="l" r="r" t="t"/>
              <a:pathLst>
                <a:path extrusionOk="0" h="56279" w="106751">
                  <a:moveTo>
                    <a:pt x="0" y="0"/>
                  </a:moveTo>
                  <a:lnTo>
                    <a:pt x="0" y="56279"/>
                  </a:lnTo>
                  <a:lnTo>
                    <a:pt x="106751" y="56279"/>
                  </a:lnTo>
                </a:path>
              </a:pathLst>
            </a:cu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UNIX Shells</a:t>
            </a:r>
            <a:endParaRPr/>
          </a:p>
        </p:txBody>
      </p:sp>
      <p:graphicFrame>
        <p:nvGraphicFramePr>
          <p:cNvPr id="67" name="Google Shape;67;p8"/>
          <p:cNvGraphicFramePr/>
          <p:nvPr/>
        </p:nvGraphicFramePr>
        <p:xfrm>
          <a:off x="1023238" y="149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3124000"/>
                <a:gridCol w="1851050"/>
                <a:gridCol w="2487525"/>
                <a:gridCol w="2487525"/>
              </a:tblGrid>
              <a:tr h="519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Originator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Name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Bourne Shell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</a:t>
                      </a: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FreeBSD base)</a:t>
                      </a:r>
                      <a:endParaRPr b="1" sz="1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R. Bourne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/bin/sh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Shell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FreeBSD base, Default for root)</a:t>
                      </a:r>
                      <a:endParaRPr b="1" sz="1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Bill Joy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/bin/csh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TENEX C Shell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FreeBSD base)</a:t>
                      </a:r>
                      <a:endParaRPr b="1" sz="1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Ken Greer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/bin/tcsh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Korn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David Korn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(shells/ksh93)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Bourne-Again Shell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(Widely used)</a:t>
                      </a:r>
                      <a:endParaRPr b="1" sz="1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Brian J. Fox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(shells/bash)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51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 Shell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1" lang="en-US" sz="1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(macOS default)</a:t>
                      </a:r>
                      <a:endParaRPr b="1" sz="1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Paul Falstad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(shells/zsh)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Windows </a:t>
            </a:r>
            <a:r>
              <a:rPr lang="en-US"/>
              <a:t>Shell </a:t>
            </a:r>
            <a:endParaRPr/>
          </a:p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cmd.exe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First released in 1987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Windows NT/Windows 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Still used in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modern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Windows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PowerShell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released in 2006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the same functionality as UNIX shells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has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Linux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MacOS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releases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Startup Files</a:t>
            </a:r>
            <a:endParaRPr/>
          </a:p>
        </p:txBody>
      </p:sp>
      <p:graphicFrame>
        <p:nvGraphicFramePr>
          <p:cNvPr id="81" name="Google Shape;81;p10"/>
          <p:cNvGraphicFramePr/>
          <p:nvPr/>
        </p:nvGraphicFramePr>
        <p:xfrm>
          <a:off x="1598838" y="19278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691075"/>
                <a:gridCol w="1978525"/>
                <a:gridCol w="5400500"/>
              </a:tblGrid>
              <a:tr h="4775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/etc/profile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shell, system wide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~/.profile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181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/etc/csh.cshrc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always, system wide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/etc/csh.login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shell, system wide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~/.cshrc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always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~/.login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~/.logout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logout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77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etc/csh.logout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logout shell, system wide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Startup Files (2)</a:t>
            </a:r>
            <a:endParaRPr/>
          </a:p>
        </p:txBody>
      </p:sp>
      <p:graphicFrame>
        <p:nvGraphicFramePr>
          <p:cNvPr id="88" name="Google Shape;88;p11"/>
          <p:cNvGraphicFramePr/>
          <p:nvPr/>
        </p:nvGraphicFramePr>
        <p:xfrm>
          <a:off x="1598838" y="19278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739700"/>
                <a:gridCol w="2457950"/>
                <a:gridCol w="4889725"/>
              </a:tblGrid>
              <a:tr h="51245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~/.tcshrc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124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(csh startup files)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backward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compatibility for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5053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/etc/profile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➔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~/.bash_profile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➔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~/.bash_login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➔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~/.profile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76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~/.bashrc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01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BASH_ENV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1"/>
          <p:cNvSpPr txBox="1"/>
          <p:nvPr/>
        </p:nvSpPr>
        <p:spPr>
          <a:xfrm>
            <a:off x="1541463" y="5572475"/>
            <a:ext cx="89154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Bash Startup Files : https://www.gnu.org/software/bash/manual/html_node/Bash-Startup-Files.htm</a:t>
            </a:r>
            <a:r>
              <a:rPr i="1" lang="en-US" sz="17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Startup Files (3)</a:t>
            </a:r>
            <a:endParaRPr/>
          </a:p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sample tcshrc for you to change your prompt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Simplest install steps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Take a look at the content before running 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88" y="5456175"/>
            <a:ext cx="11459415" cy="12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599050" y="3535425"/>
            <a:ext cx="10798500" cy="1428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fetch https://ppt.cc/fxYchx -o ~/.tcshrc</a:t>
            </a:r>
            <a:endParaRPr sz="2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source ~/.tcshrc</a:t>
            </a:r>
            <a:endParaRPr sz="11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Environment Variables (1)</a:t>
            </a:r>
            <a:endParaRPr/>
          </a:p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Controlling shell behaviors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many environment variables that control the shell behavior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dump them: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61925" y="3970588"/>
            <a:ext cx="10798500" cy="68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env</a:t>
            </a:r>
            <a:endParaRPr sz="11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09525" y="4623950"/>
            <a:ext cx="72288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 value: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61925" y="5317950"/>
            <a:ext cx="10798500" cy="175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echo $VARIABLE_NAME</a:t>
            </a:r>
            <a:endParaRPr sz="3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echo ${VARIABLE_NAME}</a:t>
            </a:r>
            <a:endParaRPr sz="3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echo "$PATH"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Environment Variables (2)</a:t>
            </a:r>
            <a:endParaRPr/>
          </a:p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99050" y="1828800"/>
            <a:ext cx="108309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Useful Environment Variables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6" name="Google Shape;116;p14"/>
          <p:cNvGraphicFramePr/>
          <p:nvPr/>
        </p:nvGraphicFramePr>
        <p:xfrm>
          <a:off x="599038" y="2601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827600"/>
                <a:gridCol w="800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HOME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User's home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User's mailbox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5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PATH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earch path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 and Strings Quotes</a:t>
            </a:r>
            <a:endParaRPr/>
          </a:p>
        </p:txBody>
      </p:sp>
      <p:graphicFrame>
        <p:nvGraphicFramePr>
          <p:cNvPr id="123" name="Google Shape;123;p15"/>
          <p:cNvGraphicFramePr/>
          <p:nvPr/>
        </p:nvGraphicFramePr>
        <p:xfrm>
          <a:off x="599050" y="157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424450"/>
                <a:gridCol w="2964300"/>
                <a:gridCol w="64097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var=value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 value to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 var=value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vMerge="1"/>
              </a:tr>
              <a:tr h="1257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$var, ${var}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Get shell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57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`cmd`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Substitution stdout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57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'string'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Quote character without substitution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019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"string"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Quote character with substitution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 and Strings Quotes (2)</a:t>
            </a:r>
            <a:endParaRPr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511175"/>
                <a:gridCol w="4414050"/>
                <a:gridCol w="487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varname=`/bin/date`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$varname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'Now is $varname'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"Now is $varname"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set varname2=`/bin/date`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$varname2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'Now is varname2'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"Now is $varname2"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594275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Sun Jun  9 06:22:19 CST 2019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Now is $varname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Now is Sun Jun  9 06:22:19 CST 2019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Global Variables</a:t>
            </a:r>
            <a:endParaRPr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"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env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 command to display global variables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Assignment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599038" y="328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022750"/>
                <a:gridCol w="4076625"/>
                <a:gridCol w="469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Bourne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my=test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current_month=`date +%m`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 my=test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 current_month=`date +%m`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export my=test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export EDITOR=/usr/bin/ee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setenv my test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setenv EDITOR /usr/bin/ee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Special Characters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Reduce typing as much as possible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6" name="Google Shape;146;p18"/>
          <p:cNvGraphicFramePr/>
          <p:nvPr/>
        </p:nvGraphicFramePr>
        <p:xfrm>
          <a:off x="599038" y="2545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956125"/>
                <a:gridCol w="2287325"/>
                <a:gridCol w="7555050"/>
              </a:tblGrid>
              <a:tr h="381000"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any string of characters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any single alphanumeric character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[…]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any single character within []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[!...]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any single character not in []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Special Characters (2)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There are some files in current directory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test1, test2, test3, test4, test-5, testmess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" name="Google Shape;154;p19"/>
          <p:cNvGraphicFramePr/>
          <p:nvPr/>
        </p:nvGraphicFramePr>
        <p:xfrm>
          <a:off x="599038" y="319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721375"/>
                <a:gridCol w="4267700"/>
                <a:gridCol w="5841825"/>
              </a:tblGrid>
              <a:tr h="301475"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014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*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mess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14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?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14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test[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r>
                        <a:rPr lang="en-US" sz="2200">
                          <a:solidFill>
                            <a:srgbClr val="0000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  <a:r>
                        <a:rPr lang="en-US" sz="2200">
                          <a:solidFill>
                            <a:srgbClr val="38761D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]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3876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rgbClr val="3876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14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test[</a:t>
                      </a:r>
                      <a:r>
                        <a:rPr lang="en-US" sz="2200">
                          <a:solidFill>
                            <a:srgbClr val="0000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!345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]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*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test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mess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14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~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files under your home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Special Characters (3)</a:t>
            </a:r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599038" y="156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878425"/>
                <a:gridCol w="5850475"/>
                <a:gridCol w="4230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 a shell comment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# this is a comment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;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 separator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ls test*; ls test?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&amp;&amp;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xecutes the first command, and then executes the second if first command success (exit code=0)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cd foo/bar &amp;&amp; make install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||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xecutes the first command, and then executes the second if first command fail (exit code≠0)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cp x y || touch y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Special Characters (4)</a:t>
            </a:r>
            <a:endParaRPr/>
          </a:p>
        </p:txBody>
      </p:sp>
      <p:graphicFrame>
        <p:nvGraphicFramePr>
          <p:cNvPr id="168" name="Google Shape;168;p21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884200"/>
                <a:gridCol w="5517100"/>
                <a:gridCol w="4397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(1)Escape character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(2)Command continuation indicator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touch test\*; ls test\*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test*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ls \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&gt; test*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Background execution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make buildworld &amp;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sleep 5 &amp;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</a:t>
            </a:r>
            <a:r>
              <a:rPr lang="en-US"/>
              <a:t>Built-in </a:t>
            </a:r>
            <a:r>
              <a:rPr lang="en-US"/>
              <a:t>Commands</a:t>
            </a:r>
            <a:endParaRPr/>
          </a:p>
        </p:txBody>
      </p:sp>
      <p:graphicFrame>
        <p:nvGraphicFramePr>
          <p:cNvPr id="175" name="Google Shape;175;p22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374875"/>
                <a:gridCol w="2745325"/>
                <a:gridCol w="567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set/unset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Set/Unset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shell options and positional parameters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(empty)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/unset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set/unset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Set/Unset a local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export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setenv/unsetenv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Set/Unset a global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shell variables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(sh: local + global, csh: local)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env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global (environment) variables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i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login, logout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Logout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exit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shell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</a:t>
            </a:r>
            <a:r>
              <a:rPr lang="en-US"/>
              <a:t>Built-in Commands (2)</a:t>
            </a:r>
            <a:endParaRPr/>
          </a:p>
        </p:txBody>
      </p:sp>
      <p:graphicFrame>
        <p:nvGraphicFramePr>
          <p:cNvPr id="182" name="Google Shape;182;p23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380300"/>
                <a:gridCol w="2742250"/>
                <a:gridCol w="567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i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dirs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 directory stack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i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popd, pushd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Pop/push directory stack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 arguments on stdout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alias/unalias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 aliases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fg, bg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Bring a process to foreground/background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(e.g. sleep 5 &amp;)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jobs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active jobs (with job numbers)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%[job no.]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Bring a process to foreground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(e.g. %1)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Built-in Shell Commands (3)</a:t>
            </a:r>
            <a:endParaRPr/>
          </a:p>
        </p:txBody>
      </p:sp>
      <p:graphicFrame>
        <p:nvGraphicFramePr>
          <p:cNvPr id="189" name="Google Shape;189;p24"/>
          <p:cNvGraphicFramePr/>
          <p:nvPr/>
        </p:nvGraphicFramePr>
        <p:xfrm>
          <a:off x="599050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378175"/>
                <a:gridCol w="2740725"/>
                <a:gridCol w="5679600"/>
              </a:tblGrid>
              <a:tr h="64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962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kill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Send a signal to a job (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kill %job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or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kill pid)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i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stop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Suspend a background process (%job | pid)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44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exec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 arguments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962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nice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nice value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Built-in Shell Commands (4)</a:t>
            </a:r>
            <a:endParaRPr/>
          </a:p>
        </p:txBody>
      </p:sp>
      <p:graphicFrame>
        <p:nvGraphicFramePr>
          <p:cNvPr id="196" name="Google Shape;196;p25"/>
          <p:cNvGraphicFramePr/>
          <p:nvPr/>
        </p:nvGraphicFramePr>
        <p:xfrm>
          <a:off x="599050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378175"/>
                <a:gridCol w="2740725"/>
                <a:gridCol w="5679600"/>
              </a:tblGrid>
              <a:tr h="64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220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b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history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history list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220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b="1"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rehash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 the internal hash table of the contents of directories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4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220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(N/A)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source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 and execute a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p25"/>
          <p:cNvSpPr txBox="1"/>
          <p:nvPr/>
        </p:nvSpPr>
        <p:spPr>
          <a:xfrm>
            <a:off x="599913" y="4473000"/>
            <a:ext cx="10798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References: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https://it.cs.nycu.edu.tw/unix-basic-commands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http://www.unix.org.ua/orelly/unix/unixnut/ch04_06.htm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http://publib.boulder.ibm.com/infocenter/pseries/index.jsp?topic=/com.ibm.aix.doc/aixuser/usrosdev/list_c_builtin_cmds.htm 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https://www.freebsd.org/cgi/man.cgi?query=tcsh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i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https://www.freebsd.org/cgi/man.cgi?query=sh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3 default file descriptors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Input/Output Redirection</a:t>
            </a:r>
            <a:endParaRPr/>
          </a:p>
        </p:txBody>
      </p:sp>
      <p:graphicFrame>
        <p:nvGraphicFramePr>
          <p:cNvPr id="205" name="Google Shape;205;p26"/>
          <p:cNvGraphicFramePr/>
          <p:nvPr/>
        </p:nvGraphicFramePr>
        <p:xfrm>
          <a:off x="951625" y="274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055550"/>
                <a:gridCol w="803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Integer value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Name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stdin (Standard Input)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stdout (Standard Output)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stderr (Standard Error)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582850" y="5260200"/>
            <a:ext cx="10830900" cy="19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Using man command to read more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information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sh(1)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Redirection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tcsh(1)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Input/Output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Input/Output Redirection (2)</a:t>
            </a:r>
            <a:endParaRPr/>
          </a:p>
        </p:txBody>
      </p:sp>
      <p:graphicFrame>
        <p:nvGraphicFramePr>
          <p:cNvPr id="213" name="Google Shape;213;p27"/>
          <p:cNvGraphicFramePr/>
          <p:nvPr/>
        </p:nvGraphicFramePr>
        <p:xfrm>
          <a:off x="952475" y="2130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2241350"/>
                <a:gridCol w="7374550"/>
              </a:tblGrid>
              <a:tr h="49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599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 cmd &lt; file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the file as stdin of cmd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25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 cmd &gt; file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 stdout of cmd in the following file. Truncates existing files.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(tcsh: use "set noclobber" to avoid overwriting)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99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 cmd &gt;&gt; file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Append stdout of cmd to the following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99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 2&gt;&amp;1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Merge stdout with stderr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99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 cmd1 | cmd2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 stdout of cmd1 into stdin of cmd2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/>
              <a:t>File and Directory Related Commands</a:t>
            </a:r>
            <a:endParaRPr sz="4900"/>
          </a:p>
        </p:txBody>
      </p:sp>
      <p:graphicFrame>
        <p:nvGraphicFramePr>
          <p:cNvPr id="220" name="Google Shape;220;p28"/>
          <p:cNvGraphicFramePr/>
          <p:nvPr/>
        </p:nvGraphicFramePr>
        <p:xfrm>
          <a:off x="951625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11925"/>
                <a:gridCol w="83814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ls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a directory's content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pwd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 working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cd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to other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mkdir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Make(create) a new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rmdir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existing empty directory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Concatenate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cp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Copy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/>
              <a:t>File and Directory Related Commands (2)</a:t>
            </a:r>
            <a:endParaRPr sz="4900"/>
          </a:p>
        </p:txBody>
      </p:sp>
      <p:graphicFrame>
        <p:nvGraphicFramePr>
          <p:cNvPr id="227" name="Google Shape;227;p29"/>
          <p:cNvGraphicFramePr/>
          <p:nvPr/>
        </p:nvGraphicFramePr>
        <p:xfrm>
          <a:off x="951625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11925"/>
                <a:gridCol w="83814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ln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 files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mv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rm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file status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</a:t>
            </a:r>
            <a:endParaRPr sz="5000"/>
          </a:p>
        </p:txBody>
      </p:sp>
      <p:graphicFrame>
        <p:nvGraphicFramePr>
          <p:cNvPr id="234" name="Google Shape;234;p30"/>
          <p:cNvGraphicFramePr/>
          <p:nvPr/>
        </p:nvGraphicFramePr>
        <p:xfrm>
          <a:off x="952475" y="1792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11925"/>
                <a:gridCol w="83814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head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first lines of a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tail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trailing lines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grep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lines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diff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 and select difference in two files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wc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 characters, words or lines of a file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uniq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uniq lines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columns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(2)</a:t>
            </a:r>
            <a:endParaRPr sz="5000"/>
          </a:p>
        </p:txBody>
      </p:sp>
      <p:graphicFrame>
        <p:nvGraphicFramePr>
          <p:cNvPr id="241" name="Google Shape;241;p31"/>
          <p:cNvGraphicFramePr/>
          <p:nvPr/>
        </p:nvGraphicFramePr>
        <p:xfrm>
          <a:off x="952475" y="1792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11925"/>
                <a:gridCol w="83814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sort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Sort and merge multiple files together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sed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Edit streams of data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7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awk</a:t>
                      </a:r>
                      <a:endParaRPr sz="2200">
                        <a:solidFill>
                          <a:srgbClr val="FF0000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Pattern scanning and processing language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Look first few lines or last few lines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head /var/log/message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tail /var/log/message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-n : specific how many lines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occurrence of certain pattern in file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grep -l lctseng *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Print the filename that has "lctseng" as content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grep -n lctseng /etc/passwd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the line number when using grep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(3) </a:t>
            </a:r>
            <a:r>
              <a:rPr lang="en-US" sz="5000"/>
              <a:t>- </a:t>
            </a:r>
            <a:r>
              <a:rPr lang="en-US" sz="5000"/>
              <a:t>Example Usage</a:t>
            </a:r>
            <a:endParaRPr sz="5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List lctseng's id, uid, home, shell in /etc/passwd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grep lctseng /etc/passwd | cut -f1,3,6,7 -d: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-f1,3,6,7 : fetch 1st ,3rd ,6th ,7th column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-d : separation symbol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615250" y="4323875"/>
            <a:ext cx="10798500" cy="2061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lctseng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*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1001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20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Liang-Chi Tseng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/home/lctseng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9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/bin/tcsh</a:t>
            </a:r>
            <a:endParaRPr sz="29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900">
                <a:latin typeface="Ubuntu Mono"/>
                <a:ea typeface="Ubuntu Mono"/>
                <a:cs typeface="Ubuntu Mono"/>
                <a:sym typeface="Ubuntu Mono"/>
              </a:rPr>
            </a:b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$ grep lctseng /etc/passwd | cut -</a:t>
            </a:r>
            <a:r>
              <a:rPr lang="en-US" sz="29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f1,3,6,7</a:t>
            </a: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-US" sz="29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-d:</a:t>
            </a:r>
            <a:endParaRPr sz="29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Ubuntu Mono"/>
                <a:ea typeface="Ubuntu Mono"/>
                <a:cs typeface="Ubuntu Mono"/>
                <a:sym typeface="Ubuntu Mono"/>
              </a:rPr>
              <a:t>lctseng:1001:/home/lctseng:/bin/tcsh</a:t>
            </a:r>
            <a:endParaRPr sz="29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56" name="Google Shape;256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(4) - Example Usage</a:t>
            </a:r>
            <a:endParaRPr sz="5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599040" y="19050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Cut out file permission and file name from ls output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ls -l | grep -v ^total | cut -c 1-11,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47-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-c1-12：1st~12th characters (start from 1, instead of 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-c47-：characters after 47th character (include 47th 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631400" y="4179850"/>
            <a:ext cx="10798500" cy="3107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total 12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drwxr-xr-x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4 lctseng  staff  512  9 20 16:21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Unix-User-Config/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-rw-r--r--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1 lctseng  staff  274  9 19 16:09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sa.tmp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-rw-r--r--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1 lctseng  staff    0  9 19 16:38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history.txt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$ ls -l | grep -v ^total | cut </a:t>
            </a: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-c 1-11,47-</a:t>
            </a:r>
            <a:endParaRPr sz="24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drwxr-xr-x  Unix-User-Config/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-rw-r--r--  sa.tmp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-rw-r--r--  history.txt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64" name="Google Shape;264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(5) - Example Usage</a:t>
            </a:r>
            <a:endParaRPr sz="5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599050" y="1828800"/>
            <a:ext cx="10830900" cy="15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awk to generate the same behavior of cut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ls -l | grep -v ^total | awk '{print $1 " " $9}'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is same as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P.30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615250" y="3564400"/>
            <a:ext cx="10798500" cy="3416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total 12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drwxr-xr-x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4 lctseng  staff  512  9 20 16:21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Unix-User-Config/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-rw-r--r--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1 lctseng  staff  274  9 19 16:09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sa.tmp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-rw-r--r--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 1 lctseng  staff    0  9 19 16:38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history.txt</a:t>
            </a:r>
            <a:endParaRPr sz="240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$ ls -l | grep -v ^total | 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awk '{print </a:t>
            </a: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$1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 " " </a:t>
            </a:r>
            <a:r>
              <a:rPr lang="en-US" sz="24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$9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}'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drwxr-xr-x  Unix-User-Config/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-rw-r--r--  sa.tmp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-rw-r--r--  history.txt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2" name="Google Shape;272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(6) - Example Usage</a:t>
            </a:r>
            <a:endParaRPr sz="5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599050" y="1828800"/>
            <a:ext cx="10830900" cy="15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awk to generate the same behavior of cut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awk -F: '{print $1 " " $6}' /etc/passwd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-F ：separation symbol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631400" y="3566025"/>
            <a:ext cx="10798500" cy="1722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lctseng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*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1001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20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Liang-Chi Tseng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/home/lctseng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/bin/tcsh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 awk -F</a:t>
            </a: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: 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'{print </a:t>
            </a:r>
            <a:r>
              <a:rPr lang="en-US" sz="25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$1 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" " </a:t>
            </a:r>
            <a:r>
              <a:rPr lang="en-US" sz="250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$6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}' /etc/passwd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lctseng /home/lctseng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80" name="Google Shape;280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(7) - Example Usage</a:t>
            </a:r>
            <a:endParaRPr sz="5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599050" y="1828800"/>
            <a:ext cx="10830900" cy="31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ptions of  "sort" command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 : reverse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-u : unique keys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 : numeric keys sorting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string sorting, 14 &gt; 123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-k : specific columns to sort with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 : field separator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(8) - Example Usage</a:t>
            </a:r>
            <a:endParaRPr sz="5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8"/>
          <p:cNvSpPr txBox="1"/>
          <p:nvPr>
            <p:ph idx="1" type="body"/>
          </p:nvPr>
        </p:nvSpPr>
        <p:spPr>
          <a:xfrm>
            <a:off x="599050" y="1828800"/>
            <a:ext cx="10830900" cy="22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directory contents and sort by file size decreasingly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ls -al | sort -n -k 5,5 -r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-k : specific columns to sort with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 : reverse 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631400" y="4099425"/>
            <a:ext cx="10798500" cy="1749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-rw-------  1 lctseng  staff  3954  9 20 18:39 .viminfo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-rw-r--r--  1 lctseng  staff  1066  9 20 00:05 .cshrc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-rw-r--r--  1 lctseng  staff   978  9 20 00:05 .shrc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-rw-r--r--  1 lctseng  staff   817  9 20 00:05 .profile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95" name="Google Shape;295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(9) - Example Usage</a:t>
            </a:r>
            <a:endParaRPr sz="5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599050" y="1828800"/>
            <a:ext cx="10830900" cy="22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 of /etc/passwd by username and remove annotations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sort -t: -k 1,1 /etc/passwd | grep -v ^#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 : field separator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-k : specific columns to sort with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615250" y="4629550"/>
            <a:ext cx="10798500" cy="2146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games:*:7:13:Games pseudo-user:/usr/games:/usr/sbin/nologin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git_daemon:*:964:964:git daemon:/nonexistent:/usr/sbin/nologin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hast:*:845:845:HAST unprivileged user:/var/empty:/usr/sbin/nologin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kmem:*:5:65533:KMem Sandbox:/:/usr/sbin/nologin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lctseng:*:1001:20:Liang-Chi Tseng:/home/lctseng:/bin/tcsh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3" name="Google Shape;303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(10) - Example Usage</a:t>
            </a:r>
            <a:endParaRPr sz="5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599050" y="1828800"/>
            <a:ext cx="10830900" cy="15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records in /etc/hosts sorted by IPv4 address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</a:t>
            </a: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sort -t. -n -k 1,1 -k 2,2 -k 3,3 -k 4,4 '/etc/hosts' | grep -v ^#</a:t>
            </a:r>
            <a:endParaRPr sz="2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 : numeric keys sorting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sorting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631400" y="4023225"/>
            <a:ext cx="10798500" cy="3106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# In the presence of the domain name service or NIS, this file may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# not be consulted at all; see /etc/nsswitch.conf for the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# resolution order.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#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::1                     localhost localhost.my.domain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127.0.0.1               localhost localhost.my.domain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140.113.17.26           nctucs.tw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64.233.187.95           www.googleapis.com googleapis.l.google.com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11" name="Google Shape;311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(11) - Example Usage</a:t>
            </a:r>
            <a:endParaRPr sz="5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41"/>
          <p:cNvSpPr txBox="1"/>
          <p:nvPr/>
        </p:nvSpPr>
        <p:spPr>
          <a:xfrm>
            <a:off x="631400" y="4023225"/>
            <a:ext cx="10798500" cy="1689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::1                     localhost localhost.my.domain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64.233.187.95           www.googleapis.com googleapis.l.google.com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127.0.0.1               localhost localhost.my.domain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140.113.17.26           nctucs.tw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599050" y="1828800"/>
            <a:ext cx="10830900" cy="21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records in /etc/hosts sorted by IPv4 address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sort -t. -n -k 1,1 -k 2,2 -k 3,3 -k 4,4 '/etc/hosts' | grep -v ^#</a:t>
            </a:r>
            <a:endParaRPr sz="2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 : numeric keys sorting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sorting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(12) - Example Usage</a:t>
            </a:r>
            <a:endParaRPr sz="5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599050" y="1828800"/>
            <a:ext cx="10830900" cy="16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characters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echo "Hello World" | tr "a-z" "A-Z"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all alphabet to uppercase 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599900" y="3538600"/>
            <a:ext cx="10798500" cy="1076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$ echo "Hello World" | tr "a-z" "A-Z"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HELLO WORLD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583713" y="4867000"/>
            <a:ext cx="10830900" cy="16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tr -d "\t" &lt; file1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TAB in file1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tr -s " " " " &lt; file1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multiple space in file1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(13) - Example Usage</a:t>
            </a:r>
            <a:endParaRPr sz="5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599050" y="1828800"/>
            <a:ext cx="10830900" cy="16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characters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grep lctseng /etc/passwd | tr ":" "\n"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all ":" to "\n"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599900" y="3538600"/>
            <a:ext cx="10798500" cy="3602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$ </a:t>
            </a: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grep lctseng /etc/passwd | tr ":" "\n"</a:t>
            </a:r>
            <a:br>
              <a:rPr lang="en-US" sz="2800">
                <a:latin typeface="Ubuntu Mono"/>
                <a:ea typeface="Ubuntu Mono"/>
                <a:cs typeface="Ubuntu Mono"/>
                <a:sym typeface="Ubuntu Mono"/>
              </a:rPr>
            </a:b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lctseng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*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1001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20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Liang-Chi Tseng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/home/lctseng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/bin/tcsh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36" name="Google Shape;336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Select and File Processing Related Commands (14) - Example Usage</a:t>
            </a:r>
            <a:endParaRPr sz="5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44"/>
          <p:cNvSpPr txBox="1"/>
          <p:nvPr>
            <p:ph idx="1" type="body"/>
          </p:nvPr>
        </p:nvSpPr>
        <p:spPr>
          <a:xfrm>
            <a:off x="599050" y="1828800"/>
            <a:ext cx="10830900" cy="31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xargs – construct argument list(s) and execute utility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 number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 replstr (every)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-J replstr (first 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 size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4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xargs Command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4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xargs Command (2)</a:t>
            </a:r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599900" y="1800625"/>
            <a:ext cx="10798500" cy="5340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% ls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2.sh       3.csh      4.csh      4.sh       bsd1.ping   testin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% ls | xargs echo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2.sh 3.csh 4.csh 4.sh bsd1.ping testin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% ls | xargs -n1 echo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2.sh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3.csh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4.csh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bsd1.ping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testin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4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xargs Command (3)</a:t>
            </a:r>
            <a:endParaRPr/>
          </a:p>
        </p:txBody>
      </p:sp>
      <p:sp>
        <p:nvSpPr>
          <p:cNvPr id="357" name="Google Shape;357;p46"/>
          <p:cNvSpPr txBox="1"/>
          <p:nvPr/>
        </p:nvSpPr>
        <p:spPr>
          <a:xfrm>
            <a:off x="599900" y="1800625"/>
            <a:ext cx="10798500" cy="3273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% ls | xargs -I % -n1 echo %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2.sh here 2.sh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3.csh here 3.csh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4.csh here 4.csh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4.sh here 4.sh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bsd1.ping here bsd1.ping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testin here testin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4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xargs Command (4)</a:t>
            </a:r>
            <a:endParaRPr/>
          </a:p>
        </p:txBody>
      </p:sp>
      <p:sp>
        <p:nvSpPr>
          <p:cNvPr id="364" name="Google Shape;364;p47"/>
          <p:cNvSpPr txBox="1"/>
          <p:nvPr/>
        </p:nvSpPr>
        <p:spPr>
          <a:xfrm>
            <a:off x="599900" y="1800625"/>
            <a:ext cx="10798500" cy="3273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% ls | xargs -J % -n1 echo %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2.sh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3.csh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4.csh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4.sh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bsd1.ping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Ubuntu Mono"/>
                <a:ea typeface="Ubuntu Mono"/>
                <a:cs typeface="Ubuntu Mono"/>
                <a:sym typeface="Ubuntu Mono"/>
              </a:rPr>
              <a:t>testin here %</a:t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48"/>
          <p:cNvSpPr txBox="1"/>
          <p:nvPr>
            <p:ph idx="1" type="body"/>
          </p:nvPr>
        </p:nvSpPr>
        <p:spPr>
          <a:xfrm>
            <a:off x="599050" y="1828800"/>
            <a:ext cx="10830900" cy="5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ping all hosts in file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xargs Command (5)</a:t>
            </a:r>
            <a:endParaRPr/>
          </a:p>
        </p:txBody>
      </p:sp>
      <p:sp>
        <p:nvSpPr>
          <p:cNvPr id="372" name="Google Shape;372;p48"/>
          <p:cNvSpPr txBox="1"/>
          <p:nvPr/>
        </p:nvSpPr>
        <p:spPr>
          <a:xfrm>
            <a:off x="599900" y="2412600"/>
            <a:ext cx="10798500" cy="4583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cat host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www.google.com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bsd1.cs.nctu.edu.tw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linux3.cs.nctu.edu.tw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cs.nctu.edu.tw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cat host | xargs -n1 ping -c 1 | grep "bytes from"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64 bytes from 64.233.188.103: icmp_seq=0 ttl=47 time=6.944 ms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64 bytes from 140.113.235.135: icmp_seq=0 ttl=57 time=1.451 ms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64 bytes from 140.113.235.153: icmp_seq=0 ttl=57 time=1.612 ms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64 bytes from 140.113.235.47: icmp_seq=0 ttl=57 time=1.856 ms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49"/>
          <p:cNvSpPr txBox="1"/>
          <p:nvPr>
            <p:ph idx="1" type="body"/>
          </p:nvPr>
        </p:nvSpPr>
        <p:spPr>
          <a:xfrm>
            <a:off x="599050" y="1828800"/>
            <a:ext cx="10830900" cy="37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●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https://en.wikipedia.org/wiki/Unix_philosophy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Lots of little tools, each good at one thing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them together to achieve your goal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other shells (install from package/ports)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zsh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Oh-my-zsh: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https://github.com/robbyrussell/oh-my-zsh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/>
              <a:t>Unix Philosophy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5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ShellCheck</a:t>
            </a:r>
            <a:endParaRPr/>
          </a:p>
        </p:txBody>
      </p:sp>
      <p:sp>
        <p:nvSpPr>
          <p:cNvPr id="386" name="Google Shape;386;p50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inds bugs in your shell scripts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https://www.shellcheck.net/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devel/hs-ShellCheck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pkg install hs-ShellCheck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92" name="Google Shape;392;p5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51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Command History in (t)csh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5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Command History in (t)csh</a:t>
            </a:r>
            <a:endParaRPr/>
          </a:p>
        </p:txBody>
      </p:sp>
      <p:graphicFrame>
        <p:nvGraphicFramePr>
          <p:cNvPr id="400" name="Google Shape;400;p52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83100"/>
                <a:gridCol w="901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 previous command line n (see history)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!-n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 current command line minus 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!!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 last command (the same as !-1)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!str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 previous command line beginning with str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!?str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 previous command line containing str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1" name="Google Shape;401;p52"/>
          <p:cNvSpPr txBox="1"/>
          <p:nvPr/>
        </p:nvSpPr>
        <p:spPr>
          <a:xfrm>
            <a:off x="599925" y="4894750"/>
            <a:ext cx="10798500" cy="2309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% history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10  8:31	cp ypwhich.1 ypwhich.1.old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11  8:31	vi ypwhich.1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12  8:32	diff ypwhich.1.old ypwhich.1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13  8:32	history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% !?ol</a:t>
            </a: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d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5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Command History in (t)csh (2)</a:t>
            </a:r>
            <a:endParaRPr/>
          </a:p>
        </p:txBody>
      </p:sp>
      <p:graphicFrame>
        <p:nvGraphicFramePr>
          <p:cNvPr id="408" name="Google Shape;408;p53"/>
          <p:cNvGraphicFramePr/>
          <p:nvPr/>
        </p:nvGraphicFramePr>
        <p:xfrm>
          <a:off x="599038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{060ABD37-0B51-4981-9FDC-5E86E34CDE57}</a:tableStyleId>
              </a:tblPr>
              <a:tblGrid>
                <a:gridCol w="1783100"/>
                <a:gridCol w="901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!!:n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the nth word of previous comm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!!:m-n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words m ~ n of previous 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!!:*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all arguments of previous 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!!:s/str1/str2/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substitute str1 with str2 in previous 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53"/>
          <p:cNvSpPr txBox="1"/>
          <p:nvPr/>
        </p:nvSpPr>
        <p:spPr>
          <a:xfrm>
            <a:off x="599925" y="4388925"/>
            <a:ext cx="10798500" cy="1952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% history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15  8:35	cd /etc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16  8:35	ls HOSTS FSTAB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17  8:35	history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% cat !-2:*:s/HOSTS/hosts/:s/FSTAB/fstab </a:t>
            </a:r>
            <a:r>
              <a:rPr lang="en-US" sz="24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→ cat hosts fstab</a:t>
            </a:r>
            <a:endParaRPr sz="24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599925" y="6410313"/>
            <a:ext cx="1079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tcsh(1)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 Substitution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