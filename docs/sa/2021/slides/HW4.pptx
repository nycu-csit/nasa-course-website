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4" r:id="rId4"/>
    <p:sldMasterId id="2147483665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y="5143500" cx="9144000"/>
  <p:notesSz cx="6858000" cy="9144000"/>
  <p:embeddedFontLst>
    <p:embeddedFont>
      <p:font typeface="Source Sans Pro Light"/>
      <p:regular r:id="rId35"/>
      <p:bold r:id="rId36"/>
      <p:italic r:id="rId37"/>
      <p:boldItalic r:id="rId38"/>
    </p:embeddedFont>
    <p:embeddedFont>
      <p:font typeface="Ubuntu Mono"/>
      <p:regular r:id="rId39"/>
      <p:bold r:id="rId40"/>
      <p:italic r:id="rId41"/>
      <p:boldItalic r:id="rId42"/>
    </p:embeddedFont>
    <p:embeddedFont>
      <p:font typeface="Source Sans Pro"/>
      <p:regular r:id="rId43"/>
      <p:bold r:id="rId44"/>
      <p:italic r:id="rId45"/>
      <p:boldItalic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UbuntuMono-bold.fntdata"/><Relationship Id="rId20" Type="http://schemas.openxmlformats.org/officeDocument/2006/relationships/slide" Target="slides/slide14.xml"/><Relationship Id="rId42" Type="http://schemas.openxmlformats.org/officeDocument/2006/relationships/font" Target="fonts/UbuntuMono-boldItalic.fntdata"/><Relationship Id="rId41" Type="http://schemas.openxmlformats.org/officeDocument/2006/relationships/font" Target="fonts/UbuntuMono-italic.fntdata"/><Relationship Id="rId22" Type="http://schemas.openxmlformats.org/officeDocument/2006/relationships/slide" Target="slides/slide16.xml"/><Relationship Id="rId44" Type="http://schemas.openxmlformats.org/officeDocument/2006/relationships/font" Target="fonts/SourceSansPro-bold.fntdata"/><Relationship Id="rId21" Type="http://schemas.openxmlformats.org/officeDocument/2006/relationships/slide" Target="slides/slide15.xml"/><Relationship Id="rId43" Type="http://schemas.openxmlformats.org/officeDocument/2006/relationships/font" Target="fonts/SourceSansPro-regular.fntdata"/><Relationship Id="rId24" Type="http://schemas.openxmlformats.org/officeDocument/2006/relationships/slide" Target="slides/slide18.xml"/><Relationship Id="rId46" Type="http://schemas.openxmlformats.org/officeDocument/2006/relationships/font" Target="fonts/SourceSansPro-boldItalic.fntdata"/><Relationship Id="rId23" Type="http://schemas.openxmlformats.org/officeDocument/2006/relationships/slide" Target="slides/slide17.xml"/><Relationship Id="rId45" Type="http://schemas.openxmlformats.org/officeDocument/2006/relationships/font" Target="fonts/SourceSansPro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font" Target="fonts/SourceSansProLight-regular.fntdata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font" Target="fonts/SourceSansProLight-italic.fntdata"/><Relationship Id="rId14" Type="http://schemas.openxmlformats.org/officeDocument/2006/relationships/slide" Target="slides/slide8.xml"/><Relationship Id="rId36" Type="http://schemas.openxmlformats.org/officeDocument/2006/relationships/font" Target="fonts/SourceSansProLight-bold.fntdata"/><Relationship Id="rId17" Type="http://schemas.openxmlformats.org/officeDocument/2006/relationships/slide" Target="slides/slide11.xml"/><Relationship Id="rId39" Type="http://schemas.openxmlformats.org/officeDocument/2006/relationships/font" Target="fonts/UbuntuMono-regular.fntdata"/><Relationship Id="rId16" Type="http://schemas.openxmlformats.org/officeDocument/2006/relationships/slide" Target="slides/slide10.xml"/><Relationship Id="rId38" Type="http://schemas.openxmlformats.org/officeDocument/2006/relationships/font" Target="fonts/SourceSansProLight-bold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a6304431e5_0_127:notes"/>
          <p:cNvSpPr txBox="1"/>
          <p:nvPr>
            <p:ph idx="1" type="body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ga6304431e5_0_127:notes"/>
          <p:cNvSpPr/>
          <p:nvPr>
            <p:ph idx="2" type="sldImg"/>
          </p:nvPr>
        </p:nvSpPr>
        <p:spPr>
          <a:xfrm>
            <a:off x="868629" y="685791"/>
            <a:ext cx="5121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ac6e97cc3c_0_8:notes"/>
          <p:cNvSpPr/>
          <p:nvPr>
            <p:ph idx="2" type="sldImg"/>
          </p:nvPr>
        </p:nvSpPr>
        <p:spPr>
          <a:xfrm>
            <a:off x="868629" y="685791"/>
            <a:ext cx="5121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ac6e97cc3c_0_8:notes"/>
          <p:cNvSpPr txBox="1"/>
          <p:nvPr>
            <p:ph idx="1" type="body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a6304431e5_0_135:notes"/>
          <p:cNvSpPr txBox="1"/>
          <p:nvPr>
            <p:ph idx="1" type="body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ga6304431e5_0_135:notes"/>
          <p:cNvSpPr/>
          <p:nvPr>
            <p:ph idx="2" type="sldImg"/>
          </p:nvPr>
        </p:nvSpPr>
        <p:spPr>
          <a:xfrm>
            <a:off x="868629" y="685791"/>
            <a:ext cx="5121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1035bf7942d_0_7:notes"/>
          <p:cNvSpPr/>
          <p:nvPr>
            <p:ph idx="2" type="sldImg"/>
          </p:nvPr>
        </p:nvSpPr>
        <p:spPr>
          <a:xfrm>
            <a:off x="868629" y="685791"/>
            <a:ext cx="5121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1035bf7942d_0_7:notes"/>
          <p:cNvSpPr txBox="1"/>
          <p:nvPr>
            <p:ph idx="1" type="body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1035bf7942d_0_15:notes"/>
          <p:cNvSpPr/>
          <p:nvPr>
            <p:ph idx="2" type="sldImg"/>
          </p:nvPr>
        </p:nvSpPr>
        <p:spPr>
          <a:xfrm>
            <a:off x="868629" y="685791"/>
            <a:ext cx="5121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1035bf7942d_0_15:notes"/>
          <p:cNvSpPr txBox="1"/>
          <p:nvPr>
            <p:ph idx="1" type="body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1035bf7942d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1035bf7942d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a6304431e5_0_311:notes"/>
          <p:cNvSpPr/>
          <p:nvPr>
            <p:ph idx="2" type="sldImg"/>
          </p:nvPr>
        </p:nvSpPr>
        <p:spPr>
          <a:xfrm>
            <a:off x="868629" y="685791"/>
            <a:ext cx="5121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a6304431e5_0_311:notes"/>
          <p:cNvSpPr txBox="1"/>
          <p:nvPr>
            <p:ph idx="1" type="body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1035bf7942d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1035bf7942d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ad61485be7_1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ad61485be7_1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a2e65f789a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a2e65f789a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785676183b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785676183b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1035bf7942d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1035bf7942d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1035bf7942d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1035bf7942d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1035bf7942d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1035bf7942d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1035bf7942d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1035bf7942d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1035bf7942d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1035bf7942d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10437d63a0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10437d63a0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10437d63a00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10437d63a00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10437d63a00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10437d63a00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10437d63a00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10437d63a00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ad61485be7_1_1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ad61485be7_1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102b587e0b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102b587e0b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ad61485be7_1_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ad61485be7_1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aed2e4f1d3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aed2e4f1d3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ad61485be7_1_1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ad61485be7_1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102b587e0b9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102b587e0b9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ad61485be7_1_2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ad61485be7_1_2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a6304431e5_0_287:notes"/>
          <p:cNvSpPr txBox="1"/>
          <p:nvPr>
            <p:ph idx="1" type="body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ga6304431e5_0_287:notes"/>
          <p:cNvSpPr/>
          <p:nvPr>
            <p:ph idx="2" type="sldImg"/>
          </p:nvPr>
        </p:nvSpPr>
        <p:spPr>
          <a:xfrm>
            <a:off x="868629" y="685791"/>
            <a:ext cx="5121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大標題" type="tx">
  <p:cSld name="TITLE_AND_BOD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 txBox="1"/>
          <p:nvPr>
            <p:ph type="title"/>
          </p:nvPr>
        </p:nvSpPr>
        <p:spPr>
          <a:xfrm>
            <a:off x="457170" y="2320097"/>
            <a:ext cx="82296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4617B"/>
              </a:buClr>
              <a:buSzPts val="4400"/>
              <a:buFont typeface="Source Sans Pro"/>
              <a:buNone/>
              <a:defRPr sz="4400">
                <a:solidFill>
                  <a:srgbClr val="04617B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55" name="Google Shape;55;p1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67175" lIns="67175" spcFirstLastPara="1" rIns="67175" wrap="square" tIns="67175">
            <a:noAutofit/>
          </a:bodyPr>
          <a:lstStyle>
            <a:lvl1pPr lvl="0" rtl="0" algn="ctr">
              <a:buNone/>
              <a:defRPr sz="12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ctr">
              <a:buNone/>
              <a:defRPr sz="12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ctr">
              <a:buNone/>
              <a:defRPr sz="12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ctr">
              <a:buNone/>
              <a:defRPr sz="12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ctr">
              <a:buNone/>
              <a:defRPr sz="12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ctr">
              <a:buNone/>
              <a:defRPr sz="12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ctr">
              <a:buNone/>
              <a:defRPr sz="12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ctr">
              <a:buNone/>
              <a:defRPr sz="12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ctr">
              <a:buNone/>
              <a:defRPr sz="12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56" name="Google Shape;56;p14"/>
          <p:cNvSpPr txBox="1"/>
          <p:nvPr/>
        </p:nvSpPr>
        <p:spPr>
          <a:xfrm>
            <a:off x="4017882" y="4344743"/>
            <a:ext cx="46689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67175" lIns="67175" spcFirstLastPara="1" rIns="67175" wrap="square" tIns="67175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200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交大資工系資訊中心</a:t>
            </a:r>
            <a:endParaRPr sz="2200">
              <a:solidFill>
                <a:schemeClr val="lt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TW" sz="800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Computer Center of Department of Computer Science, NYCU</a:t>
            </a:r>
            <a:endParaRPr sz="800">
              <a:solidFill>
                <a:schemeClr val="lt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 sz="3300">
              <a:solidFill>
                <a:schemeClr val="lt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  <p:sp>
        <p:nvSpPr>
          <p:cNvPr id="57" name="Google Shape;57;p14"/>
          <p:cNvSpPr txBox="1"/>
          <p:nvPr>
            <p:ph idx="1" type="subTitle"/>
          </p:nvPr>
        </p:nvSpPr>
        <p:spPr>
          <a:xfrm>
            <a:off x="457169" y="3632736"/>
            <a:ext cx="7824900" cy="939900"/>
          </a:xfrm>
          <a:prstGeom prst="rect">
            <a:avLst/>
          </a:prstGeom>
        </p:spPr>
        <p:txBody>
          <a:bodyPr anchorCtr="0" anchor="t" bIns="67175" lIns="67175" spcFirstLastPara="1" rIns="67175" wrap="square" tIns="671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DBF5F9"/>
              </a:buClr>
              <a:buSzPts val="2600"/>
              <a:buFont typeface="Source Sans Pro"/>
              <a:buNone/>
              <a:defRPr sz="2600">
                <a:solidFill>
                  <a:srgbClr val="DBF5F9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版面一" type="obj">
  <p:cSld name="OBJEC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456532" y="205014"/>
            <a:ext cx="82296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Font typeface="Source Sans Pro"/>
              <a:buNone/>
              <a:defRPr sz="37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4400"/>
              <a:buFont typeface="Source Sans Pro"/>
              <a:buNone/>
              <a:defRPr sz="44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4400"/>
              <a:buFont typeface="Source Sans Pro"/>
              <a:buNone/>
              <a:defRPr sz="44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4400"/>
              <a:buFont typeface="Source Sans Pro"/>
              <a:buNone/>
              <a:defRPr sz="44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4400"/>
              <a:buFont typeface="Source Sans Pro"/>
              <a:buNone/>
              <a:defRPr sz="44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4400"/>
              <a:buFont typeface="Source Sans Pro"/>
              <a:buNone/>
              <a:defRPr sz="44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4400"/>
              <a:buFont typeface="Source Sans Pro"/>
              <a:buNone/>
              <a:defRPr sz="44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4400"/>
              <a:buFont typeface="Source Sans Pro"/>
              <a:buNone/>
              <a:defRPr sz="44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4400"/>
              <a:buFont typeface="Source Sans Pro"/>
              <a:buNone/>
              <a:defRPr sz="44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456540" y="1063733"/>
            <a:ext cx="8254200" cy="38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None/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Times New Roman"/>
              <a:buNone/>
              <a:defRPr sz="21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None/>
              <a:defRPr sz="19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None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None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None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2286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None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2286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None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2286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None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61" name="Google Shape;61;p1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67175" lIns="67175" spcFirstLastPara="1" rIns="67175" wrap="square" tIns="67175">
            <a:noAutofit/>
          </a:bodyPr>
          <a:lstStyle>
            <a:lvl1pPr lvl="0" rtl="0" algn="ctr">
              <a:buNone/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ctr">
              <a:buNone/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ctr">
              <a:buNone/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ctr">
              <a:buNone/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ctr">
              <a:buNone/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ctr">
              <a:buNone/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ctr">
              <a:buNone/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ctr">
              <a:buNone/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ctr">
              <a:buNone/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版面一 (程式碼)">
  <p:cSld name="OBJECT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 txBox="1"/>
          <p:nvPr>
            <p:ph type="title"/>
          </p:nvPr>
        </p:nvSpPr>
        <p:spPr>
          <a:xfrm>
            <a:off x="456532" y="205014"/>
            <a:ext cx="82296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Font typeface="Source Sans Pro"/>
              <a:buNone/>
              <a:defRPr sz="37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4400"/>
              <a:buFont typeface="Source Sans Pro"/>
              <a:buNone/>
              <a:defRPr sz="44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4400"/>
              <a:buFont typeface="Source Sans Pro"/>
              <a:buNone/>
              <a:defRPr sz="44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4400"/>
              <a:buFont typeface="Source Sans Pro"/>
              <a:buNone/>
              <a:defRPr sz="44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4400"/>
              <a:buFont typeface="Source Sans Pro"/>
              <a:buNone/>
              <a:defRPr sz="44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4400"/>
              <a:buFont typeface="Source Sans Pro"/>
              <a:buNone/>
              <a:defRPr sz="44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4400"/>
              <a:buFont typeface="Source Sans Pro"/>
              <a:buNone/>
              <a:defRPr sz="44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4400"/>
              <a:buFont typeface="Source Sans Pro"/>
              <a:buNone/>
              <a:defRPr sz="44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4400"/>
              <a:buFont typeface="Source Sans Pro"/>
              <a:buNone/>
              <a:defRPr sz="44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456540" y="1063733"/>
            <a:ext cx="8254200" cy="38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None/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Times New Roman"/>
              <a:buNone/>
              <a:defRPr sz="21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None/>
              <a:defRPr sz="19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None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None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None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2286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None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2286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None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2286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None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65" name="Google Shape;65;p1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67175" lIns="67175" spcFirstLastPara="1" rIns="67175" wrap="square" tIns="67175">
            <a:noAutofit/>
          </a:bodyPr>
          <a:lstStyle>
            <a:lvl1pPr lvl="0" rtl="0" algn="ctr">
              <a:buNone/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ctr">
              <a:buNone/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ctr">
              <a:buNone/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ctr">
              <a:buNone/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ctr">
              <a:buNone/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ctr">
              <a:buNone/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ctr">
              <a:buNone/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ctr">
              <a:buNone/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ctr">
              <a:buNone/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66" name="Google Shape;66;p16"/>
          <p:cNvSpPr txBox="1"/>
          <p:nvPr>
            <p:ph idx="2" type="body"/>
          </p:nvPr>
        </p:nvSpPr>
        <p:spPr>
          <a:xfrm>
            <a:off x="468886" y="2825968"/>
            <a:ext cx="8229600" cy="1177200"/>
          </a:xfrm>
          <a:prstGeom prst="rect">
            <a:avLst/>
          </a:prstGeom>
          <a:solidFill>
            <a:srgbClr val="EFEFE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7175" lIns="67175" spcFirstLastPara="1" rIns="67175" wrap="square" tIns="67175">
            <a:noAutofit/>
          </a:bodyPr>
          <a:lstStyle>
            <a:lvl1pPr indent="-330200" lvl="0" marL="457200" rtl="0">
              <a:spcBef>
                <a:spcPts val="0"/>
              </a:spcBef>
              <a:spcAft>
                <a:spcPts val="0"/>
              </a:spcAft>
              <a:buSzPts val="1600"/>
              <a:buFont typeface="Ubuntu Mono"/>
              <a:buChar char="●"/>
              <a:defRPr sz="1600">
                <a:latin typeface="Ubuntu Mono"/>
                <a:ea typeface="Ubuntu Mono"/>
                <a:cs typeface="Ubuntu Mono"/>
                <a:sym typeface="Ubuntu Mono"/>
              </a:defRPr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SzPts val="1600"/>
              <a:buFont typeface="Ubuntu Mono"/>
              <a:buChar char="○"/>
              <a:defRPr sz="1600">
                <a:latin typeface="Ubuntu Mono"/>
                <a:ea typeface="Ubuntu Mono"/>
                <a:cs typeface="Ubuntu Mono"/>
                <a:sym typeface="Ubuntu Mono"/>
              </a:defRPr>
            </a:lvl2pPr>
            <a:lvl3pPr indent="-330200" lvl="2" marL="1371600" rtl="0">
              <a:spcBef>
                <a:spcPts val="0"/>
              </a:spcBef>
              <a:spcAft>
                <a:spcPts val="0"/>
              </a:spcAft>
              <a:buSzPts val="1600"/>
              <a:buFont typeface="Ubuntu Mono"/>
              <a:buChar char="■"/>
              <a:defRPr sz="1600">
                <a:latin typeface="Ubuntu Mono"/>
                <a:ea typeface="Ubuntu Mono"/>
                <a:cs typeface="Ubuntu Mono"/>
                <a:sym typeface="Ubuntu Mono"/>
              </a:defRPr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SzPts val="1600"/>
              <a:buFont typeface="Ubuntu Mono"/>
              <a:buChar char="●"/>
              <a:defRPr sz="1600">
                <a:latin typeface="Ubuntu Mono"/>
                <a:ea typeface="Ubuntu Mono"/>
                <a:cs typeface="Ubuntu Mono"/>
                <a:sym typeface="Ubuntu Mono"/>
              </a:defRPr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SzPts val="1600"/>
              <a:buFont typeface="Ubuntu Mono"/>
              <a:buChar char="○"/>
              <a:defRPr sz="1600">
                <a:latin typeface="Ubuntu Mono"/>
                <a:ea typeface="Ubuntu Mono"/>
                <a:cs typeface="Ubuntu Mono"/>
                <a:sym typeface="Ubuntu Mono"/>
              </a:defRPr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SzPts val="1600"/>
              <a:buFont typeface="Ubuntu Mono"/>
              <a:buChar char="■"/>
              <a:defRPr sz="1600">
                <a:latin typeface="Ubuntu Mono"/>
                <a:ea typeface="Ubuntu Mono"/>
                <a:cs typeface="Ubuntu Mono"/>
                <a:sym typeface="Ubuntu Mono"/>
              </a:defRPr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SzPts val="1600"/>
              <a:buFont typeface="Ubuntu Mono"/>
              <a:buChar char="●"/>
              <a:defRPr sz="1600">
                <a:latin typeface="Ubuntu Mono"/>
                <a:ea typeface="Ubuntu Mono"/>
                <a:cs typeface="Ubuntu Mono"/>
                <a:sym typeface="Ubuntu Mono"/>
              </a:defRPr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SzPts val="1600"/>
              <a:buFont typeface="Ubuntu Mono"/>
              <a:buChar char="○"/>
              <a:defRPr sz="1600">
                <a:latin typeface="Ubuntu Mono"/>
                <a:ea typeface="Ubuntu Mono"/>
                <a:cs typeface="Ubuntu Mono"/>
                <a:sym typeface="Ubuntu Mono"/>
              </a:defRPr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SzPts val="1600"/>
              <a:buFont typeface="Ubuntu Mono"/>
              <a:buChar char="■"/>
              <a:defRPr sz="1600">
                <a:latin typeface="Ubuntu Mono"/>
                <a:ea typeface="Ubuntu Mono"/>
                <a:cs typeface="Ubuntu Mono"/>
                <a:sym typeface="Ubuntu Mon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版面二">
  <p:cSld name="CUSTOM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67175" lIns="67175" spcFirstLastPara="1" rIns="67175" wrap="square" tIns="67175">
            <a:noAutofit/>
          </a:bodyPr>
          <a:lstStyle>
            <a:lvl1pPr lvl="0" rtl="0" algn="ctr">
              <a:buNone/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ctr">
              <a:buNone/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ctr">
              <a:buNone/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ctr">
              <a:buNone/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ctr">
              <a:buNone/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ctr">
              <a:buNone/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ctr">
              <a:buNone/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ctr">
              <a:buNone/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ctr">
              <a:buNone/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69" name="Google Shape;69;p17"/>
          <p:cNvSpPr txBox="1"/>
          <p:nvPr>
            <p:ph type="title"/>
          </p:nvPr>
        </p:nvSpPr>
        <p:spPr>
          <a:xfrm>
            <a:off x="456532" y="205014"/>
            <a:ext cx="82296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700"/>
              <a:buFont typeface="Source Sans Pro"/>
              <a:buNone/>
              <a:defRPr sz="370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4400"/>
              <a:buFont typeface="Source Sans Pro"/>
              <a:buNone/>
              <a:defRPr sz="44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4400"/>
              <a:buFont typeface="Source Sans Pro"/>
              <a:buNone/>
              <a:defRPr sz="44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4400"/>
              <a:buFont typeface="Source Sans Pro"/>
              <a:buNone/>
              <a:defRPr sz="44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4400"/>
              <a:buFont typeface="Source Sans Pro"/>
              <a:buNone/>
              <a:defRPr sz="44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4400"/>
              <a:buFont typeface="Source Sans Pro"/>
              <a:buNone/>
              <a:defRPr sz="44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4400"/>
              <a:buFont typeface="Source Sans Pro"/>
              <a:buNone/>
              <a:defRPr sz="44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4400"/>
              <a:buFont typeface="Source Sans Pro"/>
              <a:buNone/>
              <a:defRPr sz="44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4400"/>
              <a:buFont typeface="Source Sans Pro"/>
              <a:buNone/>
              <a:defRPr sz="44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70" name="Google Shape;70;p17"/>
          <p:cNvSpPr txBox="1"/>
          <p:nvPr>
            <p:ph idx="1" type="body"/>
          </p:nvPr>
        </p:nvSpPr>
        <p:spPr>
          <a:xfrm>
            <a:off x="456540" y="1063733"/>
            <a:ext cx="8254200" cy="38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None/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Times New Roman"/>
              <a:buNone/>
              <a:defRPr sz="21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None/>
              <a:defRPr sz="19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None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None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None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2286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None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2286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None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2286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None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版面二 (程式碼)">
  <p:cSld name="CUSTOM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67175" lIns="67175" spcFirstLastPara="1" rIns="67175" wrap="square" tIns="67175">
            <a:noAutofit/>
          </a:bodyPr>
          <a:lstStyle>
            <a:lvl1pPr lvl="0" rtl="0" algn="ctr">
              <a:buNone/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ctr">
              <a:buNone/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ctr">
              <a:buNone/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ctr">
              <a:buNone/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ctr">
              <a:buNone/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ctr">
              <a:buNone/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ctr">
              <a:buNone/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ctr">
              <a:buNone/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ctr">
              <a:buNone/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456532" y="205014"/>
            <a:ext cx="82296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700"/>
              <a:buFont typeface="Source Sans Pro"/>
              <a:buNone/>
              <a:defRPr sz="370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4400"/>
              <a:buFont typeface="Source Sans Pro"/>
              <a:buNone/>
              <a:defRPr sz="44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4400"/>
              <a:buFont typeface="Source Sans Pro"/>
              <a:buNone/>
              <a:defRPr sz="44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4400"/>
              <a:buFont typeface="Source Sans Pro"/>
              <a:buNone/>
              <a:defRPr sz="44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4400"/>
              <a:buFont typeface="Source Sans Pro"/>
              <a:buNone/>
              <a:defRPr sz="44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4400"/>
              <a:buFont typeface="Source Sans Pro"/>
              <a:buNone/>
              <a:defRPr sz="44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4400"/>
              <a:buFont typeface="Source Sans Pro"/>
              <a:buNone/>
              <a:defRPr sz="44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4400"/>
              <a:buFont typeface="Source Sans Pro"/>
              <a:buNone/>
              <a:defRPr sz="44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4400"/>
              <a:buFont typeface="Source Sans Pro"/>
              <a:buNone/>
              <a:defRPr sz="44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456540" y="1063733"/>
            <a:ext cx="8254200" cy="38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None/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Times New Roman"/>
              <a:buNone/>
              <a:defRPr sz="21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None/>
              <a:defRPr sz="19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None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None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None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2286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None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2286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None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2286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None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75" name="Google Shape;75;p18"/>
          <p:cNvSpPr txBox="1"/>
          <p:nvPr>
            <p:ph idx="2" type="body"/>
          </p:nvPr>
        </p:nvSpPr>
        <p:spPr>
          <a:xfrm>
            <a:off x="468886" y="2825968"/>
            <a:ext cx="8229600" cy="1177200"/>
          </a:xfrm>
          <a:prstGeom prst="rect">
            <a:avLst/>
          </a:prstGeom>
          <a:solidFill>
            <a:srgbClr val="EFEFE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7175" lIns="67175" spcFirstLastPara="1" rIns="67175" wrap="square" tIns="67175">
            <a:noAutofit/>
          </a:bodyPr>
          <a:lstStyle>
            <a:lvl1pPr indent="-330200" lvl="0" marL="457200" rtl="0">
              <a:spcBef>
                <a:spcPts val="0"/>
              </a:spcBef>
              <a:spcAft>
                <a:spcPts val="0"/>
              </a:spcAft>
              <a:buSzPts val="1600"/>
              <a:buFont typeface="Ubuntu Mono"/>
              <a:buChar char="●"/>
              <a:defRPr sz="1600">
                <a:latin typeface="Ubuntu Mono"/>
                <a:ea typeface="Ubuntu Mono"/>
                <a:cs typeface="Ubuntu Mono"/>
                <a:sym typeface="Ubuntu Mono"/>
              </a:defRPr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SzPts val="1600"/>
              <a:buFont typeface="Ubuntu Mono"/>
              <a:buChar char="○"/>
              <a:defRPr sz="1600">
                <a:latin typeface="Ubuntu Mono"/>
                <a:ea typeface="Ubuntu Mono"/>
                <a:cs typeface="Ubuntu Mono"/>
                <a:sym typeface="Ubuntu Mono"/>
              </a:defRPr>
            </a:lvl2pPr>
            <a:lvl3pPr indent="-330200" lvl="2" marL="1371600" rtl="0">
              <a:spcBef>
                <a:spcPts val="0"/>
              </a:spcBef>
              <a:spcAft>
                <a:spcPts val="0"/>
              </a:spcAft>
              <a:buSzPts val="1600"/>
              <a:buFont typeface="Ubuntu Mono"/>
              <a:buChar char="■"/>
              <a:defRPr sz="1600">
                <a:latin typeface="Ubuntu Mono"/>
                <a:ea typeface="Ubuntu Mono"/>
                <a:cs typeface="Ubuntu Mono"/>
                <a:sym typeface="Ubuntu Mono"/>
              </a:defRPr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SzPts val="1600"/>
              <a:buFont typeface="Ubuntu Mono"/>
              <a:buChar char="●"/>
              <a:defRPr sz="1600">
                <a:latin typeface="Ubuntu Mono"/>
                <a:ea typeface="Ubuntu Mono"/>
                <a:cs typeface="Ubuntu Mono"/>
                <a:sym typeface="Ubuntu Mono"/>
              </a:defRPr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SzPts val="1600"/>
              <a:buFont typeface="Ubuntu Mono"/>
              <a:buChar char="○"/>
              <a:defRPr sz="1600">
                <a:latin typeface="Ubuntu Mono"/>
                <a:ea typeface="Ubuntu Mono"/>
                <a:cs typeface="Ubuntu Mono"/>
                <a:sym typeface="Ubuntu Mono"/>
              </a:defRPr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SzPts val="1600"/>
              <a:buFont typeface="Ubuntu Mono"/>
              <a:buChar char="■"/>
              <a:defRPr sz="1600">
                <a:latin typeface="Ubuntu Mono"/>
                <a:ea typeface="Ubuntu Mono"/>
                <a:cs typeface="Ubuntu Mono"/>
                <a:sym typeface="Ubuntu Mono"/>
              </a:defRPr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SzPts val="1600"/>
              <a:buFont typeface="Ubuntu Mono"/>
              <a:buChar char="●"/>
              <a:defRPr sz="1600">
                <a:latin typeface="Ubuntu Mono"/>
                <a:ea typeface="Ubuntu Mono"/>
                <a:cs typeface="Ubuntu Mono"/>
                <a:sym typeface="Ubuntu Mono"/>
              </a:defRPr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SzPts val="1600"/>
              <a:buFont typeface="Ubuntu Mono"/>
              <a:buChar char="○"/>
              <a:defRPr sz="1600">
                <a:latin typeface="Ubuntu Mono"/>
                <a:ea typeface="Ubuntu Mono"/>
                <a:cs typeface="Ubuntu Mono"/>
                <a:sym typeface="Ubuntu Mono"/>
              </a:defRPr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SzPts val="1600"/>
              <a:buFont typeface="Ubuntu Mono"/>
              <a:buChar char="■"/>
              <a:defRPr sz="1600">
                <a:latin typeface="Ubuntu Mono"/>
                <a:ea typeface="Ubuntu Mono"/>
                <a:cs typeface="Ubuntu Mono"/>
                <a:sym typeface="Ubuntu Mono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57170" y="2320097"/>
            <a:ext cx="82296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4617B"/>
              </a:buClr>
              <a:buSzPts val="4400"/>
              <a:buFont typeface="Source Sans Pro"/>
              <a:buNone/>
              <a:defRPr sz="4400">
                <a:solidFill>
                  <a:srgbClr val="04617B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52" name="Google Shape;52;p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67175" lIns="67175" spcFirstLastPara="1" rIns="67175" wrap="square" tIns="67175">
            <a:noAutofit/>
          </a:bodyPr>
          <a:lstStyle>
            <a:lvl1pPr lvl="0" rtl="0" algn="ctr">
              <a:buNone/>
              <a:defRPr sz="12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ctr">
              <a:buNone/>
              <a:defRPr sz="12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ctr">
              <a:buNone/>
              <a:defRPr sz="12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ctr">
              <a:buNone/>
              <a:defRPr sz="12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ctr">
              <a:buNone/>
              <a:defRPr sz="12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ctr">
              <a:buNone/>
              <a:defRPr sz="12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ctr">
              <a:buNone/>
              <a:defRPr sz="12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ctr">
              <a:buNone/>
              <a:defRPr sz="12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ctr">
              <a:buNone/>
              <a:defRPr sz="12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2"/>
    <p:sldLayoutId id="2147483660" r:id="rId3"/>
    <p:sldLayoutId id="2147483661" r:id="rId4"/>
    <p:sldLayoutId id="2147483662" r:id="rId5"/>
    <p:sldLayoutId id="214748366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5" Type="http://schemas.openxmlformats.org/officeDocument/2006/relationships/image" Target="../media/image12.png"/><Relationship Id="rId6" Type="http://schemas.openxmlformats.org/officeDocument/2006/relationships/image" Target="../media/image5.png"/><Relationship Id="rId7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nasa.cs.nctu.edu.tw/sa/2021/sockn.c" TargetMode="External"/><Relationship Id="rId4" Type="http://schemas.openxmlformats.org/officeDocument/2006/relationships/hyperlink" Target="https://docs.freebsd.org/en/books/arch-handbook/driverbasics/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github.com/joewalnes/websocketd" TargetMode="Externa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s://imgur.com/a/Az70egl" TargetMode="External"/><Relationship Id="rId4" Type="http://schemas.openxmlformats.org/officeDocument/2006/relationships/image" Target="../media/image8.gif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7.xml"/><Relationship Id="rId3" Type="http://schemas.openxmlformats.org/officeDocument/2006/relationships/hyperlink" Target="https://groups.google.com/g/nctunasa" TargetMode="Externa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9"/>
          <p:cNvSpPr txBox="1"/>
          <p:nvPr/>
        </p:nvSpPr>
        <p:spPr>
          <a:xfrm>
            <a:off x="418122" y="205014"/>
            <a:ext cx="8229600" cy="303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5900" strike="noStrike">
              <a:solidFill>
                <a:srgbClr val="04617B"/>
              </a:solidFill>
              <a:latin typeface="Source Sans Pro Light"/>
              <a:ea typeface="Source Sans Pro Light"/>
              <a:cs typeface="Source Sans Pro Light"/>
              <a:sym typeface="Source Sans Pro Light"/>
            </a:endParaRPr>
          </a:p>
        </p:txBody>
      </p:sp>
      <p:sp>
        <p:nvSpPr>
          <p:cNvPr id="81" name="Google Shape;81;p19"/>
          <p:cNvSpPr txBox="1"/>
          <p:nvPr/>
        </p:nvSpPr>
        <p:spPr>
          <a:xfrm>
            <a:off x="421414" y="3549168"/>
            <a:ext cx="8223000" cy="10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 strike="noStrike">
              <a:solidFill>
                <a:srgbClr val="DBF5F9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82" name="Google Shape;82;p19"/>
          <p:cNvSpPr txBox="1"/>
          <p:nvPr>
            <p:ph type="title"/>
          </p:nvPr>
        </p:nvSpPr>
        <p:spPr>
          <a:xfrm>
            <a:off x="457170" y="2320097"/>
            <a:ext cx="8229600" cy="85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zh-TW"/>
              <a:t>Homework 4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Web Services</a:t>
            </a:r>
            <a:endParaRPr/>
          </a:p>
        </p:txBody>
      </p:sp>
      <p:sp>
        <p:nvSpPr>
          <p:cNvPr id="83" name="Google Shape;83;p1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67175" lIns="67175" spcFirstLastPara="1" rIns="67175" wrap="square" tIns="67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84" name="Google Shape;84;p19"/>
          <p:cNvSpPr txBox="1"/>
          <p:nvPr>
            <p:ph idx="1" type="subTitle"/>
          </p:nvPr>
        </p:nvSpPr>
        <p:spPr>
          <a:xfrm>
            <a:off x="457169" y="3632736"/>
            <a:ext cx="7824900" cy="939900"/>
          </a:xfrm>
          <a:prstGeom prst="rect">
            <a:avLst/>
          </a:prstGeom>
        </p:spPr>
        <p:txBody>
          <a:bodyPr anchorCtr="0" anchor="t" bIns="67175" lIns="67175" spcFirstLastPara="1" rIns="67175" wrap="square" tIns="67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/>
              <a:t>stchang, rzhung, xizhen</a:t>
            </a:r>
            <a:endParaRPr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0"/>
          <p:cNvSpPr txBox="1"/>
          <p:nvPr>
            <p:ph type="title"/>
          </p:nvPr>
        </p:nvSpPr>
        <p:spPr>
          <a:xfrm>
            <a:off x="456532" y="205014"/>
            <a:ext cx="8229600" cy="85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Outline 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90" name="Google Shape;90;p20"/>
          <p:cNvSpPr txBox="1"/>
          <p:nvPr>
            <p:ph idx="1" type="body"/>
          </p:nvPr>
        </p:nvSpPr>
        <p:spPr>
          <a:xfrm>
            <a:off x="298949" y="1359850"/>
            <a:ext cx="4569600" cy="339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292100" lvl="0" marL="330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zh-TW" sz="2000"/>
              <a:t>HTTP Server (40%)</a:t>
            </a:r>
            <a:endParaRPr sz="2000"/>
          </a:p>
          <a:p>
            <a:pPr indent="-279400" lvl="1" marL="6731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 sz="1800"/>
              <a:t>Virtual Hosts </a:t>
            </a:r>
            <a:r>
              <a:rPr lang="zh-TW" sz="1800">
                <a:solidFill>
                  <a:schemeClr val="accent5"/>
                </a:solidFill>
              </a:rPr>
              <a:t>(5%)</a:t>
            </a:r>
            <a:endParaRPr sz="1800">
              <a:solidFill>
                <a:schemeClr val="accent5"/>
              </a:solidFill>
            </a:endParaRPr>
          </a:p>
          <a:p>
            <a:pPr indent="-279400" lvl="1" marL="6731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zh-TW" sz="1800">
                <a:solidFill>
                  <a:schemeClr val="dk1"/>
                </a:solidFill>
              </a:rPr>
              <a:t>HTTPS &amp; HTTP2 </a:t>
            </a:r>
            <a:r>
              <a:rPr lang="zh-TW" sz="1800">
                <a:solidFill>
                  <a:schemeClr val="accent5"/>
                </a:solidFill>
              </a:rPr>
              <a:t>(15%)</a:t>
            </a:r>
            <a:endParaRPr sz="1800">
              <a:solidFill>
                <a:schemeClr val="accent5"/>
              </a:solidFill>
            </a:endParaRPr>
          </a:p>
          <a:p>
            <a:pPr indent="-279400" lvl="1" marL="6731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 sz="1800">
                <a:solidFill>
                  <a:schemeClr val="dk1"/>
                </a:solidFill>
              </a:rPr>
              <a:t>Hide Server Information </a:t>
            </a:r>
            <a:r>
              <a:rPr lang="zh-TW" sz="1800">
                <a:solidFill>
                  <a:schemeClr val="accent5"/>
                </a:solidFill>
              </a:rPr>
              <a:t>(5%)</a:t>
            </a:r>
            <a:endParaRPr sz="1800">
              <a:solidFill>
                <a:schemeClr val="accent5"/>
              </a:solidFill>
            </a:endParaRPr>
          </a:p>
          <a:p>
            <a:pPr indent="-279400" lvl="1" marL="6731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zh-TW" sz="1800">
                <a:solidFill>
                  <a:schemeClr val="dk1"/>
                </a:solidFill>
              </a:rPr>
              <a:t>PHP / PHP-FPM </a:t>
            </a:r>
            <a:r>
              <a:rPr lang="zh-TW" sz="1800">
                <a:solidFill>
                  <a:schemeClr val="accent5"/>
                </a:solidFill>
              </a:rPr>
              <a:t>(5%)</a:t>
            </a:r>
            <a:endParaRPr sz="1800">
              <a:solidFill>
                <a:schemeClr val="accent5"/>
              </a:solidFill>
            </a:endParaRPr>
          </a:p>
          <a:p>
            <a:pPr indent="-279400" lvl="1" marL="6731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zh-TW" sz="1800">
                <a:solidFill>
                  <a:schemeClr val="dk1"/>
                </a:solidFill>
              </a:rPr>
              <a:t>Access Control </a:t>
            </a:r>
            <a:r>
              <a:rPr lang="zh-TW" sz="1800">
                <a:solidFill>
                  <a:schemeClr val="accent5"/>
                </a:solidFill>
              </a:rPr>
              <a:t>(10%)</a:t>
            </a:r>
            <a:endParaRPr sz="1800"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91" name="Google Shape;91;p2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67175" lIns="67175" spcFirstLastPara="1" rIns="67175" wrap="square" tIns="67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92" name="Google Shape;92;p20"/>
          <p:cNvSpPr txBox="1"/>
          <p:nvPr>
            <p:ph idx="1" type="body"/>
          </p:nvPr>
        </p:nvSpPr>
        <p:spPr>
          <a:xfrm>
            <a:off x="4452300" y="1359850"/>
            <a:ext cx="4569600" cy="339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292100" lvl="0" marL="330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zh-TW" sz="2000">
                <a:solidFill>
                  <a:schemeClr val="dk1"/>
                </a:solidFill>
              </a:rPr>
              <a:t>Database (30%)</a:t>
            </a:r>
            <a:endParaRPr sz="2000">
              <a:solidFill>
                <a:schemeClr val="dk1"/>
              </a:solidFill>
            </a:endParaRPr>
          </a:p>
          <a:p>
            <a:pPr indent="-279400" lvl="1" marL="6731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zh-TW" sz="1800">
                <a:solidFill>
                  <a:schemeClr val="dk1"/>
                </a:solidFill>
              </a:rPr>
              <a:t>MySQL </a:t>
            </a:r>
            <a:r>
              <a:rPr lang="zh-TW" sz="1800">
                <a:solidFill>
                  <a:schemeClr val="accent5"/>
                </a:solidFill>
              </a:rPr>
              <a:t>(10%)</a:t>
            </a:r>
            <a:endParaRPr sz="1800">
              <a:solidFill>
                <a:schemeClr val="accent5"/>
              </a:solidFill>
            </a:endParaRPr>
          </a:p>
          <a:p>
            <a:pPr indent="-279400" lvl="1" marL="6731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zh-TW" sz="1800">
                <a:solidFill>
                  <a:schemeClr val="dk1"/>
                </a:solidFill>
              </a:rPr>
              <a:t>PhpMyAdmin </a:t>
            </a:r>
            <a:r>
              <a:rPr lang="zh-TW" sz="1800">
                <a:solidFill>
                  <a:schemeClr val="accent5"/>
                </a:solidFill>
              </a:rPr>
              <a:t>(5%)</a:t>
            </a:r>
            <a:endParaRPr sz="1800">
              <a:solidFill>
                <a:schemeClr val="accent5"/>
              </a:solidFill>
            </a:endParaRPr>
          </a:p>
          <a:p>
            <a:pPr indent="-279400" lvl="1" marL="6731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zh-TW" sz="1800">
                <a:solidFill>
                  <a:schemeClr val="dk1"/>
                </a:solidFill>
              </a:rPr>
              <a:t>DB Maintenance (Migration) </a:t>
            </a:r>
            <a:r>
              <a:rPr lang="zh-TW" sz="1800">
                <a:solidFill>
                  <a:schemeClr val="accent5"/>
                </a:solidFill>
              </a:rPr>
              <a:t>(15%)</a:t>
            </a:r>
            <a:endParaRPr sz="1800">
              <a:solidFill>
                <a:schemeClr val="accent5"/>
              </a:solidFill>
            </a:endParaRPr>
          </a:p>
          <a:p>
            <a:pPr indent="-292100" lvl="0" marL="330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zh-TW" sz="2000"/>
              <a:t>Kernel</a:t>
            </a:r>
            <a:r>
              <a:rPr lang="zh-TW" sz="2000"/>
              <a:t> Module</a:t>
            </a:r>
            <a:r>
              <a:rPr lang="zh-TW" sz="2000"/>
              <a:t> (3</a:t>
            </a:r>
            <a:r>
              <a:rPr lang="zh-TW" sz="2000"/>
              <a:t>0%</a:t>
            </a:r>
            <a:r>
              <a:rPr lang="zh-TW" sz="2000"/>
              <a:t>)</a:t>
            </a:r>
            <a:endParaRPr sz="2000"/>
          </a:p>
          <a:p>
            <a:pPr indent="-279400" lvl="1" marL="6731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 sz="1800"/>
              <a:t>Kernel</a:t>
            </a:r>
            <a:r>
              <a:rPr lang="zh-TW" sz="1800"/>
              <a:t> Module </a:t>
            </a:r>
            <a:r>
              <a:rPr lang="zh-TW" sz="1800">
                <a:solidFill>
                  <a:schemeClr val="accent5"/>
                </a:solidFill>
              </a:rPr>
              <a:t>(15%)</a:t>
            </a:r>
            <a:endParaRPr sz="1800">
              <a:solidFill>
                <a:schemeClr val="accent5"/>
              </a:solidFill>
            </a:endParaRPr>
          </a:p>
          <a:p>
            <a:pPr indent="-279400" lvl="1" marL="6731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 sz="1800"/>
              <a:t>Websocketd </a:t>
            </a:r>
            <a:r>
              <a:rPr lang="zh-TW" sz="1800">
                <a:solidFill>
                  <a:schemeClr val="accent5"/>
                </a:solidFill>
              </a:rPr>
              <a:t>(15%)</a:t>
            </a:r>
            <a:endParaRPr sz="1800"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1"/>
          <p:cNvSpPr txBox="1"/>
          <p:nvPr/>
        </p:nvSpPr>
        <p:spPr>
          <a:xfrm>
            <a:off x="418122" y="205014"/>
            <a:ext cx="8229600" cy="303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5900" strike="noStrike">
              <a:solidFill>
                <a:srgbClr val="04617B"/>
              </a:solidFill>
              <a:latin typeface="Source Sans Pro Light"/>
              <a:ea typeface="Source Sans Pro Light"/>
              <a:cs typeface="Source Sans Pro Light"/>
              <a:sym typeface="Source Sans Pro Light"/>
            </a:endParaRPr>
          </a:p>
        </p:txBody>
      </p:sp>
      <p:sp>
        <p:nvSpPr>
          <p:cNvPr id="98" name="Google Shape;98;p21"/>
          <p:cNvSpPr txBox="1"/>
          <p:nvPr/>
        </p:nvSpPr>
        <p:spPr>
          <a:xfrm>
            <a:off x="421414" y="3549168"/>
            <a:ext cx="8223000" cy="10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 strike="noStrike">
              <a:solidFill>
                <a:srgbClr val="DBF5F9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9" name="Google Shape;99;p21"/>
          <p:cNvSpPr txBox="1"/>
          <p:nvPr>
            <p:ph type="title"/>
          </p:nvPr>
        </p:nvSpPr>
        <p:spPr>
          <a:xfrm>
            <a:off x="457170" y="2320097"/>
            <a:ext cx="8229600" cy="85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HTTP Server</a:t>
            </a:r>
            <a:endParaRPr sz="2900"/>
          </a:p>
        </p:txBody>
      </p:sp>
      <p:sp>
        <p:nvSpPr>
          <p:cNvPr id="100" name="Google Shape;100;p2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67175" lIns="67175" spcFirstLastPara="1" rIns="67175" wrap="square" tIns="67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2"/>
          <p:cNvSpPr txBox="1"/>
          <p:nvPr>
            <p:ph type="title"/>
          </p:nvPr>
        </p:nvSpPr>
        <p:spPr>
          <a:xfrm>
            <a:off x="456532" y="205014"/>
            <a:ext cx="8229600" cy="85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Virtual Host (5%)</a:t>
            </a:r>
            <a:endParaRPr/>
          </a:p>
        </p:txBody>
      </p:sp>
      <p:sp>
        <p:nvSpPr>
          <p:cNvPr id="106" name="Google Shape;106;p22"/>
          <p:cNvSpPr txBox="1"/>
          <p:nvPr>
            <p:ph idx="1" type="body"/>
          </p:nvPr>
        </p:nvSpPr>
        <p:spPr>
          <a:xfrm>
            <a:off x="431850" y="1359950"/>
            <a:ext cx="8426100" cy="378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zh-TW" sz="2000"/>
              <a:t>Setup a </a:t>
            </a:r>
            <a:r>
              <a:rPr lang="zh-TW" sz="2000" u="sng"/>
              <a:t>name-based</a:t>
            </a:r>
            <a:r>
              <a:rPr lang="zh-TW" sz="2000"/>
              <a:t> virtual host.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zh-TW" sz="2000"/>
              <a:t>Show different contents based on different domain / IP.</a:t>
            </a:r>
            <a:endParaRPr sz="2000"/>
          </a:p>
          <a:p>
            <a:pPr indent="-3492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zh-TW" sz="1900"/>
              <a:t>Your Domain Name: </a:t>
            </a:r>
            <a:r>
              <a:rPr lang="zh-TW" sz="1900" u="sng"/>
              <a:t>{ID}.nycu.cs</a:t>
            </a:r>
            <a:endParaRPr sz="1900" u="sng"/>
          </a:p>
          <a:p>
            <a:pPr indent="-3492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zh-TW" sz="1900"/>
              <a:t>Your IP: </a:t>
            </a:r>
            <a:r>
              <a:rPr lang="zh-TW" sz="1900" u="sng"/>
              <a:t>10.113.0.{ID}</a:t>
            </a:r>
            <a:endParaRPr sz="1900" u="sng"/>
          </a:p>
          <a:p>
            <a:pPr indent="-3429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zh-TW" sz="1800"/>
              <a:t>{ID} is your wireguard ID</a:t>
            </a:r>
            <a:br>
              <a:rPr lang="zh-TW" sz="1800"/>
            </a:br>
            <a:endParaRPr sz="5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/>
              <a:t>Hint: </a:t>
            </a:r>
            <a:endParaRPr sz="16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300"/>
              <a:t>You can use hosts file to map ip to your domain.</a:t>
            </a:r>
            <a:endParaRPr sz="1300"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zh-TW" sz="1300"/>
              <a:t>On FreeBSD, CentOS: </a:t>
            </a:r>
            <a:r>
              <a:rPr i="1" lang="zh-TW" sz="1300">
                <a:solidFill>
                  <a:schemeClr val="dk1"/>
                </a:solidFill>
              </a:rPr>
              <a:t>/etc/hosts</a:t>
            </a:r>
            <a:endParaRPr i="1" sz="1300"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zh-TW" sz="1300"/>
              <a:t>On Windows: </a:t>
            </a:r>
            <a:r>
              <a:rPr i="1" lang="zh-TW" sz="1300"/>
              <a:t>C:\Windows\System32\drivers\etc\hosts</a:t>
            </a:r>
            <a:endParaRPr i="1" sz="1300"/>
          </a:p>
        </p:txBody>
      </p:sp>
      <p:sp>
        <p:nvSpPr>
          <p:cNvPr id="107" name="Google Shape;107;p2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67175" lIns="67175" spcFirstLastPara="1" rIns="67175" wrap="square" tIns="67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3"/>
          <p:cNvSpPr txBox="1"/>
          <p:nvPr>
            <p:ph idx="1" type="body"/>
          </p:nvPr>
        </p:nvSpPr>
        <p:spPr>
          <a:xfrm>
            <a:off x="431850" y="1359950"/>
            <a:ext cx="8426100" cy="378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zh-TW" sz="2000"/>
              <a:t>Please show the following contents according to different URLs.</a:t>
            </a:r>
            <a:endParaRPr i="1" sz="1300"/>
          </a:p>
        </p:txBody>
      </p:sp>
      <p:sp>
        <p:nvSpPr>
          <p:cNvPr id="113" name="Google Shape;113;p23"/>
          <p:cNvSpPr txBox="1"/>
          <p:nvPr>
            <p:ph type="title"/>
          </p:nvPr>
        </p:nvSpPr>
        <p:spPr>
          <a:xfrm>
            <a:off x="456532" y="205014"/>
            <a:ext cx="8229600" cy="85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Virtual Host (5%)</a:t>
            </a:r>
            <a:endParaRPr/>
          </a:p>
        </p:txBody>
      </p:sp>
      <p:sp>
        <p:nvSpPr>
          <p:cNvPr id="114" name="Google Shape;114;p23"/>
          <p:cNvSpPr txBox="1"/>
          <p:nvPr>
            <p:ph idx="1" type="body"/>
          </p:nvPr>
        </p:nvSpPr>
        <p:spPr>
          <a:xfrm>
            <a:off x="1428925" y="3599825"/>
            <a:ext cx="7149000" cy="65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900">
                <a:solidFill>
                  <a:schemeClr val="dk1"/>
                </a:solidFill>
              </a:rPr>
              <a:t>We will judge your work by </a:t>
            </a:r>
            <a:r>
              <a:rPr lang="zh-TW" sz="1900">
                <a:solidFill>
                  <a:srgbClr val="FF0000"/>
                </a:solidFill>
              </a:rPr>
              <a:t>10.113.0.{ID} </a:t>
            </a:r>
            <a:r>
              <a:rPr lang="zh-TW" sz="1900">
                <a:solidFill>
                  <a:schemeClr val="dk1"/>
                </a:solidFill>
              </a:rPr>
              <a:t>and </a:t>
            </a:r>
            <a:r>
              <a:rPr lang="zh-TW" sz="1900">
                <a:solidFill>
                  <a:srgbClr val="FF0000"/>
                </a:solidFill>
              </a:rPr>
              <a:t>{ID}.nycu.cs</a:t>
            </a:r>
            <a:r>
              <a:rPr lang="zh-TW" sz="1900">
                <a:solidFill>
                  <a:schemeClr val="dk1"/>
                </a:solidFill>
              </a:rPr>
              <a:t>.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900">
                <a:solidFill>
                  <a:schemeClr val="dk1"/>
                </a:solidFill>
              </a:rPr>
              <a:t>Be sure to adjust your configurations accordingly.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115" name="Google Shape;115;p2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67175" lIns="67175" spcFirstLastPara="1" rIns="67175" wrap="square" tIns="67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116" name="Google Shape;11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6080" y="2057375"/>
            <a:ext cx="3896320" cy="11514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7" name="Google Shape;117;p23"/>
          <p:cNvGrpSpPr/>
          <p:nvPr/>
        </p:nvGrpSpPr>
        <p:grpSpPr>
          <a:xfrm>
            <a:off x="4628175" y="2057375"/>
            <a:ext cx="3896325" cy="1357275"/>
            <a:chOff x="4628175" y="2057375"/>
            <a:chExt cx="3896325" cy="1357275"/>
          </a:xfrm>
        </p:grpSpPr>
        <p:pic>
          <p:nvPicPr>
            <p:cNvPr id="118" name="Google Shape;118;p23"/>
            <p:cNvPicPr preferRelativeResize="0"/>
            <p:nvPr/>
          </p:nvPicPr>
          <p:blipFill rotWithShape="1">
            <a:blip r:embed="rId4">
              <a:alphaModFix/>
            </a:blip>
            <a:srcRect b="0" l="0" r="3827" t="0"/>
            <a:stretch/>
          </p:blipFill>
          <p:spPr>
            <a:xfrm>
              <a:off x="4628175" y="2057375"/>
              <a:ext cx="3896325" cy="13572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9" name="Google Shape;119;p23"/>
            <p:cNvSpPr/>
            <p:nvPr/>
          </p:nvSpPr>
          <p:spPr>
            <a:xfrm>
              <a:off x="5029625" y="2176325"/>
              <a:ext cx="1455000" cy="145500"/>
            </a:xfrm>
            <a:prstGeom prst="rect">
              <a:avLst/>
            </a:prstGeom>
            <a:solidFill>
              <a:srgbClr val="2D2D2D"/>
            </a:solidFill>
            <a:ln cap="flat" cmpd="sng" w="9525">
              <a:solidFill>
                <a:srgbClr val="2D2D2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000">
                  <a:solidFill>
                    <a:srgbClr val="F3F7F6"/>
                  </a:solidFill>
                </a:rPr>
                <a:t>https://10.113.0.219</a:t>
              </a:r>
              <a:endParaRPr sz="1000">
                <a:solidFill>
                  <a:srgbClr val="F3F7F6"/>
                </a:solidFill>
              </a:endParaRPr>
            </a:p>
          </p:txBody>
        </p:sp>
        <p:sp>
          <p:nvSpPr>
            <p:cNvPr id="120" name="Google Shape;120;p23"/>
            <p:cNvSpPr/>
            <p:nvPr/>
          </p:nvSpPr>
          <p:spPr>
            <a:xfrm>
              <a:off x="6940800" y="2530625"/>
              <a:ext cx="1536900" cy="145500"/>
            </a:xfrm>
            <a:prstGeom prst="rect">
              <a:avLst/>
            </a:prstGeom>
            <a:solidFill>
              <a:srgbClr val="434343"/>
            </a:solidFill>
            <a:ln cap="flat" cmpd="sng" w="9525">
              <a:solidFill>
                <a:srgbClr val="43434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200" strike="sngStrike">
                  <a:solidFill>
                    <a:srgbClr val="EA9999"/>
                  </a:solidFill>
                </a:rPr>
                <a:t>https</a:t>
              </a:r>
              <a:r>
                <a:rPr lang="zh-TW" sz="1200">
                  <a:solidFill>
                    <a:srgbClr val="F3F7F6"/>
                  </a:solidFill>
                </a:rPr>
                <a:t>://10.113.0.219</a:t>
              </a:r>
              <a:endParaRPr sz="1200">
                <a:solidFill>
                  <a:srgbClr val="F3F7F6"/>
                </a:solidFill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4"/>
          <p:cNvSpPr txBox="1"/>
          <p:nvPr>
            <p:ph type="title"/>
          </p:nvPr>
        </p:nvSpPr>
        <p:spPr>
          <a:xfrm>
            <a:off x="456532" y="205014"/>
            <a:ext cx="8229600" cy="85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HTTPS &amp; HTTP/2 (15%)</a:t>
            </a:r>
            <a:endParaRPr/>
          </a:p>
        </p:txBody>
      </p:sp>
      <p:sp>
        <p:nvSpPr>
          <p:cNvPr id="126" name="Google Shape;126;p2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67175" lIns="67175" spcFirstLastPara="1" rIns="67175" wrap="square" tIns="67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27" name="Google Shape;127;p24"/>
          <p:cNvSpPr txBox="1"/>
          <p:nvPr>
            <p:ph idx="1" type="body"/>
          </p:nvPr>
        </p:nvSpPr>
        <p:spPr>
          <a:xfrm>
            <a:off x="431850" y="1359950"/>
            <a:ext cx="8426100" cy="378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zh-TW" sz="2000">
                <a:solidFill>
                  <a:schemeClr val="dk1"/>
                </a:solidFill>
              </a:rPr>
              <a:t>On virtual host </a:t>
            </a:r>
            <a:r>
              <a:rPr lang="zh-TW" sz="2000">
                <a:solidFill>
                  <a:srgbClr val="FF0000"/>
                </a:solidFill>
              </a:rPr>
              <a:t>{ID}.nycu.cs</a:t>
            </a:r>
            <a:endParaRPr sz="20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zh-TW" sz="1800">
                <a:solidFill>
                  <a:schemeClr val="dk1"/>
                </a:solidFill>
              </a:rPr>
              <a:t>Enable HTTPS</a:t>
            </a:r>
            <a:endParaRPr sz="1800">
              <a:solidFill>
                <a:schemeClr val="dk1"/>
              </a:solidFill>
            </a:endParaRPr>
          </a:p>
          <a:p>
            <a:pPr indent="-330200" lvl="2" marL="137160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</a:pPr>
            <a:r>
              <a:rPr lang="zh-TW" sz="1600">
                <a:solidFill>
                  <a:schemeClr val="dk1"/>
                </a:solidFill>
              </a:rPr>
              <a:t>Please </a:t>
            </a:r>
            <a:r>
              <a:rPr lang="zh-TW" sz="1600" u="sng">
                <a:solidFill>
                  <a:schemeClr val="dk1"/>
                </a:solidFill>
              </a:rPr>
              <a:t>sign your own certificate</a:t>
            </a:r>
            <a:r>
              <a:rPr lang="zh-TW" sz="1600">
                <a:solidFill>
                  <a:schemeClr val="dk1"/>
                </a:solidFill>
              </a:rPr>
              <a:t> on your domain.</a:t>
            </a:r>
            <a:endParaRPr sz="16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zh-TW" sz="1800">
                <a:solidFill>
                  <a:schemeClr val="dk1"/>
                </a:solidFill>
              </a:rPr>
              <a:t>Redirect all HTTP requests to HTTPS. </a:t>
            </a:r>
            <a:r>
              <a:rPr lang="zh-TW" sz="1800">
                <a:solidFill>
                  <a:schemeClr val="accent5"/>
                </a:solidFill>
              </a:rPr>
              <a:t>(5%)</a:t>
            </a:r>
            <a:endParaRPr sz="1800">
              <a:solidFill>
                <a:schemeClr val="accent5"/>
              </a:solidFill>
            </a:endParaRPr>
          </a:p>
          <a:p>
            <a:pPr indent="-342900" lvl="1" marL="91440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zh-TW" sz="1800">
                <a:solidFill>
                  <a:schemeClr val="dk1"/>
                </a:solidFill>
              </a:rPr>
              <a:t>Enable HSTS (HTTP Strict Transport Security) </a:t>
            </a:r>
            <a:r>
              <a:rPr lang="zh-TW" sz="1800">
                <a:solidFill>
                  <a:schemeClr val="accent5"/>
                </a:solidFill>
              </a:rPr>
              <a:t>(5%)</a:t>
            </a:r>
            <a:endParaRPr sz="1800">
              <a:solidFill>
                <a:schemeClr val="accent5"/>
              </a:solidFill>
            </a:endParaRPr>
          </a:p>
          <a:p>
            <a:pPr indent="-342900" lvl="1" marL="91440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zh-TW" sz="1800">
                <a:solidFill>
                  <a:schemeClr val="dk1"/>
                </a:solidFill>
              </a:rPr>
              <a:t>Enable HTTP/2 with HTTPS </a:t>
            </a:r>
            <a:r>
              <a:rPr lang="zh-TW" sz="1800">
                <a:solidFill>
                  <a:schemeClr val="accent5"/>
                </a:solidFill>
              </a:rPr>
              <a:t>(5%)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pic>
        <p:nvPicPr>
          <p:cNvPr id="128" name="Google Shape;12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00350" y="3614100"/>
            <a:ext cx="2543300" cy="1199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5"/>
          <p:cNvSpPr txBox="1"/>
          <p:nvPr>
            <p:ph type="title"/>
          </p:nvPr>
        </p:nvSpPr>
        <p:spPr>
          <a:xfrm>
            <a:off x="456532" y="205014"/>
            <a:ext cx="8229600" cy="85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</a:rPr>
              <a:t>Hide Server Information (5%)</a:t>
            </a:r>
            <a:endParaRPr/>
          </a:p>
        </p:txBody>
      </p:sp>
      <p:sp>
        <p:nvSpPr>
          <p:cNvPr id="134" name="Google Shape;134;p25"/>
          <p:cNvSpPr txBox="1"/>
          <p:nvPr>
            <p:ph idx="1" type="body"/>
          </p:nvPr>
        </p:nvSpPr>
        <p:spPr>
          <a:xfrm>
            <a:off x="431850" y="1359950"/>
            <a:ext cx="8426100" cy="378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zh-TW" sz="2000">
                <a:solidFill>
                  <a:schemeClr val="dk1"/>
                </a:solidFill>
              </a:rPr>
              <a:t>On virtual host </a:t>
            </a:r>
            <a:r>
              <a:rPr lang="zh-TW" sz="2000">
                <a:solidFill>
                  <a:srgbClr val="FF0000"/>
                </a:solidFill>
              </a:rPr>
              <a:t>{ID}.nycu.cs</a:t>
            </a:r>
            <a:endParaRPr sz="20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zh-TW" sz="1800">
                <a:solidFill>
                  <a:schemeClr val="dk1"/>
                </a:solidFill>
              </a:rPr>
              <a:t>Do not show the server </a:t>
            </a:r>
            <a:r>
              <a:rPr lang="zh-TW" sz="1800" u="sng">
                <a:solidFill>
                  <a:schemeClr val="dk1"/>
                </a:solidFill>
              </a:rPr>
              <a:t>version</a:t>
            </a:r>
            <a:r>
              <a:rPr lang="zh-TW" sz="1800">
                <a:solidFill>
                  <a:schemeClr val="dk1"/>
                </a:solidFill>
              </a:rPr>
              <a:t> on error pages.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zh-TW" sz="1800">
                <a:solidFill>
                  <a:schemeClr val="dk1"/>
                </a:solidFill>
              </a:rPr>
              <a:t>Hide Nginx/Apache </a:t>
            </a:r>
            <a:r>
              <a:rPr lang="zh-TW" sz="1800" u="sng">
                <a:solidFill>
                  <a:schemeClr val="dk1"/>
                </a:solidFill>
              </a:rPr>
              <a:t>version</a:t>
            </a:r>
            <a:r>
              <a:rPr lang="zh-TW" sz="1800">
                <a:solidFill>
                  <a:schemeClr val="dk1"/>
                </a:solidFill>
              </a:rPr>
              <a:t> in header.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35" name="Google Shape;135;p2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67175" lIns="67175" spcFirstLastPara="1" rIns="67175" wrap="square" tIns="67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grpSp>
        <p:nvGrpSpPr>
          <p:cNvPr id="136" name="Google Shape;136;p25"/>
          <p:cNvGrpSpPr/>
          <p:nvPr/>
        </p:nvGrpSpPr>
        <p:grpSpPr>
          <a:xfrm>
            <a:off x="1322986" y="3549161"/>
            <a:ext cx="6643820" cy="1484871"/>
            <a:chOff x="1140275" y="3488550"/>
            <a:chExt cx="6863450" cy="1583525"/>
          </a:xfrm>
        </p:grpSpPr>
        <p:pic>
          <p:nvPicPr>
            <p:cNvPr id="137" name="Google Shape;137;p2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140275" y="3488552"/>
              <a:ext cx="3283522" cy="158352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8" name="Google Shape;138;p2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782765" y="3488550"/>
              <a:ext cx="3220960" cy="158352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9" name="Google Shape;139;p25"/>
            <p:cNvPicPr preferRelativeResize="0"/>
            <p:nvPr/>
          </p:nvPicPr>
          <p:blipFill rotWithShape="1">
            <a:blip r:embed="rId5">
              <a:alphaModFix/>
            </a:blip>
            <a:srcRect b="0" l="0" r="48883" t="0"/>
            <a:stretch/>
          </p:blipFill>
          <p:spPr>
            <a:xfrm>
              <a:off x="3604403" y="3643979"/>
              <a:ext cx="598502" cy="6073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0" name="Google Shape;140;p25"/>
            <p:cNvPicPr preferRelativeResize="0"/>
            <p:nvPr/>
          </p:nvPicPr>
          <p:blipFill rotWithShape="1">
            <a:blip r:embed="rId5">
              <a:alphaModFix/>
            </a:blip>
            <a:srcRect b="0" l="54845" r="0" t="0"/>
            <a:stretch/>
          </p:blipFill>
          <p:spPr>
            <a:xfrm>
              <a:off x="7328559" y="3609342"/>
              <a:ext cx="528694" cy="6073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1" name="Google Shape;141;p25"/>
          <p:cNvGrpSpPr/>
          <p:nvPr/>
        </p:nvGrpSpPr>
        <p:grpSpPr>
          <a:xfrm>
            <a:off x="1570328" y="2086213"/>
            <a:ext cx="6149139" cy="1105959"/>
            <a:chOff x="1149907" y="1718600"/>
            <a:chExt cx="6277193" cy="1158800"/>
          </a:xfrm>
        </p:grpSpPr>
        <p:pic>
          <p:nvPicPr>
            <p:cNvPr id="142" name="Google Shape;142;p25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149907" y="1739150"/>
              <a:ext cx="2733592" cy="11382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3" name="Google Shape;143;p25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4608002" y="1718600"/>
              <a:ext cx="2819099" cy="108130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44" name="Google Shape;144;p25"/>
            <p:cNvCxnSpPr/>
            <p:nvPr/>
          </p:nvCxnSpPr>
          <p:spPr>
            <a:xfrm>
              <a:off x="3883500" y="2346675"/>
              <a:ext cx="724500" cy="0"/>
            </a:xfrm>
            <a:prstGeom prst="straightConnector1">
              <a:avLst/>
            </a:prstGeom>
            <a:noFill/>
            <a:ln cap="flat" cmpd="sng" w="28575">
              <a:solidFill>
                <a:srgbClr val="04617B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6"/>
          <p:cNvSpPr txBox="1"/>
          <p:nvPr>
            <p:ph type="title"/>
          </p:nvPr>
        </p:nvSpPr>
        <p:spPr>
          <a:xfrm>
            <a:off x="456532" y="205014"/>
            <a:ext cx="8229600" cy="85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PHP / PHP-FPM (5%)</a:t>
            </a:r>
            <a:endParaRPr/>
          </a:p>
        </p:txBody>
      </p:sp>
      <p:sp>
        <p:nvSpPr>
          <p:cNvPr id="150" name="Google Shape;150;p2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67175" lIns="67175" spcFirstLastPara="1" rIns="67175" wrap="square" tIns="67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51" name="Google Shape;151;p26"/>
          <p:cNvSpPr txBox="1"/>
          <p:nvPr>
            <p:ph idx="1" type="body"/>
          </p:nvPr>
        </p:nvSpPr>
        <p:spPr>
          <a:xfrm>
            <a:off x="431850" y="1359950"/>
            <a:ext cx="8426100" cy="378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zh-TW" sz="2000">
                <a:solidFill>
                  <a:schemeClr val="dk1"/>
                </a:solidFill>
              </a:rPr>
              <a:t>On virtual host </a:t>
            </a:r>
            <a:r>
              <a:rPr lang="zh-TW" sz="2000">
                <a:solidFill>
                  <a:srgbClr val="FF0000"/>
                </a:solidFill>
              </a:rPr>
              <a:t>{ID}.nycu.cs</a:t>
            </a:r>
            <a:endParaRPr sz="20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zh-TW" sz="1800">
                <a:solidFill>
                  <a:schemeClr val="dk1"/>
                </a:solidFill>
              </a:rPr>
              <a:t>Create </a:t>
            </a:r>
            <a:r>
              <a:rPr lang="zh-TW" sz="1800" u="sng">
                <a:solidFill>
                  <a:schemeClr val="dk1"/>
                </a:solidFill>
              </a:rPr>
              <a:t>https://{ID}.nycu.cs/info-{ID}.php</a:t>
            </a:r>
            <a:r>
              <a:rPr lang="zh-TW" sz="1800">
                <a:solidFill>
                  <a:schemeClr val="dk1"/>
                </a:solidFill>
              </a:rPr>
              <a:t> with </a:t>
            </a:r>
            <a:r>
              <a:rPr lang="zh-TW" sz="1800" u="sng">
                <a:solidFill>
                  <a:schemeClr val="dk1"/>
                </a:solidFill>
              </a:rPr>
              <a:t>PHP info page</a:t>
            </a:r>
            <a:r>
              <a:rPr lang="zh-TW" sz="1800">
                <a:solidFill>
                  <a:schemeClr val="dk1"/>
                </a:solidFill>
              </a:rPr>
              <a:t>.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zh-TW" sz="1800">
                <a:solidFill>
                  <a:schemeClr val="dk1"/>
                </a:solidFill>
              </a:rPr>
              <a:t>Set up PHP 8 (or higher).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zh-TW" sz="1800">
                <a:solidFill>
                  <a:schemeClr val="dk1"/>
                </a:solidFill>
              </a:rPr>
              <a:t>Hide PHP version information in </a:t>
            </a:r>
            <a:r>
              <a:rPr lang="zh-TW" sz="1800" u="sng">
                <a:solidFill>
                  <a:schemeClr val="dk1"/>
                </a:solidFill>
              </a:rPr>
              <a:t>header</a:t>
            </a:r>
            <a:r>
              <a:rPr lang="zh-TW" sz="1800">
                <a:solidFill>
                  <a:schemeClr val="dk1"/>
                </a:solidFill>
              </a:rPr>
              <a:t>.</a:t>
            </a:r>
            <a:endParaRPr sz="1800">
              <a:solidFill>
                <a:schemeClr val="dk1"/>
              </a:solidFill>
            </a:endParaRPr>
          </a:p>
          <a:p>
            <a:pPr indent="-3302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</a:pPr>
            <a:r>
              <a:rPr lang="zh-TW" sz="1600">
                <a:solidFill>
                  <a:schemeClr val="dk1"/>
                </a:solidFill>
              </a:rPr>
              <a:t>But the version needs to be displayed in the PHP info page.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7"/>
          <p:cNvSpPr txBox="1"/>
          <p:nvPr>
            <p:ph type="title"/>
          </p:nvPr>
        </p:nvSpPr>
        <p:spPr>
          <a:xfrm>
            <a:off x="456532" y="205014"/>
            <a:ext cx="8229600" cy="85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PHP / PHP-FPM (5%)</a:t>
            </a:r>
            <a:endParaRPr/>
          </a:p>
        </p:txBody>
      </p:sp>
      <p:sp>
        <p:nvSpPr>
          <p:cNvPr id="157" name="Google Shape;157;p2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67175" lIns="67175" spcFirstLastPara="1" rIns="67175" wrap="square" tIns="67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158" name="Google Shape;158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0450" y="1050763"/>
            <a:ext cx="8229602" cy="4092738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7"/>
          <p:cNvSpPr/>
          <p:nvPr/>
        </p:nvSpPr>
        <p:spPr>
          <a:xfrm>
            <a:off x="5868850" y="2520225"/>
            <a:ext cx="2007600" cy="5925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27"/>
          <p:cNvSpPr/>
          <p:nvPr/>
        </p:nvSpPr>
        <p:spPr>
          <a:xfrm>
            <a:off x="220450" y="1103650"/>
            <a:ext cx="912000" cy="1995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27"/>
          <p:cNvSpPr txBox="1"/>
          <p:nvPr/>
        </p:nvSpPr>
        <p:spPr>
          <a:xfrm>
            <a:off x="6395050" y="3068325"/>
            <a:ext cx="2055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100">
                <a:solidFill>
                  <a:schemeClr val="accent2"/>
                </a:solidFill>
              </a:rPr>
              <a:t>no php version in header</a:t>
            </a:r>
            <a:endParaRPr b="1" sz="1100">
              <a:solidFill>
                <a:schemeClr val="accent2"/>
              </a:solidFill>
            </a:endParaRPr>
          </a:p>
        </p:txBody>
      </p:sp>
      <p:sp>
        <p:nvSpPr>
          <p:cNvPr id="162" name="Google Shape;162;p27"/>
          <p:cNvSpPr txBox="1"/>
          <p:nvPr/>
        </p:nvSpPr>
        <p:spPr>
          <a:xfrm>
            <a:off x="1132450" y="1026400"/>
            <a:ext cx="2007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100">
                <a:solidFill>
                  <a:schemeClr val="accent2"/>
                </a:solidFill>
              </a:rPr>
              <a:t>php version &gt;= 8</a:t>
            </a:r>
            <a:endParaRPr b="1" sz="110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8"/>
          <p:cNvSpPr txBox="1"/>
          <p:nvPr>
            <p:ph type="title"/>
          </p:nvPr>
        </p:nvSpPr>
        <p:spPr>
          <a:xfrm>
            <a:off x="456532" y="205014"/>
            <a:ext cx="8229600" cy="85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Access Control (5%)</a:t>
            </a:r>
            <a:endParaRPr/>
          </a:p>
        </p:txBody>
      </p:sp>
      <p:sp>
        <p:nvSpPr>
          <p:cNvPr id="168" name="Google Shape;168;p2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67175" lIns="67175" spcFirstLastPara="1" rIns="67175" wrap="square" tIns="67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69" name="Google Shape;169;p28"/>
          <p:cNvSpPr txBox="1"/>
          <p:nvPr>
            <p:ph idx="1" type="body"/>
          </p:nvPr>
        </p:nvSpPr>
        <p:spPr>
          <a:xfrm>
            <a:off x="431850" y="1359950"/>
            <a:ext cx="8426100" cy="378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zh-TW" sz="2000">
                <a:solidFill>
                  <a:schemeClr val="dk1"/>
                </a:solidFill>
              </a:rPr>
              <a:t>On virtual host </a:t>
            </a:r>
            <a:r>
              <a:rPr lang="zh-TW" sz="2000" u="sng">
                <a:solidFill>
                  <a:srgbClr val="FF0000"/>
                </a:solidFill>
              </a:rPr>
              <a:t>10.113.0.{ID}</a:t>
            </a:r>
            <a:endParaRPr sz="2000">
              <a:solidFill>
                <a:srgbClr val="FF0000"/>
              </a:solidFill>
            </a:endParaRPr>
          </a:p>
          <a:p>
            <a:pPr indent="-342900" lvl="1" marL="91440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zh-TW" sz="1800">
                <a:solidFill>
                  <a:schemeClr val="dk1"/>
                </a:solidFill>
              </a:rPr>
              <a:t>There is a </a:t>
            </a:r>
            <a:r>
              <a:rPr lang="zh-TW" sz="1800" u="sng">
                <a:solidFill>
                  <a:schemeClr val="dk1"/>
                </a:solidFill>
              </a:rPr>
              <a:t>secret</a:t>
            </a:r>
            <a:r>
              <a:rPr lang="zh-TW" sz="1800">
                <a:solidFill>
                  <a:schemeClr val="dk1"/>
                </a:solidFill>
              </a:rPr>
              <a:t> webpage on </a:t>
            </a:r>
            <a:r>
              <a:rPr lang="zh-TW" sz="1800" u="sng">
                <a:solidFill>
                  <a:schemeClr val="dk1"/>
                </a:solidFill>
              </a:rPr>
              <a:t>http://10.113.0.{ID}/private</a:t>
            </a:r>
            <a:r>
              <a:rPr lang="zh-TW" sz="1800">
                <a:solidFill>
                  <a:schemeClr val="dk1"/>
                </a:solidFill>
              </a:rPr>
              <a:t>.</a:t>
            </a:r>
            <a:endParaRPr sz="1800">
              <a:solidFill>
                <a:srgbClr val="FF0000"/>
              </a:solidFill>
            </a:endParaRPr>
          </a:p>
          <a:p>
            <a:pPr indent="-330200" lvl="2" marL="137160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</a:pPr>
            <a:r>
              <a:rPr lang="zh-TW" sz="1600">
                <a:solidFill>
                  <a:srgbClr val="FF0000"/>
                </a:solidFill>
              </a:rPr>
              <a:t>Deny access with domain {ID}.nycu.cs. </a:t>
            </a:r>
            <a:endParaRPr sz="1600">
              <a:solidFill>
                <a:srgbClr val="FF0000"/>
              </a:solidFill>
            </a:endParaRPr>
          </a:p>
          <a:p>
            <a:pPr indent="-342900" lvl="1" marL="91440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zh-TW" sz="1800">
                <a:solidFill>
                  <a:schemeClr val="dk1"/>
                </a:solidFill>
              </a:rPr>
              <a:t>When accessing the web page from </a:t>
            </a:r>
            <a:r>
              <a:rPr lang="zh-TW" sz="1800" u="sng">
                <a:solidFill>
                  <a:schemeClr val="dk1"/>
                </a:solidFill>
              </a:rPr>
              <a:t>10.113.0.254</a:t>
            </a:r>
            <a:r>
              <a:rPr lang="zh-TW" sz="1800">
                <a:solidFill>
                  <a:schemeClr val="dk1"/>
                </a:solidFill>
              </a:rPr>
              <a:t>, the user is required to provide credentials (HTTP Basic Authentication).</a:t>
            </a:r>
            <a:endParaRPr sz="1800">
              <a:solidFill>
                <a:schemeClr val="dk1"/>
              </a:solidFill>
            </a:endParaRPr>
          </a:p>
          <a:p>
            <a:pPr indent="-330200" lvl="2" marL="137160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</a:pPr>
            <a:r>
              <a:rPr lang="zh-TW" sz="1600">
                <a:solidFill>
                  <a:schemeClr val="dk1"/>
                </a:solidFill>
              </a:rPr>
              <a:t>Username: admin</a:t>
            </a:r>
            <a:endParaRPr sz="1600">
              <a:solidFill>
                <a:schemeClr val="dk1"/>
              </a:solidFill>
            </a:endParaRPr>
          </a:p>
          <a:p>
            <a:pPr indent="-330200" lvl="2" marL="137160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</a:pPr>
            <a:r>
              <a:rPr lang="zh-TW" sz="1600">
                <a:solidFill>
                  <a:schemeClr val="dk1"/>
                </a:solidFill>
              </a:rPr>
              <a:t>Password: Your {IP} without dots. (e.g. 10113015)</a:t>
            </a:r>
            <a:endParaRPr sz="16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zh-TW" sz="1800">
                <a:solidFill>
                  <a:schemeClr val="dk1"/>
                </a:solidFill>
              </a:rPr>
              <a:t>When the webpage is accessed from </a:t>
            </a:r>
            <a:r>
              <a:rPr lang="zh-TW" sz="1800" u="sng">
                <a:solidFill>
                  <a:schemeClr val="dk1"/>
                </a:solidFill>
              </a:rPr>
              <a:t>any other location</a:t>
            </a:r>
            <a:r>
              <a:rPr lang="zh-TW" sz="1800">
                <a:solidFill>
                  <a:schemeClr val="dk1"/>
                </a:solidFill>
              </a:rPr>
              <a:t> or accessed with</a:t>
            </a:r>
            <a:r>
              <a:rPr lang="zh-TW" sz="1800" u="sng">
                <a:solidFill>
                  <a:schemeClr val="dk1"/>
                </a:solidFill>
              </a:rPr>
              <a:t> domain</a:t>
            </a:r>
            <a:r>
              <a:rPr lang="zh-TW" sz="1800">
                <a:solidFill>
                  <a:schemeClr val="dk1"/>
                </a:solidFill>
              </a:rPr>
              <a:t>: </a:t>
            </a:r>
            <a:endParaRPr sz="1800">
              <a:solidFill>
                <a:schemeClr val="dk1"/>
              </a:solidFill>
            </a:endParaRPr>
          </a:p>
          <a:p>
            <a:pPr indent="-330200" lvl="2" marL="137160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</a:pPr>
            <a:r>
              <a:rPr lang="zh-TW" sz="1600">
                <a:solidFill>
                  <a:srgbClr val="FF0000"/>
                </a:solidFill>
              </a:rPr>
              <a:t>403 Forbidden or 404 Not Found.</a:t>
            </a:r>
            <a:endParaRPr sz="1600">
              <a:solidFill>
                <a:srgbClr val="FF0000"/>
              </a:solidFill>
            </a:endParaRPr>
          </a:p>
          <a:p>
            <a:pPr indent="-330200" lvl="2" marL="137160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</a:pPr>
            <a:r>
              <a:rPr lang="zh-TW" sz="1600" u="sng">
                <a:solidFill>
                  <a:schemeClr val="dk1"/>
                </a:solidFill>
              </a:rPr>
              <a:t>Even from localhost</a:t>
            </a:r>
            <a:r>
              <a:rPr lang="zh-TW" sz="1600">
                <a:solidFill>
                  <a:schemeClr val="dk1"/>
                </a:solidFill>
              </a:rPr>
              <a:t>, you still have to return 403 or 404.</a:t>
            </a:r>
            <a:endParaRPr sz="16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9"/>
          <p:cNvSpPr txBox="1"/>
          <p:nvPr>
            <p:ph type="title"/>
          </p:nvPr>
        </p:nvSpPr>
        <p:spPr>
          <a:xfrm>
            <a:off x="456532" y="205014"/>
            <a:ext cx="8229600" cy="85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Access Control (5%)</a:t>
            </a:r>
            <a:endParaRPr/>
          </a:p>
        </p:txBody>
      </p:sp>
      <p:sp>
        <p:nvSpPr>
          <p:cNvPr id="175" name="Google Shape;175;p2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67175" lIns="67175" spcFirstLastPara="1" rIns="67175" wrap="square" tIns="67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grpSp>
        <p:nvGrpSpPr>
          <p:cNvPr id="176" name="Google Shape;176;p29"/>
          <p:cNvGrpSpPr/>
          <p:nvPr/>
        </p:nvGrpSpPr>
        <p:grpSpPr>
          <a:xfrm>
            <a:off x="2475825" y="3466201"/>
            <a:ext cx="4191000" cy="1020244"/>
            <a:chOff x="2475825" y="3466201"/>
            <a:chExt cx="4191000" cy="1020244"/>
          </a:xfrm>
        </p:grpSpPr>
        <p:pic>
          <p:nvPicPr>
            <p:cNvPr id="177" name="Google Shape;177;p2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475825" y="3466201"/>
              <a:ext cx="4191000" cy="102024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8" name="Google Shape;178;p29"/>
            <p:cNvSpPr/>
            <p:nvPr/>
          </p:nvSpPr>
          <p:spPr>
            <a:xfrm>
              <a:off x="3270850" y="3555525"/>
              <a:ext cx="1809300" cy="145500"/>
            </a:xfrm>
            <a:prstGeom prst="rect">
              <a:avLst/>
            </a:prstGeom>
            <a:solidFill>
              <a:srgbClr val="3B3B3B"/>
            </a:solidFill>
            <a:ln cap="flat" cmpd="sng" w="9525">
              <a:solidFill>
                <a:srgbClr val="3B3B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000">
                  <a:solidFill>
                    <a:srgbClr val="F3F7F6"/>
                  </a:solidFill>
                </a:rPr>
                <a:t>http://10.113.0.219/private</a:t>
              </a:r>
              <a:endParaRPr sz="1000">
                <a:solidFill>
                  <a:srgbClr val="F3F7F6"/>
                </a:solidFill>
              </a:endParaRPr>
            </a:p>
          </p:txBody>
        </p:sp>
        <p:sp>
          <p:nvSpPr>
            <p:cNvPr id="179" name="Google Shape;179;p29"/>
            <p:cNvSpPr/>
            <p:nvPr/>
          </p:nvSpPr>
          <p:spPr>
            <a:xfrm>
              <a:off x="4789800" y="3903575"/>
              <a:ext cx="1809300" cy="145500"/>
            </a:xfrm>
            <a:prstGeom prst="rect">
              <a:avLst/>
            </a:prstGeom>
            <a:solidFill>
              <a:srgbClr val="2B2B2B"/>
            </a:solidFill>
            <a:ln cap="flat" cmpd="sng" w="9525">
              <a:solidFill>
                <a:srgbClr val="2B2B2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000">
                  <a:solidFill>
                    <a:srgbClr val="F3F7F6"/>
                  </a:solidFill>
                </a:rPr>
                <a:t>10.113.0.219/private</a:t>
              </a:r>
              <a:endParaRPr sz="1000">
                <a:solidFill>
                  <a:srgbClr val="F3F7F6"/>
                </a:solidFill>
              </a:endParaRPr>
            </a:p>
          </p:txBody>
        </p:sp>
      </p:grpSp>
      <p:pic>
        <p:nvPicPr>
          <p:cNvPr id="180" name="Google Shape;180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75825" y="1279099"/>
            <a:ext cx="4191000" cy="2095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9"/>
          <p:cNvSpPr/>
          <p:nvPr/>
        </p:nvSpPr>
        <p:spPr>
          <a:xfrm>
            <a:off x="2526450" y="1696075"/>
            <a:ext cx="1674300" cy="145500"/>
          </a:xfrm>
          <a:prstGeom prst="rect">
            <a:avLst/>
          </a:prstGeom>
          <a:solidFill>
            <a:srgbClr val="4A4A4A"/>
          </a:solidFill>
          <a:ln cap="flat" cmpd="sng" w="9525">
            <a:solidFill>
              <a:srgbClr val="4A4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900">
                <a:solidFill>
                  <a:srgbClr val="F3F7F6"/>
                </a:solidFill>
              </a:rPr>
              <a:t>http://10.113.0.219 要求授權</a:t>
            </a:r>
            <a:endParaRPr sz="900">
              <a:solidFill>
                <a:srgbClr val="F3F7F6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0"/>
          <p:cNvSpPr txBox="1"/>
          <p:nvPr>
            <p:ph type="title"/>
          </p:nvPr>
        </p:nvSpPr>
        <p:spPr>
          <a:xfrm>
            <a:off x="457170" y="2320097"/>
            <a:ext cx="8229600" cy="85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Database</a:t>
            </a:r>
            <a:endParaRPr/>
          </a:p>
        </p:txBody>
      </p:sp>
      <p:sp>
        <p:nvSpPr>
          <p:cNvPr id="187" name="Google Shape;187;p30"/>
          <p:cNvSpPr txBox="1"/>
          <p:nvPr>
            <p:ph idx="1" type="subTitle"/>
          </p:nvPr>
        </p:nvSpPr>
        <p:spPr>
          <a:xfrm>
            <a:off x="457169" y="3632736"/>
            <a:ext cx="7824900" cy="939900"/>
          </a:xfrm>
          <a:prstGeom prst="rect">
            <a:avLst/>
          </a:prstGeom>
        </p:spPr>
        <p:txBody>
          <a:bodyPr anchorCtr="0" anchor="t" bIns="67175" lIns="67175" spcFirstLastPara="1" rIns="67175" wrap="square" tIns="67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3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67175" lIns="67175" spcFirstLastPara="1" rIns="67175" wrap="square" tIns="67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1"/>
          <p:cNvSpPr txBox="1"/>
          <p:nvPr>
            <p:ph type="title"/>
          </p:nvPr>
        </p:nvSpPr>
        <p:spPr>
          <a:xfrm>
            <a:off x="456532" y="205014"/>
            <a:ext cx="8229600" cy="85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MySQL </a:t>
            </a:r>
            <a:r>
              <a:rPr lang="zh-TW"/>
              <a:t>(10%)</a:t>
            </a:r>
            <a:endParaRPr/>
          </a:p>
        </p:txBody>
      </p:sp>
      <p:sp>
        <p:nvSpPr>
          <p:cNvPr id="194" name="Google Shape;194;p3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67175" lIns="67175" spcFirstLastPara="1" rIns="67175" wrap="square" tIns="67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95" name="Google Shape;195;p31"/>
          <p:cNvSpPr txBox="1"/>
          <p:nvPr>
            <p:ph idx="1" type="body"/>
          </p:nvPr>
        </p:nvSpPr>
        <p:spPr>
          <a:xfrm>
            <a:off x="358275" y="1063625"/>
            <a:ext cx="8426100" cy="378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zh-TW" sz="2000">
                <a:solidFill>
                  <a:schemeClr val="dk1"/>
                </a:solidFill>
              </a:rPr>
              <a:t>Create a “mortal” account </a:t>
            </a:r>
            <a:r>
              <a:rPr lang="zh-TW" sz="2000">
                <a:solidFill>
                  <a:schemeClr val="accent5"/>
                </a:solidFill>
              </a:rPr>
              <a:t>(3%)</a:t>
            </a:r>
            <a:endParaRPr sz="2000">
              <a:solidFill>
                <a:schemeClr val="accent5"/>
              </a:solidFill>
            </a:endParaRPr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</a:pPr>
            <a:r>
              <a:rPr lang="zh-TW" sz="1900">
                <a:solidFill>
                  <a:schemeClr val="dk1"/>
                </a:solidFill>
              </a:rPr>
              <a:t>Username: </a:t>
            </a:r>
            <a:r>
              <a:rPr i="1" lang="zh-TW" sz="1900">
                <a:solidFill>
                  <a:schemeClr val="dk1"/>
                </a:solidFill>
              </a:rPr>
              <a:t>judge</a:t>
            </a:r>
            <a:endParaRPr i="1" sz="1900">
              <a:solidFill>
                <a:schemeClr val="dk1"/>
              </a:solidFill>
            </a:endParaRPr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</a:pPr>
            <a:r>
              <a:rPr lang="zh-TW" sz="1900">
                <a:solidFill>
                  <a:schemeClr val="dk1"/>
                </a:solidFill>
              </a:rPr>
              <a:t>Password: Your {IP} without dots. (e.g. 101130221)</a:t>
            </a:r>
            <a:endParaRPr sz="1900">
              <a:solidFill>
                <a:schemeClr val="dk1"/>
              </a:solidFill>
            </a:endParaRPr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</a:pPr>
            <a:r>
              <a:rPr lang="zh-TW" sz="1900">
                <a:solidFill>
                  <a:schemeClr val="dk1"/>
                </a:solidFill>
              </a:rPr>
              <a:t>Can login from any host.</a:t>
            </a:r>
            <a:endParaRPr i="1" sz="19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zh-TW" sz="2000">
                <a:solidFill>
                  <a:schemeClr val="dk1"/>
                </a:solidFill>
              </a:rPr>
              <a:t>Secure MySQL </a:t>
            </a:r>
            <a:r>
              <a:rPr lang="zh-TW" sz="2000">
                <a:solidFill>
                  <a:schemeClr val="accent5"/>
                </a:solidFill>
              </a:rPr>
              <a:t>(4%)</a:t>
            </a:r>
            <a:endParaRPr sz="2000">
              <a:solidFill>
                <a:schemeClr val="accent5"/>
              </a:solidFill>
            </a:endParaRPr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</a:pPr>
            <a:r>
              <a:rPr lang="zh-TW" sz="1900">
                <a:solidFill>
                  <a:schemeClr val="dk1"/>
                </a:solidFill>
              </a:rPr>
              <a:t>Allow root login ONLY from localhost.</a:t>
            </a:r>
            <a:endParaRPr sz="1900">
              <a:solidFill>
                <a:schemeClr val="dk1"/>
              </a:solidFill>
            </a:endParaRPr>
          </a:p>
          <a:p>
            <a:pPr indent="-3365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■"/>
            </a:pPr>
            <a:r>
              <a:rPr lang="zh-TW" sz="1700">
                <a:solidFill>
                  <a:schemeClr val="dk1"/>
                </a:solidFill>
              </a:rPr>
              <a:t>Password: </a:t>
            </a:r>
            <a:r>
              <a:rPr lang="zh-TW">
                <a:solidFill>
                  <a:schemeClr val="dk1"/>
                </a:solidFill>
              </a:rPr>
              <a:t>Your {IP} without dots. (e.g. 101130221)</a:t>
            </a:r>
            <a:endParaRPr sz="1700">
              <a:solidFill>
                <a:schemeClr val="dk1"/>
              </a:solidFill>
            </a:endParaRPr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</a:pPr>
            <a:r>
              <a:rPr lang="zh-TW" sz="1900">
                <a:solidFill>
                  <a:schemeClr val="dk1"/>
                </a:solidFill>
              </a:rPr>
              <a:t>Remove test database.</a:t>
            </a:r>
            <a:endParaRPr sz="19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zh-TW" sz="2000">
                <a:solidFill>
                  <a:schemeClr val="dk1"/>
                </a:solidFill>
              </a:rPr>
              <a:t>Create a database called </a:t>
            </a:r>
            <a:r>
              <a:rPr i="1" lang="zh-TW" sz="2000">
                <a:solidFill>
                  <a:schemeClr val="dk1"/>
                </a:solidFill>
              </a:rPr>
              <a:t>judge </a:t>
            </a:r>
            <a:r>
              <a:rPr lang="zh-TW" sz="2000">
                <a:solidFill>
                  <a:schemeClr val="accent5"/>
                </a:solidFill>
              </a:rPr>
              <a:t>(3%)</a:t>
            </a:r>
            <a:endParaRPr i="1" sz="2000">
              <a:solidFill>
                <a:schemeClr val="accent5"/>
              </a:solidFill>
            </a:endParaRPr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</a:pPr>
            <a:r>
              <a:rPr lang="zh-TW" sz="1900">
                <a:solidFill>
                  <a:schemeClr val="dk1"/>
                </a:solidFill>
              </a:rPr>
              <a:t>ONLY </a:t>
            </a:r>
            <a:r>
              <a:rPr i="1" lang="zh-TW" sz="1900">
                <a:solidFill>
                  <a:schemeClr val="dk1"/>
                </a:solidFill>
              </a:rPr>
              <a:t>root </a:t>
            </a:r>
            <a:r>
              <a:rPr lang="zh-TW" sz="1900">
                <a:solidFill>
                  <a:schemeClr val="dk1"/>
                </a:solidFill>
              </a:rPr>
              <a:t>have FULL privileges.</a:t>
            </a:r>
            <a:endParaRPr sz="1900">
              <a:solidFill>
                <a:schemeClr val="dk1"/>
              </a:solidFill>
            </a:endParaRPr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</a:pPr>
            <a:r>
              <a:rPr lang="zh-TW" sz="1900">
                <a:solidFill>
                  <a:schemeClr val="dk1"/>
                </a:solidFill>
              </a:rPr>
              <a:t>User </a:t>
            </a:r>
            <a:r>
              <a:rPr i="1" lang="zh-TW" sz="1900">
                <a:solidFill>
                  <a:schemeClr val="dk1"/>
                </a:solidFill>
              </a:rPr>
              <a:t>judge </a:t>
            </a:r>
            <a:r>
              <a:rPr lang="zh-TW" sz="1900">
                <a:solidFill>
                  <a:schemeClr val="dk1"/>
                </a:solidFill>
              </a:rPr>
              <a:t>have </a:t>
            </a:r>
            <a:r>
              <a:rPr lang="zh-TW" sz="1900" u="sng">
                <a:solidFill>
                  <a:schemeClr val="dk1"/>
                </a:solidFill>
              </a:rPr>
              <a:t>SELECT privilege</a:t>
            </a:r>
            <a:r>
              <a:rPr lang="zh-TW" sz="1900">
                <a:solidFill>
                  <a:schemeClr val="dk1"/>
                </a:solidFill>
              </a:rPr>
              <a:t> and ONLY on this database.</a:t>
            </a:r>
            <a:endParaRPr sz="19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2"/>
          <p:cNvSpPr txBox="1"/>
          <p:nvPr>
            <p:ph type="title"/>
          </p:nvPr>
        </p:nvSpPr>
        <p:spPr>
          <a:xfrm>
            <a:off x="456532" y="205014"/>
            <a:ext cx="8229600" cy="85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PhpMyAdmin (5%)</a:t>
            </a:r>
            <a:endParaRPr/>
          </a:p>
        </p:txBody>
      </p:sp>
      <p:sp>
        <p:nvSpPr>
          <p:cNvPr id="201" name="Google Shape;201;p3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67175" lIns="67175" spcFirstLastPara="1" rIns="67175" wrap="square" tIns="67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02" name="Google Shape;202;p32"/>
          <p:cNvSpPr txBox="1"/>
          <p:nvPr>
            <p:ph idx="1" type="body"/>
          </p:nvPr>
        </p:nvSpPr>
        <p:spPr>
          <a:xfrm>
            <a:off x="456525" y="1140275"/>
            <a:ext cx="8426100" cy="378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zh-TW" sz="2000">
                <a:solidFill>
                  <a:schemeClr val="dk1"/>
                </a:solidFill>
              </a:rPr>
              <a:t>Build a PhpMyAdmin webside </a:t>
            </a:r>
            <a:r>
              <a:rPr lang="zh-TW" sz="2000">
                <a:solidFill>
                  <a:schemeClr val="dk1"/>
                </a:solidFill>
              </a:rPr>
              <a:t>on </a:t>
            </a:r>
            <a:r>
              <a:rPr lang="zh-TW" sz="2000" u="sng">
                <a:solidFill>
                  <a:schemeClr val="dk1"/>
                </a:solidFill>
              </a:rPr>
              <a:t>https://{ID}.nycu.cs/phpmyadmin/</a:t>
            </a:r>
            <a:r>
              <a:rPr lang="zh-TW" sz="2000">
                <a:solidFill>
                  <a:schemeClr val="dk1"/>
                </a:solidFill>
              </a:rPr>
              <a:t>. 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203" name="Google Shape;203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1275" y="1610475"/>
            <a:ext cx="5298151" cy="3020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3"/>
          <p:cNvSpPr txBox="1"/>
          <p:nvPr>
            <p:ph type="title"/>
          </p:nvPr>
        </p:nvSpPr>
        <p:spPr>
          <a:xfrm>
            <a:off x="456532" y="205014"/>
            <a:ext cx="8229600" cy="85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DB Maintenance </a:t>
            </a:r>
            <a:r>
              <a:rPr lang="zh-TW"/>
              <a:t>(15%)</a:t>
            </a:r>
            <a:endParaRPr/>
          </a:p>
        </p:txBody>
      </p:sp>
      <p:sp>
        <p:nvSpPr>
          <p:cNvPr id="209" name="Google Shape;209;p3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67175" lIns="67175" spcFirstLastPara="1" rIns="67175" wrap="square" tIns="67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10" name="Google Shape;210;p33"/>
          <p:cNvSpPr txBox="1"/>
          <p:nvPr>
            <p:ph idx="1" type="body"/>
          </p:nvPr>
        </p:nvSpPr>
        <p:spPr>
          <a:xfrm>
            <a:off x="358950" y="1145300"/>
            <a:ext cx="8556000" cy="378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zh-TW">
                <a:solidFill>
                  <a:schemeClr val="dk1"/>
                </a:solidFill>
              </a:rPr>
              <a:t>There is a cold backup in our SA server.</a:t>
            </a:r>
            <a:endParaRPr>
              <a:solidFill>
                <a:schemeClr val="dk1"/>
              </a:solidFill>
            </a:endParaRPr>
          </a:p>
          <a:p>
            <a:pPr indent="-3619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○"/>
            </a:pPr>
            <a:r>
              <a:rPr lang="zh-TW">
                <a:solidFill>
                  <a:schemeClr val="dk1"/>
                </a:solidFill>
              </a:rPr>
              <a:t>Dump the data from server and restore to your database: </a:t>
            </a:r>
            <a:r>
              <a:rPr i="1" lang="zh-TW">
                <a:solidFill>
                  <a:schemeClr val="dk1"/>
                </a:solidFill>
              </a:rPr>
              <a:t>judge</a:t>
            </a:r>
            <a:r>
              <a:rPr lang="zh-TW">
                <a:solidFill>
                  <a:schemeClr val="dk1"/>
                </a:solidFill>
              </a:rPr>
              <a:t>. </a:t>
            </a:r>
            <a:r>
              <a:rPr lang="zh-TW">
                <a:solidFill>
                  <a:schemeClr val="accent5"/>
                </a:solidFill>
              </a:rPr>
              <a:t>(10%)</a:t>
            </a:r>
            <a:endParaRPr>
              <a:solidFill>
                <a:schemeClr val="accent5"/>
              </a:solidFill>
            </a:endParaRPr>
          </a:p>
          <a:p>
            <a:pPr indent="-3619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○"/>
            </a:pPr>
            <a:r>
              <a:rPr lang="zh-TW">
                <a:solidFill>
                  <a:schemeClr val="dk1"/>
                </a:solidFill>
              </a:rPr>
              <a:t>The server information:</a:t>
            </a:r>
            <a:endParaRPr>
              <a:solidFill>
                <a:schemeClr val="dk1"/>
              </a:solidFill>
            </a:endParaRPr>
          </a:p>
          <a:p>
            <a:pPr indent="-34925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■"/>
            </a:pPr>
            <a:r>
              <a:rPr lang="zh-TW">
                <a:solidFill>
                  <a:schemeClr val="dk1"/>
                </a:solidFill>
              </a:rPr>
              <a:t>IP: 10.113.0.254 :3306</a:t>
            </a:r>
            <a:endParaRPr>
              <a:solidFill>
                <a:schemeClr val="dk1"/>
              </a:solidFill>
            </a:endParaRPr>
          </a:p>
          <a:p>
            <a:pPr indent="-34925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■"/>
            </a:pPr>
            <a:r>
              <a:rPr lang="zh-TW">
                <a:solidFill>
                  <a:schemeClr val="dk1"/>
                </a:solidFill>
              </a:rPr>
              <a:t>DB: OJ{ID} (e.g. OJ221)</a:t>
            </a:r>
            <a:endParaRPr>
              <a:solidFill>
                <a:schemeClr val="dk1"/>
              </a:solidFill>
            </a:endParaRPr>
          </a:p>
          <a:p>
            <a:pPr indent="-34925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■"/>
            </a:pPr>
            <a:r>
              <a:rPr lang="zh-TW">
                <a:solidFill>
                  <a:schemeClr val="dk1"/>
                </a:solidFill>
              </a:rPr>
              <a:t>Account: {ID} (e.g. 221) / Password: {IP} without dots (e.g. 101130221)</a:t>
            </a:r>
            <a:endParaRPr>
              <a:solidFill>
                <a:schemeClr val="dk1"/>
              </a:solidFill>
            </a:endParaRPr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zh-TW">
                <a:solidFill>
                  <a:schemeClr val="dk1"/>
                </a:solidFill>
              </a:rPr>
              <a:t>Store the dump data temp file at </a:t>
            </a:r>
            <a:r>
              <a:rPr i="1" lang="zh-TW">
                <a:solidFill>
                  <a:schemeClr val="dk1"/>
                </a:solidFill>
              </a:rPr>
              <a:t>/home/judge/PrivKey.sql</a:t>
            </a:r>
            <a:r>
              <a:rPr lang="zh-TW">
                <a:solidFill>
                  <a:schemeClr val="dk1"/>
                </a:solidFill>
              </a:rPr>
              <a:t> </a:t>
            </a:r>
            <a:r>
              <a:rPr lang="zh-TW">
                <a:solidFill>
                  <a:schemeClr val="accent5"/>
                </a:solidFill>
              </a:rPr>
              <a:t>(5%)</a:t>
            </a:r>
            <a:endParaRPr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4"/>
          <p:cNvSpPr txBox="1"/>
          <p:nvPr>
            <p:ph type="title"/>
          </p:nvPr>
        </p:nvSpPr>
        <p:spPr>
          <a:xfrm>
            <a:off x="457170" y="2320097"/>
            <a:ext cx="8229600" cy="85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Kernel</a:t>
            </a:r>
            <a:r>
              <a:rPr lang="zh-TW"/>
              <a:t> Module</a:t>
            </a:r>
            <a:endParaRPr/>
          </a:p>
        </p:txBody>
      </p:sp>
      <p:sp>
        <p:nvSpPr>
          <p:cNvPr id="216" name="Google Shape;216;p34"/>
          <p:cNvSpPr txBox="1"/>
          <p:nvPr>
            <p:ph idx="1" type="subTitle"/>
          </p:nvPr>
        </p:nvSpPr>
        <p:spPr>
          <a:xfrm>
            <a:off x="457169" y="3632736"/>
            <a:ext cx="7824900" cy="939900"/>
          </a:xfrm>
          <a:prstGeom prst="rect">
            <a:avLst/>
          </a:prstGeom>
        </p:spPr>
        <p:txBody>
          <a:bodyPr anchorCtr="0" anchor="t" bIns="67175" lIns="67175" spcFirstLastPara="1" rIns="67175" wrap="square" tIns="67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3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67175" lIns="67175" spcFirstLastPara="1" rIns="67175" wrap="square" tIns="67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5"/>
          <p:cNvSpPr txBox="1"/>
          <p:nvPr>
            <p:ph type="title"/>
          </p:nvPr>
        </p:nvSpPr>
        <p:spPr>
          <a:xfrm>
            <a:off x="456532" y="205014"/>
            <a:ext cx="8229600" cy="85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Kernel Module (15%)</a:t>
            </a:r>
            <a:endParaRPr/>
          </a:p>
        </p:txBody>
      </p:sp>
      <p:sp>
        <p:nvSpPr>
          <p:cNvPr id="223" name="Google Shape;223;p35"/>
          <p:cNvSpPr txBox="1"/>
          <p:nvPr>
            <p:ph idx="1" type="body"/>
          </p:nvPr>
        </p:nvSpPr>
        <p:spPr>
          <a:xfrm>
            <a:off x="431850" y="1359950"/>
            <a:ext cx="8426100" cy="378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zh-TW" sz="2000">
                <a:solidFill>
                  <a:schemeClr val="dk1"/>
                </a:solidFill>
              </a:rPr>
              <a:t>Write a kernel module for add a device driver </a:t>
            </a:r>
            <a:r>
              <a:rPr lang="zh-TW" sz="20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/dev/sockn</a:t>
            </a:r>
            <a:r>
              <a:rPr lang="zh-TW" sz="2000">
                <a:solidFill>
                  <a:schemeClr val="dk1"/>
                </a:solidFill>
              </a:rPr>
              <a:t>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zh-TW" sz="2000">
                <a:solidFill>
                  <a:schemeClr val="dk1"/>
                </a:solidFill>
              </a:rPr>
              <a:t>When you run </a:t>
            </a:r>
            <a:r>
              <a:rPr lang="zh-TW" sz="2000" u="sng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echo "hello" &gt; /dev/sockn</a:t>
            </a:r>
            <a:r>
              <a:rPr lang="zh-TW" sz="2000">
                <a:solidFill>
                  <a:schemeClr val="dk1"/>
                </a:solidFill>
              </a:rPr>
              <a:t> (or any other writing action), </a:t>
            </a:r>
            <a:r>
              <a:rPr lang="zh-TW" sz="20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/dev/sockn </a:t>
            </a:r>
            <a:r>
              <a:rPr lang="zh-TW" sz="2000">
                <a:solidFill>
                  <a:schemeClr val="dk1"/>
                </a:solidFill>
              </a:rPr>
              <a:t>must save the message into the buffer of sockn kernel module.  Please overwrite old buffer data.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zh-TW" sz="2000">
                <a:solidFill>
                  <a:schemeClr val="dk1"/>
                </a:solidFill>
              </a:rPr>
              <a:t>When you run </a:t>
            </a:r>
            <a:r>
              <a:rPr lang="zh-TW" sz="2000" u="sng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cat /dev/sockn</a:t>
            </a:r>
            <a:r>
              <a:rPr lang="zh-TW" sz="2000">
                <a:solidFill>
                  <a:schemeClr val="dk1"/>
                </a:solidFill>
              </a:rPr>
              <a:t> (or any other reading action) , you will get: </a:t>
            </a:r>
            <a:endParaRPr sz="2000">
              <a:solidFill>
                <a:schemeClr val="dk1"/>
              </a:solidFill>
            </a:endParaRPr>
          </a:p>
          <a:p>
            <a:pPr indent="-3492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</a:pPr>
            <a:r>
              <a:rPr lang="zh-TW" sz="1900">
                <a:solidFill>
                  <a:schemeClr val="dk1"/>
                </a:solidFill>
              </a:rPr>
              <a:t>Line 1: the value of </a:t>
            </a:r>
            <a:r>
              <a:rPr lang="zh-TW" sz="19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sysctl vm.uma.socket.stats.current</a:t>
            </a:r>
            <a:r>
              <a:rPr lang="zh-TW" sz="1900">
                <a:solidFill>
                  <a:schemeClr val="dk1"/>
                </a:solidFill>
              </a:rPr>
              <a:t>, is the amount of socket</a:t>
            </a:r>
            <a:endParaRPr sz="1900">
              <a:solidFill>
                <a:schemeClr val="dk1"/>
              </a:solidFill>
            </a:endParaRPr>
          </a:p>
          <a:p>
            <a:pPr indent="-3492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</a:pPr>
            <a:r>
              <a:rPr lang="zh-TW" sz="1900">
                <a:solidFill>
                  <a:schemeClr val="dk1"/>
                </a:solidFill>
              </a:rPr>
              <a:t>Line 2 and following: the message saved in the buffer of sockn.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6"/>
          <p:cNvSpPr txBox="1"/>
          <p:nvPr>
            <p:ph type="title"/>
          </p:nvPr>
        </p:nvSpPr>
        <p:spPr>
          <a:xfrm>
            <a:off x="456532" y="205014"/>
            <a:ext cx="8229600" cy="85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Kernel Module (15%)</a:t>
            </a:r>
            <a:endParaRPr/>
          </a:p>
        </p:txBody>
      </p:sp>
      <p:sp>
        <p:nvSpPr>
          <p:cNvPr id="229" name="Google Shape;229;p36"/>
          <p:cNvSpPr txBox="1"/>
          <p:nvPr>
            <p:ph idx="1" type="body"/>
          </p:nvPr>
        </p:nvSpPr>
        <p:spPr>
          <a:xfrm>
            <a:off x="444225" y="1310350"/>
            <a:ext cx="8254200" cy="3709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rgbClr val="FF0000"/>
                </a:solidFill>
                <a:latin typeface="Ubuntu Mono"/>
                <a:ea typeface="Ubuntu Mono"/>
                <a:cs typeface="Ubuntu Mono"/>
                <a:sym typeface="Ubuntu Mono"/>
              </a:rPr>
              <a:t>$</a:t>
            </a:r>
            <a:r>
              <a:rPr lang="zh-TW">
                <a:latin typeface="Ubuntu Mono"/>
                <a:ea typeface="Ubuntu Mono"/>
                <a:cs typeface="Ubuntu Mono"/>
                <a:sym typeface="Ubuntu Mono"/>
              </a:rPr>
              <a:t> </a:t>
            </a:r>
            <a:r>
              <a:rPr lang="zh-TW">
                <a:solidFill>
                  <a:srgbClr val="666666"/>
                </a:solidFill>
                <a:latin typeface="Ubuntu Mono"/>
                <a:ea typeface="Ubuntu Mono"/>
                <a:cs typeface="Ubuntu Mono"/>
                <a:sym typeface="Ubuntu Mono"/>
              </a:rPr>
              <a:t>cat /dev/sockn</a:t>
            </a:r>
            <a:endParaRPr>
              <a:solidFill>
                <a:srgbClr val="666666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latin typeface="Ubuntu Mono"/>
                <a:ea typeface="Ubuntu Mono"/>
                <a:cs typeface="Ubuntu Mono"/>
                <a:sym typeface="Ubuntu Mono"/>
              </a:rPr>
              <a:t>16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rgbClr val="FF0000"/>
                </a:solidFill>
                <a:latin typeface="Ubuntu Mono"/>
                <a:ea typeface="Ubuntu Mono"/>
                <a:cs typeface="Ubuntu Mono"/>
                <a:sym typeface="Ubuntu Mono"/>
              </a:rPr>
              <a:t>$</a:t>
            </a:r>
            <a:r>
              <a:rPr lang="zh-TW">
                <a:latin typeface="Ubuntu Mono"/>
                <a:ea typeface="Ubuntu Mono"/>
                <a:cs typeface="Ubuntu Mono"/>
                <a:sym typeface="Ubuntu Mono"/>
              </a:rPr>
              <a:t> </a:t>
            </a:r>
            <a:r>
              <a:rPr lang="zh-TW">
                <a:solidFill>
                  <a:srgbClr val="666666"/>
                </a:solidFill>
                <a:latin typeface="Ubuntu Mono"/>
                <a:ea typeface="Ubuntu Mono"/>
                <a:cs typeface="Ubuntu Mono"/>
                <a:sym typeface="Ubuntu Mono"/>
              </a:rPr>
              <a:t>echo "hello" &gt; /dev/sockn</a:t>
            </a:r>
            <a:endParaRPr>
              <a:solidFill>
                <a:srgbClr val="666666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rgbClr val="FF0000"/>
                </a:solidFill>
                <a:latin typeface="Ubuntu Mono"/>
                <a:ea typeface="Ubuntu Mono"/>
                <a:cs typeface="Ubuntu Mono"/>
                <a:sym typeface="Ubuntu Mono"/>
              </a:rPr>
              <a:t>$</a:t>
            </a:r>
            <a:r>
              <a:rPr lang="zh-TW">
                <a:latin typeface="Ubuntu Mono"/>
                <a:ea typeface="Ubuntu Mono"/>
                <a:cs typeface="Ubuntu Mono"/>
                <a:sym typeface="Ubuntu Mono"/>
              </a:rPr>
              <a:t> </a:t>
            </a:r>
            <a:r>
              <a:rPr lang="zh-TW">
                <a:solidFill>
                  <a:srgbClr val="666666"/>
                </a:solidFill>
                <a:latin typeface="Ubuntu Mono"/>
                <a:ea typeface="Ubuntu Mono"/>
                <a:cs typeface="Ubuntu Mono"/>
                <a:sym typeface="Ubuntu Mono"/>
              </a:rPr>
              <a:t>cat /dev/sockn</a:t>
            </a:r>
            <a:endParaRPr>
              <a:solidFill>
                <a:srgbClr val="666666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latin typeface="Ubuntu Mono"/>
                <a:ea typeface="Ubuntu Mono"/>
                <a:cs typeface="Ubuntu Mono"/>
                <a:sym typeface="Ubuntu Mono"/>
              </a:rPr>
              <a:t>16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Ubuntu Mono"/>
                <a:ea typeface="Ubuntu Mono"/>
                <a:cs typeface="Ubuntu Mono"/>
                <a:sym typeface="Ubuntu Mono"/>
              </a:rPr>
              <a:t>hello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FF0000"/>
                </a:solidFill>
                <a:latin typeface="Ubuntu Mono"/>
                <a:ea typeface="Ubuntu Mono"/>
                <a:cs typeface="Ubuntu Mono"/>
                <a:sym typeface="Ubuntu Mono"/>
              </a:rPr>
              <a:t>$</a:t>
            </a:r>
            <a:r>
              <a:rPr lang="zh-TW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 </a:t>
            </a:r>
            <a:r>
              <a:rPr lang="zh-TW">
                <a:solidFill>
                  <a:srgbClr val="666666"/>
                </a:solidFill>
                <a:latin typeface="Ubuntu Mono"/>
                <a:ea typeface="Ubuntu Mono"/>
                <a:cs typeface="Ubuntu Mono"/>
                <a:sym typeface="Ubuntu Mono"/>
              </a:rPr>
              <a:t>echo "world" &gt; /dev/sockn</a:t>
            </a:r>
            <a:endParaRPr>
              <a:solidFill>
                <a:srgbClr val="666666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FF0000"/>
                </a:solidFill>
                <a:latin typeface="Ubuntu Mono"/>
                <a:ea typeface="Ubuntu Mono"/>
                <a:cs typeface="Ubuntu Mono"/>
                <a:sym typeface="Ubuntu Mono"/>
              </a:rPr>
              <a:t>$</a:t>
            </a:r>
            <a:r>
              <a:rPr lang="zh-TW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 </a:t>
            </a:r>
            <a:r>
              <a:rPr lang="zh-TW">
                <a:solidFill>
                  <a:srgbClr val="666666"/>
                </a:solidFill>
                <a:latin typeface="Ubuntu Mono"/>
                <a:ea typeface="Ubuntu Mono"/>
                <a:cs typeface="Ubuntu Mono"/>
                <a:sym typeface="Ubuntu Mono"/>
              </a:rPr>
              <a:t>cat /dev/sockn</a:t>
            </a:r>
            <a:endParaRPr>
              <a:solidFill>
                <a:srgbClr val="666666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16</a:t>
            </a:r>
            <a:endParaRPr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world</a:t>
            </a:r>
            <a:endParaRPr>
              <a:solidFill>
                <a:srgbClr val="666666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7"/>
          <p:cNvSpPr txBox="1"/>
          <p:nvPr>
            <p:ph type="title"/>
          </p:nvPr>
        </p:nvSpPr>
        <p:spPr>
          <a:xfrm>
            <a:off x="456532" y="205014"/>
            <a:ext cx="8229600" cy="85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Kernel Module (15%)</a:t>
            </a:r>
            <a:endParaRPr/>
          </a:p>
        </p:txBody>
      </p:sp>
      <p:sp>
        <p:nvSpPr>
          <p:cNvPr id="235" name="Google Shape;235;p37"/>
          <p:cNvSpPr txBox="1"/>
          <p:nvPr>
            <p:ph idx="1" type="body"/>
          </p:nvPr>
        </p:nvSpPr>
        <p:spPr>
          <a:xfrm>
            <a:off x="431850" y="1359950"/>
            <a:ext cx="8426100" cy="378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zh-TW" sz="2000">
                <a:solidFill>
                  <a:schemeClr val="dk1"/>
                </a:solidFill>
              </a:rPr>
              <a:t>You can download the C source code of sockn kernel module from </a:t>
            </a:r>
            <a:r>
              <a:rPr lang="zh-TW" sz="2000" u="sng">
                <a:solidFill>
                  <a:schemeClr val="hlink"/>
                </a:solidFill>
                <a:hlinkClick r:id="rId3"/>
              </a:rPr>
              <a:t>https://nasa.cs.nctu.edu.tw/sa/2021/sockn.c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zh-TW" sz="2000">
                <a:solidFill>
                  <a:schemeClr val="dk1"/>
                </a:solidFill>
              </a:rPr>
              <a:t>You have to build the kernel module and load it, pleass refer to </a:t>
            </a:r>
            <a:r>
              <a:rPr lang="zh-TW" sz="2000" u="sng">
                <a:solidFill>
                  <a:schemeClr val="hlink"/>
                </a:solidFill>
                <a:hlinkClick r:id="rId4"/>
              </a:rPr>
              <a:t>https://docs.freebsd.org/en/books/arch-handbook/driverbasics/</a:t>
            </a:r>
            <a:br>
              <a:rPr lang="zh-TW" sz="2000">
                <a:solidFill>
                  <a:schemeClr val="dk1"/>
                </a:solidFill>
              </a:rPr>
            </a:br>
            <a:r>
              <a:rPr lang="zh-TW" sz="2000">
                <a:solidFill>
                  <a:schemeClr val="dk1"/>
                </a:solidFill>
              </a:rPr>
              <a:t>and other FreeBSD doc.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8"/>
          <p:cNvSpPr txBox="1"/>
          <p:nvPr>
            <p:ph type="title"/>
          </p:nvPr>
        </p:nvSpPr>
        <p:spPr>
          <a:xfrm>
            <a:off x="456532" y="205014"/>
            <a:ext cx="8229600" cy="85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Kernel Module (15%)</a:t>
            </a:r>
            <a:endParaRPr/>
          </a:p>
        </p:txBody>
      </p:sp>
      <p:sp>
        <p:nvSpPr>
          <p:cNvPr id="241" name="Google Shape;241;p38"/>
          <p:cNvSpPr txBox="1"/>
          <p:nvPr>
            <p:ph idx="1" type="body"/>
          </p:nvPr>
        </p:nvSpPr>
        <p:spPr>
          <a:xfrm>
            <a:off x="431850" y="1359950"/>
            <a:ext cx="8426100" cy="378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zh-TW" sz="2000">
                <a:solidFill>
                  <a:schemeClr val="dk1"/>
                </a:solidFill>
              </a:rPr>
              <a:t>Scoring</a:t>
            </a:r>
            <a:endParaRPr sz="20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zh-TW" sz="1800">
                <a:solidFill>
                  <a:schemeClr val="dk1"/>
                </a:solidFill>
              </a:rPr>
              <a:t>Kernel module </a:t>
            </a:r>
            <a:r>
              <a:rPr lang="zh-TW" sz="18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"sockn"</a:t>
            </a:r>
            <a:r>
              <a:rPr lang="zh-TW" sz="1800">
                <a:solidFill>
                  <a:schemeClr val="dk1"/>
                </a:solidFill>
              </a:rPr>
              <a:t> is loaded and </a:t>
            </a:r>
            <a:r>
              <a:rPr lang="zh-TW" sz="18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/dev/sockn</a:t>
            </a:r>
            <a:r>
              <a:rPr lang="zh-TW" sz="1800">
                <a:solidFill>
                  <a:schemeClr val="dk1"/>
                </a:solidFill>
              </a:rPr>
              <a:t> exists </a:t>
            </a:r>
            <a:r>
              <a:rPr lang="zh-TW" sz="1800">
                <a:solidFill>
                  <a:schemeClr val="accent5"/>
                </a:solidFill>
              </a:rPr>
              <a:t>(5%)</a:t>
            </a:r>
            <a:endParaRPr sz="1800">
              <a:solidFill>
                <a:schemeClr val="accent5"/>
              </a:solidFill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zh-TW" sz="18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/dev/sockn</a:t>
            </a:r>
            <a:r>
              <a:rPr lang="zh-TW" sz="1800">
                <a:solidFill>
                  <a:schemeClr val="dk1"/>
                </a:solidFill>
              </a:rPr>
              <a:t> works well. </a:t>
            </a:r>
            <a:r>
              <a:rPr lang="zh-TW" sz="1800">
                <a:solidFill>
                  <a:schemeClr val="accent5"/>
                </a:solidFill>
              </a:rPr>
              <a:t>(10%)</a:t>
            </a:r>
            <a:endParaRPr sz="1800">
              <a:solidFill>
                <a:schemeClr val="accent5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9"/>
          <p:cNvSpPr txBox="1"/>
          <p:nvPr>
            <p:ph type="title"/>
          </p:nvPr>
        </p:nvSpPr>
        <p:spPr>
          <a:xfrm>
            <a:off x="456532" y="205014"/>
            <a:ext cx="8229600" cy="85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WebSocket (15%)</a:t>
            </a:r>
            <a:endParaRPr/>
          </a:p>
        </p:txBody>
      </p:sp>
      <p:sp>
        <p:nvSpPr>
          <p:cNvPr id="247" name="Google Shape;247;p3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67175" lIns="67175" spcFirstLastPara="1" rIns="67175" wrap="square" tIns="67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48" name="Google Shape;248;p39"/>
          <p:cNvSpPr txBox="1"/>
          <p:nvPr>
            <p:ph idx="1" type="body"/>
          </p:nvPr>
        </p:nvSpPr>
        <p:spPr>
          <a:xfrm>
            <a:off x="431850" y="1359950"/>
            <a:ext cx="8426100" cy="378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zh-TW" sz="2000">
                <a:solidFill>
                  <a:schemeClr val="dk1"/>
                </a:solidFill>
              </a:rPr>
              <a:t>A WebSocket is a persistent connection between a client and server.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zh-TW" sz="2000">
                <a:solidFill>
                  <a:schemeClr val="dk1"/>
                </a:solidFill>
              </a:rPr>
              <a:t>Use websocket to keep logging your output of </a:t>
            </a:r>
            <a:r>
              <a:rPr lang="zh-TW" sz="20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/dev/sockn</a:t>
            </a:r>
            <a:r>
              <a:rPr lang="zh-TW" sz="2000">
                <a:solidFill>
                  <a:schemeClr val="dk1"/>
                </a:solidFill>
              </a:rPr>
              <a:t>.</a:t>
            </a:r>
            <a:endParaRPr sz="2000">
              <a:solidFill>
                <a:schemeClr val="dk1"/>
              </a:solidFill>
            </a:endParaRPr>
          </a:p>
          <a:p>
            <a:pPr indent="-3492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</a:pPr>
            <a:r>
              <a:rPr lang="zh-TW" sz="1900">
                <a:solidFill>
                  <a:schemeClr val="dk1"/>
                </a:solidFill>
              </a:rPr>
              <a:t>Show new output of </a:t>
            </a:r>
            <a:r>
              <a:rPr lang="zh-TW" sz="19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/dev/sockn</a:t>
            </a:r>
            <a:r>
              <a:rPr lang="zh-TW" sz="1900">
                <a:solidFill>
                  <a:schemeClr val="dk1"/>
                </a:solidFill>
              </a:rPr>
              <a:t> every second.</a:t>
            </a:r>
            <a:endParaRPr sz="1900">
              <a:solidFill>
                <a:schemeClr val="dk1"/>
              </a:solidFill>
            </a:endParaRPr>
          </a:p>
          <a:p>
            <a:pPr indent="-3492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</a:pPr>
            <a:r>
              <a:rPr lang="zh-TW" sz="1900">
                <a:solidFill>
                  <a:schemeClr val="dk1"/>
                </a:solidFill>
              </a:rPr>
              <a:t>The format of each websocket message is </a:t>
            </a:r>
            <a:r>
              <a:rPr lang="zh-TW" sz="1900" u="sng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a,b</a:t>
            </a:r>
            <a:endParaRPr sz="1900" u="sng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-34925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Ubuntu Mono"/>
              <a:buChar char="■"/>
            </a:pPr>
            <a:r>
              <a:rPr lang="zh-TW" u="sng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a</a:t>
            </a:r>
            <a:r>
              <a:rPr lang="zh-TW">
                <a:solidFill>
                  <a:schemeClr val="dk1"/>
                </a:solidFill>
              </a:rPr>
              <a:t>: The first line of the output from </a:t>
            </a:r>
            <a:r>
              <a:rPr lang="zh-TW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/dev/sockn</a:t>
            </a:r>
            <a:endParaRPr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-34925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Ubuntu Mono"/>
              <a:buChar char="■"/>
            </a:pPr>
            <a:r>
              <a:rPr lang="zh-TW" u="sng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b</a:t>
            </a:r>
            <a:r>
              <a:rPr lang="zh-TW">
                <a:solidFill>
                  <a:schemeClr val="dk1"/>
                </a:solidFill>
              </a:rPr>
              <a:t>: The second line of the output from </a:t>
            </a:r>
            <a:r>
              <a:rPr lang="zh-TW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/dev/sockn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40"/>
          <p:cNvSpPr txBox="1"/>
          <p:nvPr>
            <p:ph type="title"/>
          </p:nvPr>
        </p:nvSpPr>
        <p:spPr>
          <a:xfrm>
            <a:off x="456532" y="205014"/>
            <a:ext cx="8229600" cy="85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WebSocket (15%)</a:t>
            </a:r>
            <a:endParaRPr/>
          </a:p>
        </p:txBody>
      </p:sp>
      <p:sp>
        <p:nvSpPr>
          <p:cNvPr id="254" name="Google Shape;254;p4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67175" lIns="67175" spcFirstLastPara="1" rIns="67175" wrap="square" tIns="67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55" name="Google Shape;255;p40"/>
          <p:cNvSpPr txBox="1"/>
          <p:nvPr>
            <p:ph idx="1" type="body"/>
          </p:nvPr>
        </p:nvSpPr>
        <p:spPr>
          <a:xfrm>
            <a:off x="431850" y="1359950"/>
            <a:ext cx="8426100" cy="378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zh-TW" sz="2000">
                <a:solidFill>
                  <a:schemeClr val="dk1"/>
                </a:solidFill>
              </a:rPr>
              <a:t>Create a new domain </a:t>
            </a:r>
            <a:r>
              <a:rPr b="1" lang="zh-TW" sz="2000">
                <a:solidFill>
                  <a:schemeClr val="dk1"/>
                </a:solidFill>
              </a:rPr>
              <a:t>{ID}_ws.nycu.cs</a:t>
            </a:r>
            <a:r>
              <a:rPr lang="zh-TW" sz="2000">
                <a:solidFill>
                  <a:schemeClr val="dk1"/>
                </a:solidFill>
              </a:rPr>
              <a:t> without HSTS.</a:t>
            </a:r>
            <a:endParaRPr sz="20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zh-TW" sz="1800">
                <a:solidFill>
                  <a:schemeClr val="dk1"/>
                </a:solidFill>
              </a:rPr>
              <a:t>ws://</a:t>
            </a:r>
            <a:r>
              <a:rPr lang="zh-TW" sz="1800">
                <a:solidFill>
                  <a:srgbClr val="FF0000"/>
                </a:solidFill>
              </a:rPr>
              <a:t>{ID}_ws</a:t>
            </a:r>
            <a:r>
              <a:rPr lang="zh-TW" sz="1800">
                <a:solidFill>
                  <a:schemeClr val="dk1"/>
                </a:solidFill>
              </a:rPr>
              <a:t>.nycu.cs/wsconnect </a:t>
            </a:r>
            <a:r>
              <a:rPr lang="zh-TW" sz="1800">
                <a:solidFill>
                  <a:srgbClr val="FF0000"/>
                </a:solidFill>
              </a:rPr>
              <a:t>on port 80</a:t>
            </a:r>
            <a:r>
              <a:rPr lang="zh-TW" sz="1800">
                <a:solidFill>
                  <a:schemeClr val="dk1"/>
                </a:solidFill>
              </a:rPr>
              <a:t> </a:t>
            </a:r>
            <a:r>
              <a:rPr lang="zh-TW" sz="1800">
                <a:solidFill>
                  <a:schemeClr val="accent5"/>
                </a:solidFill>
              </a:rPr>
              <a:t>(5%)</a:t>
            </a:r>
            <a:endParaRPr sz="1800">
              <a:solidFill>
                <a:schemeClr val="accent5"/>
              </a:solidFill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zh-TW" sz="2000">
                <a:solidFill>
                  <a:schemeClr val="dk1"/>
                </a:solidFill>
              </a:rPr>
              <a:t>Add websocket proxy on </a:t>
            </a:r>
            <a:r>
              <a:rPr b="1" lang="zh-TW" sz="2000">
                <a:solidFill>
                  <a:schemeClr val="dk1"/>
                </a:solidFill>
              </a:rPr>
              <a:t>{ID}.nycu.cs</a:t>
            </a:r>
            <a:endParaRPr sz="20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zh-TW" sz="1800">
                <a:solidFill>
                  <a:schemeClr val="dk1"/>
                </a:solidFill>
              </a:rPr>
              <a:t>wss://{ID}.nycu.cs/wsconnect </a:t>
            </a:r>
            <a:r>
              <a:rPr lang="zh-TW" sz="1800">
                <a:solidFill>
                  <a:srgbClr val="FF0000"/>
                </a:solidFill>
              </a:rPr>
              <a:t>on port 443  </a:t>
            </a:r>
            <a:r>
              <a:rPr lang="zh-TW" sz="1800">
                <a:solidFill>
                  <a:schemeClr val="accent5"/>
                </a:solidFill>
              </a:rPr>
              <a:t>(5%)</a:t>
            </a:r>
            <a:endParaRPr sz="1800">
              <a:solidFill>
                <a:schemeClr val="accent5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2000">
                <a:solidFill>
                  <a:schemeClr val="dk1"/>
                </a:solidFill>
              </a:rPr>
              <a:t>Hint: </a:t>
            </a:r>
            <a:r>
              <a:rPr lang="zh-TW" sz="2000" u="sng">
                <a:solidFill>
                  <a:schemeClr val="hlink"/>
                </a:solidFill>
                <a:hlinkClick r:id="rId3"/>
              </a:rPr>
              <a:t>websocketd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1"/>
          <p:cNvSpPr txBox="1"/>
          <p:nvPr>
            <p:ph type="title"/>
          </p:nvPr>
        </p:nvSpPr>
        <p:spPr>
          <a:xfrm>
            <a:off x="456532" y="205014"/>
            <a:ext cx="8229600" cy="85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WebSocket (15%)</a:t>
            </a:r>
            <a:endParaRPr/>
          </a:p>
        </p:txBody>
      </p:sp>
      <p:sp>
        <p:nvSpPr>
          <p:cNvPr id="261" name="Google Shape;261;p4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67175" lIns="67175" spcFirstLastPara="1" rIns="67175" wrap="square" tIns="67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62" name="Google Shape;262;p41"/>
          <p:cNvSpPr txBox="1"/>
          <p:nvPr>
            <p:ph idx="1" type="body"/>
          </p:nvPr>
        </p:nvSpPr>
        <p:spPr>
          <a:xfrm>
            <a:off x="431850" y="1359950"/>
            <a:ext cx="8426100" cy="378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zh-TW" sz="2000">
                <a:solidFill>
                  <a:schemeClr val="dk1"/>
                </a:solidFill>
              </a:rPr>
              <a:t>Create a webpage</a:t>
            </a:r>
            <a:r>
              <a:rPr lang="zh-TW" sz="1900">
                <a:solidFill>
                  <a:schemeClr val="dk1"/>
                </a:solidFill>
              </a:rPr>
              <a:t> </a:t>
            </a:r>
            <a:r>
              <a:rPr lang="zh-TW" sz="1900">
                <a:solidFill>
                  <a:schemeClr val="accent5"/>
                </a:solidFill>
              </a:rPr>
              <a:t>(5%)</a:t>
            </a:r>
            <a:endParaRPr sz="2000">
              <a:solidFill>
                <a:schemeClr val="accent5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900">
                <a:solidFill>
                  <a:schemeClr val="dk1"/>
                </a:solidFill>
              </a:rPr>
              <a:t>http://</a:t>
            </a:r>
            <a:r>
              <a:rPr lang="zh-TW" sz="1900">
                <a:solidFill>
                  <a:srgbClr val="FF0000"/>
                </a:solidFill>
              </a:rPr>
              <a:t>{ID}_ws</a:t>
            </a:r>
            <a:r>
              <a:rPr lang="zh-TW" sz="1900">
                <a:solidFill>
                  <a:schemeClr val="dk1"/>
                </a:solidFill>
              </a:rPr>
              <a:t>.nycu.cs/wsdemo.html</a:t>
            </a:r>
            <a:endParaRPr sz="19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900">
                <a:solidFill>
                  <a:schemeClr val="dk1"/>
                </a:solidFill>
              </a:rPr>
              <a:t>to connect to</a:t>
            </a:r>
            <a:endParaRPr sz="1900">
              <a:solidFill>
                <a:schemeClr val="dk1"/>
              </a:solidFill>
            </a:endParaRPr>
          </a:p>
          <a:p>
            <a:pPr indent="-3365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■"/>
            </a:pPr>
            <a:r>
              <a:rPr lang="zh-TW" sz="1700">
                <a:solidFill>
                  <a:schemeClr val="dk1"/>
                </a:solidFill>
              </a:rPr>
              <a:t>ws://</a:t>
            </a:r>
            <a:r>
              <a:rPr lang="zh-TW" sz="1700">
                <a:solidFill>
                  <a:srgbClr val="FF0000"/>
                </a:solidFill>
              </a:rPr>
              <a:t>{ID}_ws</a:t>
            </a:r>
            <a:r>
              <a:rPr lang="zh-TW" sz="1700">
                <a:solidFill>
                  <a:schemeClr val="dk1"/>
                </a:solidFill>
              </a:rPr>
              <a:t>.nycu.cs/wsconnect </a:t>
            </a:r>
            <a:r>
              <a:rPr lang="zh-TW" sz="1700">
                <a:solidFill>
                  <a:srgbClr val="FF0000"/>
                </a:solidFill>
              </a:rPr>
              <a:t>on port 80</a:t>
            </a:r>
            <a:endParaRPr sz="1700">
              <a:solidFill>
                <a:schemeClr val="dk1"/>
              </a:solidFill>
            </a:endParaRPr>
          </a:p>
          <a:p>
            <a:pPr indent="-3365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■"/>
            </a:pPr>
            <a:r>
              <a:rPr lang="zh-TW" sz="1700">
                <a:solidFill>
                  <a:schemeClr val="dk1"/>
                </a:solidFill>
              </a:rPr>
              <a:t>wss://{ID}.nycu.cs/wsconnect </a:t>
            </a:r>
            <a:r>
              <a:rPr lang="zh-TW" sz="1700">
                <a:solidFill>
                  <a:srgbClr val="FF0000"/>
                </a:solidFill>
              </a:rPr>
              <a:t>on port 443</a:t>
            </a:r>
            <a:endParaRPr sz="1700">
              <a:solidFill>
                <a:srgbClr val="FF0000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zh-TW" sz="2000">
                <a:solidFill>
                  <a:schemeClr val="dk1"/>
                </a:solidFill>
              </a:rPr>
              <a:t>And show your results side by side on that webpage. (See next slide)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zh-TW" sz="2000">
                <a:solidFill>
                  <a:srgbClr val="FF9900"/>
                </a:solidFill>
              </a:rPr>
              <a:t>Bonus</a:t>
            </a:r>
            <a:r>
              <a:rPr lang="zh-TW" sz="2000">
                <a:solidFill>
                  <a:schemeClr val="dk1"/>
                </a:solidFill>
              </a:rPr>
              <a:t>: Add a line chart to show changes of the amount of sockets (first line of </a:t>
            </a:r>
            <a:r>
              <a:rPr lang="zh-TW" sz="20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/dev/sockn</a:t>
            </a:r>
            <a:r>
              <a:rPr lang="zh-TW" sz="2000">
                <a:solidFill>
                  <a:schemeClr val="dk1"/>
                </a:solidFill>
              </a:rPr>
              <a:t>). </a:t>
            </a:r>
            <a:r>
              <a:rPr lang="zh-TW" sz="2000">
                <a:solidFill>
                  <a:srgbClr val="FF9900"/>
                </a:solidFill>
              </a:rPr>
              <a:t>(+5%)</a:t>
            </a:r>
            <a:endParaRPr sz="2000">
              <a:solidFill>
                <a:srgbClr val="FF99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chemeClr val="dk1"/>
                </a:solidFill>
              </a:rPr>
              <a:t>Hint: You might need to trust your self-signed certificate to see wss on your browser.</a:t>
            </a:r>
            <a:endParaRPr sz="1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42"/>
          <p:cNvSpPr txBox="1"/>
          <p:nvPr>
            <p:ph type="title"/>
          </p:nvPr>
        </p:nvSpPr>
        <p:spPr>
          <a:xfrm>
            <a:off x="456532" y="205014"/>
            <a:ext cx="8229600" cy="85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WebSocket (15%) (Example)</a:t>
            </a:r>
            <a:endParaRPr/>
          </a:p>
        </p:txBody>
      </p:sp>
      <p:sp>
        <p:nvSpPr>
          <p:cNvPr id="268" name="Google Shape;268;p42"/>
          <p:cNvSpPr txBox="1"/>
          <p:nvPr/>
        </p:nvSpPr>
        <p:spPr>
          <a:xfrm>
            <a:off x="456525" y="3810850"/>
            <a:ext cx="6578100" cy="8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2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https://imgur.com/a/Az70egl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9" name="Google Shape;269;p4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67175" lIns="67175" spcFirstLastPara="1" rIns="67175" wrap="square" tIns="67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270" name="Google Shape;270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76575" y="1297414"/>
            <a:ext cx="4581525" cy="1895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3"/>
          <p:cNvSpPr txBox="1"/>
          <p:nvPr>
            <p:ph type="title"/>
          </p:nvPr>
        </p:nvSpPr>
        <p:spPr>
          <a:xfrm>
            <a:off x="456532" y="205014"/>
            <a:ext cx="8229600" cy="85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Hints</a:t>
            </a:r>
            <a:endParaRPr/>
          </a:p>
        </p:txBody>
      </p:sp>
      <p:sp>
        <p:nvSpPr>
          <p:cNvPr id="276" name="Google Shape;276;p4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67175" lIns="67175" spcFirstLastPara="1" rIns="67175" wrap="square" tIns="67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77" name="Google Shape;277;p43"/>
          <p:cNvSpPr txBox="1"/>
          <p:nvPr>
            <p:ph idx="1" type="body"/>
          </p:nvPr>
        </p:nvSpPr>
        <p:spPr>
          <a:xfrm>
            <a:off x="431850" y="1359950"/>
            <a:ext cx="8426100" cy="378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292100" lvl="0" marL="330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lang="zh-TW" sz="2000">
                <a:solidFill>
                  <a:schemeClr val="dk1"/>
                </a:solidFill>
              </a:rPr>
              <a:t>You can use </a:t>
            </a:r>
            <a:r>
              <a:rPr b="1" lang="zh-TW" sz="2000">
                <a:solidFill>
                  <a:schemeClr val="dk1"/>
                </a:solidFill>
              </a:rPr>
              <a:t>Apache </a:t>
            </a:r>
            <a:r>
              <a:rPr lang="zh-TW" sz="2000">
                <a:solidFill>
                  <a:schemeClr val="dk1"/>
                </a:solidFill>
              </a:rPr>
              <a:t>or </a:t>
            </a:r>
            <a:r>
              <a:rPr b="1" lang="zh-TW" sz="2000">
                <a:solidFill>
                  <a:schemeClr val="dk1"/>
                </a:solidFill>
              </a:rPr>
              <a:t>Nginx </a:t>
            </a:r>
            <a:r>
              <a:rPr lang="zh-TW" sz="2000">
                <a:solidFill>
                  <a:schemeClr val="dk1"/>
                </a:solidFill>
              </a:rPr>
              <a:t>to complete this homework.</a:t>
            </a:r>
            <a:endParaRPr sz="2000">
              <a:solidFill>
                <a:schemeClr val="dk1"/>
              </a:solidFill>
            </a:endParaRPr>
          </a:p>
          <a:p>
            <a:pPr indent="-292100" lvl="0" marL="330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lang="zh-TW" sz="2000">
                <a:solidFill>
                  <a:schemeClr val="dk1"/>
                </a:solidFill>
              </a:rPr>
              <a:t>Although you can not test your setup in 10.113.0.x network, you can use ip from another interface or port forwarding.</a:t>
            </a:r>
            <a:endParaRPr sz="2000">
              <a:solidFill>
                <a:schemeClr val="dk1"/>
              </a:solidFill>
            </a:endParaRPr>
          </a:p>
          <a:p>
            <a:pPr indent="-292100" lvl="0" marL="330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lang="zh-TW" sz="2000">
                <a:solidFill>
                  <a:schemeClr val="dk1"/>
                </a:solidFill>
              </a:rPr>
              <a:t>If you find your system too slow, please consider adding more RAM to it.</a:t>
            </a:r>
            <a:endParaRPr sz="2000">
              <a:solidFill>
                <a:schemeClr val="dk1"/>
              </a:solidFill>
            </a:endParaRPr>
          </a:p>
          <a:p>
            <a:pPr indent="-292100" lvl="0" marL="330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lang="zh-TW" sz="2000">
                <a:solidFill>
                  <a:schemeClr val="dk1"/>
                </a:solidFill>
              </a:rPr>
              <a:t>If wss or https did not work, make sure you have trusted the self-signed certificate.</a:t>
            </a:r>
            <a:endParaRPr sz="20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4"/>
          <p:cNvSpPr txBox="1"/>
          <p:nvPr>
            <p:ph type="title"/>
          </p:nvPr>
        </p:nvSpPr>
        <p:spPr>
          <a:xfrm>
            <a:off x="456532" y="205014"/>
            <a:ext cx="8229600" cy="85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Homework 4</a:t>
            </a:r>
            <a:endParaRPr/>
          </a:p>
        </p:txBody>
      </p:sp>
      <p:sp>
        <p:nvSpPr>
          <p:cNvPr id="283" name="Google Shape;283;p4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67175" lIns="67175" spcFirstLastPara="1" rIns="67175" wrap="square" tIns="67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84" name="Google Shape;284;p44"/>
          <p:cNvSpPr txBox="1"/>
          <p:nvPr>
            <p:ph idx="1" type="body"/>
          </p:nvPr>
        </p:nvSpPr>
        <p:spPr>
          <a:xfrm>
            <a:off x="431850" y="1359950"/>
            <a:ext cx="8426100" cy="378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292100" lvl="0" marL="330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lang="zh-TW" sz="2000">
                <a:solidFill>
                  <a:schemeClr val="dk1"/>
                </a:solidFill>
              </a:rPr>
              <a:t>BACKUP your server before judge EVERY TIME.</a:t>
            </a:r>
            <a:endParaRPr sz="2000">
              <a:solidFill>
                <a:schemeClr val="dk1"/>
              </a:solidFill>
            </a:endParaRPr>
          </a:p>
          <a:p>
            <a:pPr indent="-292100" lvl="0" marL="330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lang="zh-TW" sz="2000">
                <a:solidFill>
                  <a:schemeClr val="dk1"/>
                </a:solidFill>
              </a:rPr>
              <a:t>We may do some things bad when judging.</a:t>
            </a:r>
            <a:endParaRPr sz="2000">
              <a:solidFill>
                <a:schemeClr val="dk1"/>
              </a:solidFill>
            </a:endParaRPr>
          </a:p>
          <a:p>
            <a:pPr indent="-292100" lvl="0" marL="330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lang="zh-TW" sz="2000">
                <a:solidFill>
                  <a:schemeClr val="dk1"/>
                </a:solidFill>
              </a:rPr>
              <a:t>TAs reserve the right of final explanations.</a:t>
            </a:r>
            <a:endParaRPr sz="2000">
              <a:solidFill>
                <a:schemeClr val="dk1"/>
              </a:solidFill>
            </a:endParaRPr>
          </a:p>
          <a:p>
            <a:pPr indent="-292100" lvl="0" marL="330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lang="zh-TW" sz="2000">
                <a:solidFill>
                  <a:schemeClr val="dk1"/>
                </a:solidFill>
              </a:rPr>
              <a:t>Start scoring at 2021/11/27 00:00</a:t>
            </a:r>
            <a:endParaRPr sz="2000">
              <a:solidFill>
                <a:schemeClr val="dk1"/>
              </a:solidFill>
            </a:endParaRPr>
          </a:p>
          <a:p>
            <a:pPr indent="-292100" lvl="0" marL="330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AutoNum type="arabicPeriod"/>
            </a:pPr>
            <a:r>
              <a:rPr lang="zh-TW" sz="2000">
                <a:solidFill>
                  <a:srgbClr val="FF0000"/>
                </a:solidFill>
              </a:rPr>
              <a:t>Deadline: 2021/12/20 23:59</a:t>
            </a:r>
            <a:endParaRPr sz="20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45"/>
          <p:cNvSpPr txBox="1"/>
          <p:nvPr>
            <p:ph type="title"/>
          </p:nvPr>
        </p:nvSpPr>
        <p:spPr>
          <a:xfrm>
            <a:off x="456532" y="205014"/>
            <a:ext cx="8229600" cy="85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Help me! TA!</a:t>
            </a:r>
            <a:endParaRPr/>
          </a:p>
        </p:txBody>
      </p:sp>
      <p:sp>
        <p:nvSpPr>
          <p:cNvPr id="290" name="Google Shape;290;p4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67175" lIns="67175" spcFirstLastPara="1" rIns="67175" wrap="square" tIns="67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91" name="Google Shape;291;p45"/>
          <p:cNvSpPr txBox="1"/>
          <p:nvPr>
            <p:ph idx="1" type="body"/>
          </p:nvPr>
        </p:nvSpPr>
        <p:spPr>
          <a:xfrm>
            <a:off x="431850" y="1359950"/>
            <a:ext cx="8426100" cy="378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298450" lvl="0" marL="330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zh-TW" sz="2100">
                <a:solidFill>
                  <a:schemeClr val="dk1"/>
                </a:solidFill>
              </a:rPr>
              <a:t>TA time: 3 GH at EC 324 (PC Lab) or by appointment (mail us).</a:t>
            </a:r>
            <a:endParaRPr sz="1900">
              <a:solidFill>
                <a:schemeClr val="dk1"/>
              </a:solidFill>
            </a:endParaRPr>
          </a:p>
          <a:p>
            <a:pPr indent="-298450" lvl="0" marL="330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zh-TW" sz="2100">
                <a:solidFill>
                  <a:schemeClr val="dk1"/>
                </a:solidFill>
              </a:rPr>
              <a:t>Questions about this homework</a:t>
            </a:r>
            <a:endParaRPr sz="2100">
              <a:solidFill>
                <a:schemeClr val="dk1"/>
              </a:solidFill>
            </a:endParaRPr>
          </a:p>
          <a:p>
            <a:pPr indent="-285750" lvl="1" marL="6731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</a:pPr>
            <a:r>
              <a:rPr lang="zh-TW" sz="1900">
                <a:solidFill>
                  <a:schemeClr val="dk1"/>
                </a:solidFill>
              </a:rPr>
              <a:t>Ask them on </a:t>
            </a:r>
            <a:r>
              <a:rPr lang="zh-TW" sz="1900" u="sng">
                <a:solidFill>
                  <a:schemeClr val="hlink"/>
                </a:solidFill>
                <a:hlinkClick r:id="rId3"/>
              </a:rPr>
              <a:t>https://groups.google.com/g/nctunasa</a:t>
            </a:r>
            <a:endParaRPr sz="1900">
              <a:solidFill>
                <a:schemeClr val="dk1"/>
              </a:solidFill>
            </a:endParaRPr>
          </a:p>
          <a:p>
            <a:pPr indent="-285750" lvl="1" marL="6731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</a:pPr>
            <a:r>
              <a:rPr lang="zh-TW" sz="1900">
                <a:solidFill>
                  <a:schemeClr val="dk1"/>
                </a:solidFill>
              </a:rPr>
              <a:t>We </a:t>
            </a:r>
            <a:r>
              <a:rPr lang="zh-TW" sz="1900" u="sng">
                <a:solidFill>
                  <a:schemeClr val="dk1"/>
                </a:solidFill>
              </a:rPr>
              <a:t>MIGHT</a:t>
            </a:r>
            <a:r>
              <a:rPr lang="zh-TW" sz="1900">
                <a:solidFill>
                  <a:schemeClr val="dk1"/>
                </a:solidFill>
              </a:rPr>
              <a:t> give out hints on google group</a:t>
            </a:r>
            <a:endParaRPr sz="1900">
              <a:solidFill>
                <a:schemeClr val="dk1"/>
              </a:solidFill>
            </a:endParaRPr>
          </a:p>
          <a:p>
            <a:pPr indent="-273050" lvl="2" marL="10033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■"/>
            </a:pPr>
            <a:r>
              <a:rPr lang="zh-TW" sz="1700">
                <a:solidFill>
                  <a:schemeClr val="dk1"/>
                </a:solidFill>
              </a:rPr>
              <a:t>Be sure to join the group :D</a:t>
            </a:r>
            <a:endParaRPr sz="1700">
              <a:solidFill>
                <a:schemeClr val="dk1"/>
              </a:solidFill>
            </a:endParaRPr>
          </a:p>
          <a:p>
            <a:pPr indent="-292100" lvl="1" marL="6731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○"/>
            </a:pPr>
            <a:r>
              <a:rPr lang="zh-TW" sz="1900">
                <a:solidFill>
                  <a:schemeClr val="dk1"/>
                </a:solidFill>
              </a:rPr>
              <a:t>Do not use E3 to email us</a:t>
            </a:r>
            <a:r>
              <a:rPr lang="zh-TW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9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46"/>
          <p:cNvSpPr txBox="1"/>
          <p:nvPr/>
        </p:nvSpPr>
        <p:spPr>
          <a:xfrm>
            <a:off x="418122" y="205014"/>
            <a:ext cx="8229600" cy="303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5900" strike="noStrike">
              <a:solidFill>
                <a:srgbClr val="04617B"/>
              </a:solidFill>
              <a:latin typeface="Source Sans Pro Light"/>
              <a:ea typeface="Source Sans Pro Light"/>
              <a:cs typeface="Source Sans Pro Light"/>
              <a:sym typeface="Source Sans Pro Light"/>
            </a:endParaRPr>
          </a:p>
        </p:txBody>
      </p:sp>
      <p:sp>
        <p:nvSpPr>
          <p:cNvPr id="297" name="Google Shape;297;p46"/>
          <p:cNvSpPr txBox="1"/>
          <p:nvPr/>
        </p:nvSpPr>
        <p:spPr>
          <a:xfrm>
            <a:off x="421414" y="3549168"/>
            <a:ext cx="8223000" cy="10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 strike="noStrike">
              <a:solidFill>
                <a:srgbClr val="DBF5F9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98" name="Google Shape;298;p46"/>
          <p:cNvSpPr txBox="1"/>
          <p:nvPr>
            <p:ph type="title"/>
          </p:nvPr>
        </p:nvSpPr>
        <p:spPr>
          <a:xfrm>
            <a:off x="457170" y="2320097"/>
            <a:ext cx="8229600" cy="85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Good Luck!</a:t>
            </a:r>
            <a:endParaRPr sz="2900"/>
          </a:p>
        </p:txBody>
      </p:sp>
      <p:sp>
        <p:nvSpPr>
          <p:cNvPr id="299" name="Google Shape;299;p4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67175" lIns="67175" spcFirstLastPara="1" rIns="67175" wrap="square" tIns="67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SCC NASA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