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3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1998325" cy="7559675"/>
  <p:notesSz cx="7559675" cy="10691813"/>
  <p:embeddedFontLst>
    <p:embeddedFont>
      <p:font typeface="Microsoft JhengHei" panose="020B0604030504040204" pitchFamily="34" charset="-120"/>
      <p:regular r:id="rId29"/>
      <p:bold r:id="rId30"/>
    </p:embeddedFont>
    <p:embeddedFont>
      <p:font typeface="Source Sans Pro" panose="020B0503030403020204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-Wen Hsu" initials="" lastIdx="2" clrIdx="0"/>
  <p:cmAuthor id="1" name="Jui-Nan Eric Lin" initials="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4F4C448-EC8A-454B-8910-4292C318B576}">
  <a:tblStyle styleId="{A4F4C448-EC8A-454B-8910-4292C318B5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a42242cff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a42242cff4_0_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af58b2f7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af58b2f7d6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af58b2f7d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af58b2f7d6_0_3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b06c306e2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b06c306e2f_0_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b06c306e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b06c306e2f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af58b2f7d6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af58b2f7d6_0_5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af58b2f7d6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af58b2f7d6_0_8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af58b2f7d6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af58b2f7d6_0_8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af58b2f7d6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af58b2f7d6_0_9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af58b2f7d6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af58b2f7d6_0_10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af58b2f7d6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af58b2f7d6_0_10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af58b2f7d6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af58b2f7d6_0_12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af58b2f7d6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af58b2f7d6_0_13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af58b2f7d6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af58b2f7d6_0_15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af58b2f7d6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af58b2f7d6_0_16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af58b2f7d6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af58b2f7d6_0_17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af58b2f7d6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af58b2f7d6_0_17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af58b2f7d6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af58b2f7d6_0_18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af58b2f7d6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af58b2f7d6_0_19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af58b2f7d6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af58b2f7d6_0_20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af58b2f7d6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af58b2f7d6_0_24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af58b2f7d6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af58b2f7d6_0_26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af58b2f7d6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af58b2f7d6_0_27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af58b2f7d6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af58b2f7d6_0_28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af58b2f7d6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af58b2f7d6_0_29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a826d0ab0f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a826d0ab0f_1_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大標題" type="tx">
  <p:cSld name="TITLE_AND_BODY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5272075" y="6385700"/>
            <a:ext cx="6126300" cy="10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交大資工系資訊中心</a:t>
            </a:r>
            <a:endParaRPr sz="30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 of Department of Computer Science, NCTU</a:t>
            </a:r>
            <a:endParaRPr sz="11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5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 amt="90000"/>
          </a:blip>
          <a:srcRect/>
          <a:stretch/>
        </p:blipFill>
        <p:spPr>
          <a:xfrm>
            <a:off x="10377600" y="242225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3600"/>
              <a:buFont typeface="Source Sans Pro"/>
              <a:buNone/>
              <a:defRPr sz="3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 (程式碼)">
  <p:cSld name="OBJECT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" name="Google Shape;23;p4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 (程式碼)">
  <p:cSld name="CUSTOM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6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bsd.org/cgi/man.cgi?mount_nfs(8)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bsd.org/cgi/man.cgi?zfs(8)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Network File System</a:t>
            </a:r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lwhsu (2019-2020, CC BY)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? (?-2018)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NFS</a:t>
            </a:r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57918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Share filesystem(s) to other hosts via network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NFS History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Introduced by Sun Microsystems in 1985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Originally designed for diskless client-server architecture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" name="Google Shape;50;p8"/>
          <p:cNvGrpSpPr/>
          <p:nvPr/>
        </p:nvGrpSpPr>
        <p:grpSpPr>
          <a:xfrm>
            <a:off x="807475" y="5264625"/>
            <a:ext cx="4854375" cy="1897050"/>
            <a:chOff x="350275" y="3969225"/>
            <a:chExt cx="4854375" cy="1897050"/>
          </a:xfrm>
        </p:grpSpPr>
        <p:sp>
          <p:nvSpPr>
            <p:cNvPr id="51" name="Google Shape;51;p8"/>
            <p:cNvSpPr/>
            <p:nvPr/>
          </p:nvSpPr>
          <p:spPr>
            <a:xfrm>
              <a:off x="2417463" y="3969225"/>
              <a:ext cx="720000" cy="578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Times New Roman"/>
                  <a:ea typeface="Times New Roman"/>
                  <a:cs typeface="Times New Roman"/>
                  <a:sym typeface="Times New Roman"/>
                </a:rPr>
                <a:t>Home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" name="Google Shape;52;p8"/>
            <p:cNvSpPr/>
            <p:nvPr/>
          </p:nvSpPr>
          <p:spPr>
            <a:xfrm>
              <a:off x="350275" y="5287575"/>
              <a:ext cx="720000" cy="578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Times New Roman"/>
                  <a:ea typeface="Times New Roman"/>
                  <a:cs typeface="Times New Roman"/>
                  <a:sym typeface="Times New Roman"/>
                </a:rPr>
                <a:t>bsd1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" name="Google Shape;53;p8"/>
            <p:cNvSpPr/>
            <p:nvPr/>
          </p:nvSpPr>
          <p:spPr>
            <a:xfrm>
              <a:off x="1322000" y="5287575"/>
              <a:ext cx="720000" cy="578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Times New Roman"/>
                  <a:ea typeface="Times New Roman"/>
                  <a:cs typeface="Times New Roman"/>
                  <a:sym typeface="Times New Roman"/>
                </a:rPr>
                <a:t>bsd2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" name="Google Shape;54;p8"/>
            <p:cNvSpPr/>
            <p:nvPr/>
          </p:nvSpPr>
          <p:spPr>
            <a:xfrm>
              <a:off x="3512925" y="5287575"/>
              <a:ext cx="720000" cy="578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Times New Roman"/>
                  <a:ea typeface="Times New Roman"/>
                  <a:cs typeface="Times New Roman"/>
                  <a:sym typeface="Times New Roman"/>
                </a:rPr>
                <a:t>linux1	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" name="Google Shape;55;p8"/>
            <p:cNvSpPr/>
            <p:nvPr/>
          </p:nvSpPr>
          <p:spPr>
            <a:xfrm>
              <a:off x="4484650" y="5287575"/>
              <a:ext cx="720000" cy="578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Times New Roman"/>
                  <a:ea typeface="Times New Roman"/>
                  <a:cs typeface="Times New Roman"/>
                  <a:sym typeface="Times New Roman"/>
                </a:rPr>
                <a:t>linux2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" name="Google Shape;56;p8"/>
            <p:cNvSpPr/>
            <p:nvPr/>
          </p:nvSpPr>
          <p:spPr>
            <a:xfrm rot="5400000">
              <a:off x="2695575" y="4124400"/>
              <a:ext cx="163800" cy="1586700"/>
            </a:xfrm>
            <a:prstGeom prst="can">
              <a:avLst>
                <a:gd name="adj" fmla="val 72389"/>
              </a:avLst>
            </a:prstGeom>
            <a:solidFill>
              <a:srgbClr val="4A86E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7" name="Google Shape;57;p8"/>
            <p:cNvCxnSpPr>
              <a:stCxn id="52" idx="0"/>
              <a:endCxn id="56" idx="3"/>
            </p:cNvCxnSpPr>
            <p:nvPr/>
          </p:nvCxnSpPr>
          <p:spPr>
            <a:xfrm rot="-5400000">
              <a:off x="1162225" y="4465725"/>
              <a:ext cx="369900" cy="1273800"/>
            </a:xfrm>
            <a:prstGeom prst="bentConnector2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>
              <a:stCxn id="53" idx="0"/>
              <a:endCxn id="56" idx="3"/>
            </p:cNvCxnSpPr>
            <p:nvPr/>
          </p:nvCxnSpPr>
          <p:spPr>
            <a:xfrm rot="-5400000">
              <a:off x="1648100" y="4951575"/>
              <a:ext cx="369900" cy="302100"/>
            </a:xfrm>
            <a:prstGeom prst="bentConnector2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>
              <a:stCxn id="54" idx="0"/>
              <a:endCxn id="56" idx="1"/>
            </p:cNvCxnSpPr>
            <p:nvPr/>
          </p:nvCxnSpPr>
          <p:spPr>
            <a:xfrm rot="5400000" flipH="1">
              <a:off x="3536925" y="4951575"/>
              <a:ext cx="369900" cy="302100"/>
            </a:xfrm>
            <a:prstGeom prst="bentConnector2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" name="Google Shape;60;p8"/>
            <p:cNvCxnSpPr>
              <a:stCxn id="55" idx="0"/>
              <a:endCxn id="56" idx="1"/>
            </p:cNvCxnSpPr>
            <p:nvPr/>
          </p:nvCxnSpPr>
          <p:spPr>
            <a:xfrm rot="5400000" flipH="1">
              <a:off x="4022800" y="4465725"/>
              <a:ext cx="369900" cy="1273800"/>
            </a:xfrm>
            <a:prstGeom prst="bentConnector2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1" name="Google Shape;61;p8"/>
            <p:cNvSpPr txBox="1"/>
            <p:nvPr/>
          </p:nvSpPr>
          <p:spPr>
            <a:xfrm>
              <a:off x="2372300" y="5386425"/>
              <a:ext cx="810300" cy="28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</a:rPr>
                <a:t>．．．</a:t>
              </a:r>
              <a:endParaRPr/>
            </a:p>
          </p:txBody>
        </p:sp>
        <p:cxnSp>
          <p:nvCxnSpPr>
            <p:cNvPr id="62" name="Google Shape;62;p8"/>
            <p:cNvCxnSpPr>
              <a:stCxn id="56" idx="2"/>
              <a:endCxn id="51" idx="2"/>
            </p:cNvCxnSpPr>
            <p:nvPr/>
          </p:nvCxnSpPr>
          <p:spPr>
            <a:xfrm rot="10800000">
              <a:off x="2777475" y="4547850"/>
              <a:ext cx="0" cy="2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3" name="Google Shape;63;p8"/>
          <p:cNvGrpSpPr/>
          <p:nvPr/>
        </p:nvGrpSpPr>
        <p:grpSpPr>
          <a:xfrm>
            <a:off x="6958812" y="1158650"/>
            <a:ext cx="3955267" cy="3844664"/>
            <a:chOff x="7505238" y="1563425"/>
            <a:chExt cx="3409125" cy="3439800"/>
          </a:xfrm>
        </p:grpSpPr>
        <p:sp>
          <p:nvSpPr>
            <p:cNvPr id="64" name="Google Shape;64;p8"/>
            <p:cNvSpPr/>
            <p:nvPr/>
          </p:nvSpPr>
          <p:spPr>
            <a:xfrm>
              <a:off x="7505238" y="1563425"/>
              <a:ext cx="720000" cy="578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Times New Roman"/>
                  <a:ea typeface="Times New Roman"/>
                  <a:cs typeface="Times New Roman"/>
                  <a:sym typeface="Times New Roman"/>
                </a:rPr>
                <a:t>PC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" name="Google Shape;65;p8"/>
            <p:cNvSpPr/>
            <p:nvPr/>
          </p:nvSpPr>
          <p:spPr>
            <a:xfrm>
              <a:off x="7505238" y="2993975"/>
              <a:ext cx="720000" cy="578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Times New Roman"/>
                  <a:ea typeface="Times New Roman"/>
                  <a:cs typeface="Times New Roman"/>
                  <a:sym typeface="Times New Roman"/>
                </a:rPr>
                <a:t>PC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" name="Google Shape;66;p8"/>
            <p:cNvSpPr/>
            <p:nvPr/>
          </p:nvSpPr>
          <p:spPr>
            <a:xfrm>
              <a:off x="7505238" y="4424525"/>
              <a:ext cx="720000" cy="578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Times New Roman"/>
                  <a:ea typeface="Times New Roman"/>
                  <a:cs typeface="Times New Roman"/>
                  <a:sym typeface="Times New Roman"/>
                </a:rPr>
                <a:t>PC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" name="Google Shape;67;p8"/>
            <p:cNvSpPr/>
            <p:nvPr/>
          </p:nvSpPr>
          <p:spPr>
            <a:xfrm>
              <a:off x="10194363" y="2278700"/>
              <a:ext cx="720000" cy="578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Times New Roman"/>
                  <a:ea typeface="Times New Roman"/>
                  <a:cs typeface="Times New Roman"/>
                  <a:sym typeface="Times New Roman"/>
                </a:rPr>
                <a:t>Server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" name="Google Shape;68;p8"/>
            <p:cNvSpPr/>
            <p:nvPr/>
          </p:nvSpPr>
          <p:spPr>
            <a:xfrm>
              <a:off x="10172238" y="3709250"/>
              <a:ext cx="720000" cy="578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Times New Roman"/>
                  <a:ea typeface="Times New Roman"/>
                  <a:cs typeface="Times New Roman"/>
                  <a:sym typeface="Times New Roman"/>
                </a:rPr>
                <a:t>Server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9" name="Google Shape;69;p8"/>
            <p:cNvCxnSpPr>
              <a:stCxn id="64" idx="3"/>
              <a:endCxn id="67" idx="1"/>
            </p:cNvCxnSpPr>
            <p:nvPr/>
          </p:nvCxnSpPr>
          <p:spPr>
            <a:xfrm>
              <a:off x="8225238" y="1852775"/>
              <a:ext cx="1969200" cy="715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0" name="Google Shape;70;p8"/>
            <p:cNvCxnSpPr>
              <a:stCxn id="67" idx="1"/>
              <a:endCxn id="65" idx="3"/>
            </p:cNvCxnSpPr>
            <p:nvPr/>
          </p:nvCxnSpPr>
          <p:spPr>
            <a:xfrm flipH="1">
              <a:off x="8225163" y="2568050"/>
              <a:ext cx="1969200" cy="715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1" name="Google Shape;71;p8"/>
            <p:cNvCxnSpPr>
              <a:stCxn id="65" idx="3"/>
              <a:endCxn id="68" idx="1"/>
            </p:cNvCxnSpPr>
            <p:nvPr/>
          </p:nvCxnSpPr>
          <p:spPr>
            <a:xfrm>
              <a:off x="8225238" y="3283325"/>
              <a:ext cx="1947000" cy="715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2" name="Google Shape;72;p8"/>
            <p:cNvCxnSpPr>
              <a:stCxn id="68" idx="1"/>
              <a:endCxn id="66" idx="3"/>
            </p:cNvCxnSpPr>
            <p:nvPr/>
          </p:nvCxnSpPr>
          <p:spPr>
            <a:xfrm flipH="1">
              <a:off x="8225238" y="3998600"/>
              <a:ext cx="1947000" cy="715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3" name="Google Shape;73;p8"/>
            <p:cNvSpPr txBox="1"/>
            <p:nvPr/>
          </p:nvSpPr>
          <p:spPr>
            <a:xfrm rot="1188832">
              <a:off x="8531317" y="1905831"/>
              <a:ext cx="1509887" cy="5653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Times New Roman"/>
                  <a:ea typeface="Times New Roman"/>
                  <a:cs typeface="Times New Roman"/>
                  <a:sym typeface="Times New Roman"/>
                </a:rPr>
                <a:t>bootp request via MAC address 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" name="Google Shape;74;p8"/>
            <p:cNvSpPr txBox="1"/>
            <p:nvPr/>
          </p:nvSpPr>
          <p:spPr>
            <a:xfrm rot="1188832">
              <a:off x="8531317" y="3358231"/>
              <a:ext cx="1509887" cy="5653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Times New Roman"/>
                  <a:ea typeface="Times New Roman"/>
                  <a:cs typeface="Times New Roman"/>
                  <a:sym typeface="Times New Roman"/>
                </a:rPr>
                <a:t>read only NFS mount / request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" name="Google Shape;75;p8"/>
            <p:cNvSpPr txBox="1"/>
            <p:nvPr/>
          </p:nvSpPr>
          <p:spPr>
            <a:xfrm rot="-1188832" flipH="1">
              <a:off x="8454880" y="2610181"/>
              <a:ext cx="1509887" cy="5653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Times New Roman"/>
                  <a:ea typeface="Times New Roman"/>
                  <a:cs typeface="Times New Roman"/>
                  <a:sym typeface="Times New Roman"/>
                </a:rPr>
                <a:t>IP Number and kernel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" name="Google Shape;76;p8"/>
            <p:cNvSpPr txBox="1"/>
            <p:nvPr/>
          </p:nvSpPr>
          <p:spPr>
            <a:xfrm rot="-1188832" flipH="1">
              <a:off x="8378530" y="4073506"/>
              <a:ext cx="1509887" cy="5653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Times New Roman"/>
                  <a:ea typeface="Times New Roman"/>
                  <a:cs typeface="Times New Roman"/>
                  <a:sym typeface="Times New Roman"/>
                </a:rPr>
                <a:t>NFS root mount (read-only)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77" name="Google Shape;77;p8"/>
          <p:cNvSpPr txBox="1"/>
          <p:nvPr/>
        </p:nvSpPr>
        <p:spPr>
          <a:xfrm>
            <a:off x="6958800" y="5118250"/>
            <a:ext cx="4452000" cy="9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 PC then starts the appropriate X-Server using the MAC address as a key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83" name="Google Shape;83;p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/>
              <a:t>Components of NFS – mounting protocol (1)</a:t>
            </a:r>
            <a:endParaRPr sz="4600"/>
          </a:p>
        </p:txBody>
      </p:sp>
      <p:sp>
        <p:nvSpPr>
          <p:cNvPr id="84" name="Google Shape;84;p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NFSv1</a:t>
            </a:r>
            <a:endParaRPr sz="28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In-house experiments in Sun</a:t>
            </a:r>
            <a:endParaRPr sz="26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NFSv2</a:t>
            </a:r>
            <a:endParaRPr sz="28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Synchronous write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V2 NFS server must commit each modified block to disk before replying to NFS client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Cause long delay when there is a NFS write operation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UDP</a:t>
            </a:r>
            <a:endParaRPr sz="26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NFSv3 in 1990s </a:t>
            </a:r>
            <a:endParaRPr sz="28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Asynchronous write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Provide increase performance and better support for large files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TCP support</a:t>
            </a:r>
            <a:endParaRPr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90" name="Google Shape;90;p1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/>
              <a:t>Components of NFS – mounting protocol (2)</a:t>
            </a:r>
            <a:endParaRPr/>
          </a:p>
        </p:txBody>
      </p:sp>
      <p:sp>
        <p:nvSpPr>
          <p:cNvPr id="91" name="Google Shape;91;p1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 dirty="0">
                <a:solidFill>
                  <a:schemeClr val="dk1"/>
                </a:solidFill>
              </a:rPr>
              <a:t>NFSv4 in 2003s</a:t>
            </a:r>
            <a:endParaRPr sz="2800" dirty="0">
              <a:solidFill>
                <a:schemeClr val="dk1"/>
              </a:solidFill>
            </a:endParaRPr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 dirty="0">
                <a:solidFill>
                  <a:schemeClr val="dk1"/>
                </a:solidFill>
              </a:rPr>
              <a:t>Influenced by AFS and SMB/CIFS</a:t>
            </a:r>
            <a:endParaRPr sz="2600" dirty="0">
              <a:solidFill>
                <a:schemeClr val="dk1"/>
              </a:solidFill>
            </a:endParaRPr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 dirty="0">
                <a:solidFill>
                  <a:schemeClr val="dk1"/>
                </a:solidFill>
              </a:rPr>
              <a:t>NFSv4 ACL</a:t>
            </a:r>
            <a:endParaRPr sz="2600" dirty="0">
              <a:solidFill>
                <a:schemeClr val="dk1"/>
              </a:solidFill>
            </a:endParaRPr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 dirty="0">
                <a:solidFill>
                  <a:schemeClr val="dk1"/>
                </a:solidFill>
              </a:rPr>
              <a:t>Stateful protocol</a:t>
            </a:r>
            <a:endParaRPr sz="2600" dirty="0">
              <a:solidFill>
                <a:schemeClr val="dk1"/>
              </a:solidFill>
            </a:endParaRPr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 dirty="0">
                <a:solidFill>
                  <a:schemeClr val="dk1"/>
                </a:solidFill>
              </a:rPr>
              <a:t>Unicode support</a:t>
            </a:r>
            <a:endParaRPr sz="2600" dirty="0">
              <a:solidFill>
                <a:schemeClr val="dk1"/>
              </a:solidFill>
            </a:endParaRPr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 dirty="0">
                <a:solidFill>
                  <a:schemeClr val="dk1"/>
                </a:solidFill>
              </a:rPr>
              <a:t>Only port 2049 is used</a:t>
            </a:r>
            <a:endParaRPr sz="2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800" dirty="0">
                <a:solidFill>
                  <a:schemeClr val="dk1"/>
                </a:solidFill>
              </a:rPr>
              <a:t>NFSv4.1 in 2010</a:t>
            </a:r>
            <a:endParaRPr sz="2300" dirty="0">
              <a:solidFill>
                <a:schemeClr val="dk1"/>
              </a:solidFill>
            </a:endParaRPr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 dirty="0" err="1">
                <a:solidFill>
                  <a:schemeClr val="dk1"/>
                </a:solidFill>
              </a:rPr>
              <a:t>pNFS</a:t>
            </a:r>
            <a:r>
              <a:rPr lang="en-US" sz="2600" dirty="0">
                <a:solidFill>
                  <a:schemeClr val="dk1"/>
                </a:solidFill>
              </a:rPr>
              <a:t>, parallel access, distributed servers</a:t>
            </a:r>
            <a:endParaRPr sz="2600" dirty="0">
              <a:solidFill>
                <a:schemeClr val="dk1"/>
              </a:solidFill>
            </a:endParaRPr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 dirty="0">
                <a:solidFill>
                  <a:schemeClr val="dk1"/>
                </a:solidFill>
              </a:rPr>
              <a:t>Multipathing</a:t>
            </a:r>
            <a:endParaRPr sz="2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97" name="Google Shape;97;p1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/>
              <a:t>Components of NFS – mounting protocol (3)</a:t>
            </a:r>
            <a:endParaRPr/>
          </a:p>
        </p:txBody>
      </p:sp>
      <p:sp>
        <p:nvSpPr>
          <p:cNvPr id="98" name="Google Shape;98;p1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 dirty="0">
                <a:solidFill>
                  <a:schemeClr val="dk1"/>
                </a:solidFill>
              </a:rPr>
              <a:t>NFSv4.2 in 2016</a:t>
            </a:r>
            <a:endParaRPr sz="2800" dirty="0">
              <a:solidFill>
                <a:schemeClr val="dk1"/>
              </a:solidFill>
            </a:endParaRPr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 dirty="0">
                <a:solidFill>
                  <a:schemeClr val="dk1"/>
                </a:solidFill>
              </a:rPr>
              <a:t>Minor revision to NFSv4.1, adds some optional features</a:t>
            </a:r>
            <a:endParaRPr sz="2600" dirty="0">
              <a:solidFill>
                <a:schemeClr val="dk1"/>
              </a:solidFill>
            </a:endParaRPr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lang="en-US" dirty="0" err="1">
                <a:solidFill>
                  <a:schemeClr val="dk1"/>
                </a:solidFill>
              </a:rPr>
              <a:t>lseek</a:t>
            </a:r>
            <a:r>
              <a:rPr lang="en-US" dirty="0">
                <a:solidFill>
                  <a:schemeClr val="dk1"/>
                </a:solidFill>
              </a:rPr>
              <a:t> (SEEK_DATA/SEEK_HOLE)</a:t>
            </a:r>
            <a:endParaRPr dirty="0">
              <a:solidFill>
                <a:schemeClr val="dk1"/>
              </a:solidFill>
            </a:endParaRPr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lang="en-US" dirty="0" err="1">
                <a:solidFill>
                  <a:schemeClr val="dk1"/>
                </a:solidFill>
              </a:rPr>
              <a:t>posix_fallocate</a:t>
            </a:r>
            <a:r>
              <a:rPr lang="en-US" dirty="0">
                <a:solidFill>
                  <a:schemeClr val="dk1"/>
                </a:solidFill>
              </a:rPr>
              <a:t>()</a:t>
            </a:r>
            <a:endParaRPr dirty="0">
              <a:solidFill>
                <a:schemeClr val="dk1"/>
              </a:solidFill>
            </a:endParaRPr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lang="en-US" dirty="0" err="1">
                <a:solidFill>
                  <a:schemeClr val="dk1"/>
                </a:solidFill>
              </a:rPr>
              <a:t>posix_fadvise</a:t>
            </a:r>
            <a:r>
              <a:rPr lang="en-US" dirty="0">
                <a:solidFill>
                  <a:schemeClr val="dk1"/>
                </a:solidFill>
              </a:rPr>
              <a:t> (POSIX_FADV_WILLNEED/POSIX_FADV_DONTNEED)</a:t>
            </a:r>
            <a:endParaRPr dirty="0">
              <a:solidFill>
                <a:schemeClr val="dk1"/>
              </a:solidFill>
            </a:endParaRPr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lang="en-US" dirty="0">
                <a:solidFill>
                  <a:schemeClr val="dk1"/>
                </a:solidFill>
              </a:rPr>
              <a:t>Server side copy of byte ranges between two files on the same NFS mount</a:t>
            </a:r>
            <a:endParaRPr dirty="0">
              <a:solidFill>
                <a:schemeClr val="dk1"/>
              </a:solidFill>
            </a:endParaRPr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lang="en-US" dirty="0">
                <a:solidFill>
                  <a:schemeClr val="dk1"/>
                </a:solidFill>
              </a:rPr>
              <a:t>point when the </a:t>
            </a:r>
            <a:r>
              <a:rPr lang="en-US" dirty="0" err="1">
                <a:solidFill>
                  <a:schemeClr val="dk1"/>
                </a:solidFill>
              </a:rPr>
              <a:t>copy_file_range</a:t>
            </a:r>
            <a:r>
              <a:rPr lang="en-US" dirty="0">
                <a:solidFill>
                  <a:schemeClr val="dk1"/>
                </a:solidFill>
              </a:rPr>
              <a:t>(2) </a:t>
            </a:r>
            <a:r>
              <a:rPr lang="en-US" dirty="0" err="1">
                <a:solidFill>
                  <a:schemeClr val="dk1"/>
                </a:solidFill>
              </a:rPr>
              <a:t>syscall</a:t>
            </a:r>
            <a:r>
              <a:rPr lang="en-US" dirty="0">
                <a:solidFill>
                  <a:schemeClr val="dk1"/>
                </a:solidFill>
              </a:rPr>
              <a:t> is used.</a:t>
            </a:r>
            <a:endParaRPr dirty="0">
              <a:solidFill>
                <a:schemeClr val="dk1"/>
              </a:solidFill>
            </a:endParaRPr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lang="en-US" dirty="0">
                <a:solidFill>
                  <a:schemeClr val="dk1"/>
                </a:solidFill>
              </a:rPr>
              <a:t>Extended attribute support as specified by RFC-8276.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2"/>
          <p:cNvSpPr/>
          <p:nvPr/>
        </p:nvSpPr>
        <p:spPr>
          <a:xfrm>
            <a:off x="2539050" y="4971050"/>
            <a:ext cx="2982300" cy="1594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client kernel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05" name="Google Shape;105;p1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/>
              <a:t>Components of NFS – mounting protocol (4)</a:t>
            </a:r>
            <a:endParaRPr sz="4600"/>
          </a:p>
        </p:txBody>
      </p:sp>
      <p:sp>
        <p:nvSpPr>
          <p:cNvPr id="106" name="Google Shape;106;p12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28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 dirty="0"/>
              <a:t>Sun’s Open Network Computing (ONC) Remote Procedure Call (RPC) distributed computing standards</a:t>
            </a:r>
            <a:endParaRPr sz="2700" dirty="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 dirty="0"/>
              <a:t>NFS client </a:t>
            </a:r>
            <a:r>
              <a:rPr lang="en-US" sz="2500" dirty="0">
                <a:sym typeface="Wingdings" panose="05000000000000000000" pitchFamily="2" charset="2"/>
              </a:rPr>
              <a:t> </a:t>
            </a:r>
            <a:r>
              <a:rPr lang="en-US" sz="2500" dirty="0"/>
              <a:t>RPC </a:t>
            </a:r>
            <a:r>
              <a:rPr lang="en-US" sz="2500" dirty="0">
                <a:sym typeface="Wingdings" panose="05000000000000000000" pitchFamily="2" charset="2"/>
              </a:rPr>
              <a:t> </a:t>
            </a:r>
            <a:r>
              <a:rPr lang="en-US" sz="2500" dirty="0"/>
              <a:t>Transport Layer </a:t>
            </a:r>
            <a:r>
              <a:rPr lang="en-US" sz="2500" dirty="0">
                <a:sym typeface="Wingdings" panose="05000000000000000000" pitchFamily="2" charset="2"/>
              </a:rPr>
              <a:t> </a:t>
            </a:r>
            <a:r>
              <a:rPr lang="en-US" sz="2500" dirty="0"/>
              <a:t>…</a:t>
            </a:r>
            <a:endParaRPr sz="2500" dirty="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 dirty="0"/>
              <a:t>Transport Layer</a:t>
            </a:r>
            <a:endParaRPr sz="2500" dirty="0"/>
          </a:p>
          <a:p>
            <a:pPr marL="1371600" lvl="2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 dirty="0"/>
              <a:t>UDP: Lack congestion control</a:t>
            </a:r>
            <a:endParaRPr sz="2300" dirty="0"/>
          </a:p>
          <a:p>
            <a:pPr marL="1371600" lvl="2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 dirty="0"/>
              <a:t>TCP: become more suitable </a:t>
            </a:r>
            <a:endParaRPr sz="23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 dirty="0"/>
          </a:p>
        </p:txBody>
      </p:sp>
      <p:sp>
        <p:nvSpPr>
          <p:cNvPr id="107" name="Google Shape;107;p12"/>
          <p:cNvSpPr/>
          <p:nvPr/>
        </p:nvSpPr>
        <p:spPr>
          <a:xfrm>
            <a:off x="3373950" y="4274050"/>
            <a:ext cx="1321800" cy="435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user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process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2"/>
          <p:cNvSpPr/>
          <p:nvPr/>
        </p:nvSpPr>
        <p:spPr>
          <a:xfrm>
            <a:off x="2658675" y="5125900"/>
            <a:ext cx="1086900" cy="435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local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file access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2"/>
          <p:cNvSpPr/>
          <p:nvPr/>
        </p:nvSpPr>
        <p:spPr>
          <a:xfrm>
            <a:off x="4324125" y="5125900"/>
            <a:ext cx="1086900" cy="435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NFS client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2"/>
          <p:cNvSpPr/>
          <p:nvPr/>
        </p:nvSpPr>
        <p:spPr>
          <a:xfrm>
            <a:off x="4324125" y="5825350"/>
            <a:ext cx="1086900" cy="435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TCP/UDP IP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2"/>
          <p:cNvSpPr/>
          <p:nvPr/>
        </p:nvSpPr>
        <p:spPr>
          <a:xfrm>
            <a:off x="2893425" y="6611325"/>
            <a:ext cx="852300" cy="8523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local disk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2"/>
          <p:cNvSpPr/>
          <p:nvPr/>
        </p:nvSpPr>
        <p:spPr>
          <a:xfrm flipH="1">
            <a:off x="6633150" y="4971050"/>
            <a:ext cx="2982300" cy="1594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server kernel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2"/>
          <p:cNvSpPr/>
          <p:nvPr/>
        </p:nvSpPr>
        <p:spPr>
          <a:xfrm flipH="1">
            <a:off x="8408925" y="5125900"/>
            <a:ext cx="1086900" cy="435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local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file access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2"/>
          <p:cNvSpPr/>
          <p:nvPr/>
        </p:nvSpPr>
        <p:spPr>
          <a:xfrm flipH="1">
            <a:off x="6743475" y="5125900"/>
            <a:ext cx="1086900" cy="435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NFS client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2"/>
          <p:cNvSpPr/>
          <p:nvPr/>
        </p:nvSpPr>
        <p:spPr>
          <a:xfrm flipH="1">
            <a:off x="6743475" y="5825350"/>
            <a:ext cx="1086900" cy="435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TCP/UDP IP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2"/>
          <p:cNvSpPr/>
          <p:nvPr/>
        </p:nvSpPr>
        <p:spPr>
          <a:xfrm flipH="1">
            <a:off x="8526225" y="6611325"/>
            <a:ext cx="852300" cy="8523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local disk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7" name="Google Shape;117;p12"/>
          <p:cNvCxnSpPr>
            <a:stCxn id="107" idx="2"/>
            <a:endCxn id="108" idx="0"/>
          </p:cNvCxnSpPr>
          <p:nvPr/>
        </p:nvCxnSpPr>
        <p:spPr>
          <a:xfrm flipH="1">
            <a:off x="3202050" y="4709050"/>
            <a:ext cx="832800" cy="41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8" name="Google Shape;118;p12"/>
          <p:cNvCxnSpPr>
            <a:stCxn id="107" idx="2"/>
            <a:endCxn id="109" idx="0"/>
          </p:cNvCxnSpPr>
          <p:nvPr/>
        </p:nvCxnSpPr>
        <p:spPr>
          <a:xfrm>
            <a:off x="4034850" y="4709050"/>
            <a:ext cx="832800" cy="41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9" name="Google Shape;119;p12"/>
          <p:cNvCxnSpPr>
            <a:endCxn id="111" idx="0"/>
          </p:cNvCxnSpPr>
          <p:nvPr/>
        </p:nvCxnSpPr>
        <p:spPr>
          <a:xfrm>
            <a:off x="3319575" y="5561025"/>
            <a:ext cx="0" cy="1050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0" name="Google Shape;120;p12"/>
          <p:cNvCxnSpPr>
            <a:stCxn id="109" idx="2"/>
            <a:endCxn id="110" idx="0"/>
          </p:cNvCxnSpPr>
          <p:nvPr/>
        </p:nvCxnSpPr>
        <p:spPr>
          <a:xfrm>
            <a:off x="4867575" y="5560900"/>
            <a:ext cx="0" cy="264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1" name="Google Shape;121;p12"/>
          <p:cNvCxnSpPr>
            <a:stCxn id="114" idx="2"/>
            <a:endCxn id="115" idx="0"/>
          </p:cNvCxnSpPr>
          <p:nvPr/>
        </p:nvCxnSpPr>
        <p:spPr>
          <a:xfrm>
            <a:off x="7286925" y="5560900"/>
            <a:ext cx="0" cy="264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2" name="Google Shape;122;p12"/>
          <p:cNvCxnSpPr>
            <a:stCxn id="114" idx="1"/>
            <a:endCxn id="113" idx="3"/>
          </p:cNvCxnSpPr>
          <p:nvPr/>
        </p:nvCxnSpPr>
        <p:spPr>
          <a:xfrm>
            <a:off x="7830375" y="5343400"/>
            <a:ext cx="578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3" name="Google Shape;123;p12"/>
          <p:cNvCxnSpPr>
            <a:stCxn id="113" idx="2"/>
            <a:endCxn id="116" idx="0"/>
          </p:cNvCxnSpPr>
          <p:nvPr/>
        </p:nvCxnSpPr>
        <p:spPr>
          <a:xfrm>
            <a:off x="8952375" y="5560900"/>
            <a:ext cx="0" cy="1050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4" name="Google Shape;124;p12"/>
          <p:cNvCxnSpPr>
            <a:stCxn id="110" idx="2"/>
            <a:endCxn id="115" idx="2"/>
          </p:cNvCxnSpPr>
          <p:nvPr/>
        </p:nvCxnSpPr>
        <p:spPr>
          <a:xfrm rot="-5400000" flipH="1">
            <a:off x="6077025" y="5050900"/>
            <a:ext cx="600" cy="2419500"/>
          </a:xfrm>
          <a:prstGeom prst="bentConnector3">
            <a:avLst>
              <a:gd name="adj1" fmla="val 983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Components of NFS</a:t>
            </a:r>
            <a:endParaRPr/>
          </a:p>
        </p:txBody>
      </p:sp>
      <p:sp>
        <p:nvSpPr>
          <p:cNvPr id="131" name="Google Shape;131;p1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Including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Mounting Protocol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Mount Server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Daemons that coordinate basic file service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Diagnostic utilities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37" name="Google Shape;137;p1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Components of NFS – Server-side NFS (1)</a:t>
            </a:r>
            <a:endParaRPr sz="4800"/>
          </a:p>
        </p:txBody>
      </p:sp>
      <p:sp>
        <p:nvSpPr>
          <p:cNvPr id="138" name="Google Shape;138;p1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NFS Server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Export sharing filesystem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600"/>
              <a:buChar char="■"/>
            </a:pPr>
            <a:r>
              <a:rPr lang="en-US">
                <a:solidFill>
                  <a:srgbClr val="FF0000"/>
                </a:solidFill>
              </a:rPr>
              <a:t>System dependent</a:t>
            </a:r>
            <a:endParaRPr>
              <a:solidFill>
                <a:srgbClr val="FF0000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Waiting for “mount request”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mountd (rpc.mountd) daemon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Waiting for “file access request” 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nfsd (rpc.nfsd) daemon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Lock the files being accessed (optional)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lockd (rpc.lockd) daemon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Check the correctness of the files (optional)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statd (rpc.statd) daemon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44" name="Google Shape;144;p1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Components of NFS – Server-side NFS (2)</a:t>
            </a:r>
            <a:endParaRPr sz="4800"/>
          </a:p>
        </p:txBody>
      </p:sp>
      <p:sp>
        <p:nvSpPr>
          <p:cNvPr id="145" name="Google Shape;145;p1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Exporting filesystem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Edit export configuration file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Each line is “what to export and how”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Reload related daemons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46" name="Google Shape;146;p15"/>
          <p:cNvGraphicFramePr/>
          <p:nvPr/>
        </p:nvGraphicFramePr>
        <p:xfrm>
          <a:off x="1250500" y="3858500"/>
          <a:ext cx="8982400" cy="2590850"/>
        </p:xfrm>
        <a:graphic>
          <a:graphicData uri="http://schemas.openxmlformats.org/drawingml/2006/table">
            <a:tbl>
              <a:tblPr>
                <a:noFill/>
                <a:tableStyleId>{A4F4C448-EC8A-454B-8910-4292C318B576}</a:tableStyleId>
              </a:tblPr>
              <a:tblGrid>
                <a:gridCol w="181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</a:t>
                      </a:r>
                      <a:endParaRPr sz="2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Exports  info file</a:t>
                      </a:r>
                      <a:endParaRPr sz="2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How to reload</a:t>
                      </a:r>
                      <a:endParaRPr sz="2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FreeBSD</a:t>
                      </a:r>
                      <a:endParaRPr sz="2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/etc/exports</a:t>
                      </a:r>
                      <a:endParaRPr sz="2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/etc/rc.d/mountd reload</a:t>
                      </a:r>
                      <a:endParaRPr sz="2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Linux</a:t>
                      </a:r>
                      <a:endParaRPr sz="2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/etc/exports</a:t>
                      </a:r>
                      <a:endParaRPr sz="2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/usr/sbin/exportfs -a</a:t>
                      </a:r>
                      <a:endParaRPr sz="2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Solaris</a:t>
                      </a:r>
                      <a:endParaRPr sz="2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/etc/dfs/dfstab</a:t>
                      </a:r>
                      <a:endParaRPr sz="280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/usr/sbin/shareall</a:t>
                      </a:r>
                      <a:endParaRPr sz="2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SunOS</a:t>
                      </a:r>
                      <a:endParaRPr sz="2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/etc/exports</a:t>
                      </a:r>
                      <a:endParaRPr sz="2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/usr/sbin/exportfs -a</a:t>
                      </a:r>
                      <a:endParaRPr sz="2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Components of NFS – Server-side NFS </a:t>
            </a:r>
            <a:r>
              <a:rPr lang="en-US" sz="2800"/>
              <a:t>(FreeBSD.1)</a:t>
            </a:r>
            <a:endParaRPr sz="2800"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Exporting filesystem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/etc/exports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White-space separated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Format: </a:t>
            </a:r>
            <a:r>
              <a:rPr lang="en-US" i="1">
                <a:solidFill>
                  <a:srgbClr val="FF0000"/>
                </a:solidFill>
              </a:rPr>
              <a:t>directory-list  options-list  client-list</a:t>
            </a:r>
            <a:endParaRPr i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54" name="Google Shape;154;p16"/>
          <p:cNvGraphicFramePr/>
          <p:nvPr/>
        </p:nvGraphicFramePr>
        <p:xfrm>
          <a:off x="2188300" y="3627813"/>
          <a:ext cx="7605725" cy="1989175"/>
        </p:xfrm>
        <a:graphic>
          <a:graphicData uri="http://schemas.openxmlformats.org/drawingml/2006/table">
            <a:tbl>
              <a:tblPr>
                <a:noFill/>
                <a:tableStyleId>{A4F4C448-EC8A-454B-8910-4292C318B576}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8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Option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-ro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Exports read-only, default is (read-write)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-alldirs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Allow any subdirectory to be mounted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-maproot=user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Maps root to the specified user.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-mapall=user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Maps all UIDs to the specified user.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5" name="Google Shape;155;p16"/>
          <p:cNvGraphicFramePr/>
          <p:nvPr/>
        </p:nvGraphicFramePr>
        <p:xfrm>
          <a:off x="2188300" y="5756650"/>
          <a:ext cx="7620000" cy="1463080"/>
        </p:xfrm>
        <a:graphic>
          <a:graphicData uri="http://schemas.openxmlformats.org/drawingml/2006/table">
            <a:tbl>
              <a:tblPr>
                <a:noFill/>
                <a:tableStyleId>{A4F4C448-EC8A-454B-8910-4292C318B576}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Client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hostname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Host name (ex: mailgate ccserv)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netgroup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NIS netgroups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-network -mask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-network 140.113.235.0 -mask 255.255.255.0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61" name="Google Shape;161;p1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Components of NFS – Server-side NFS </a:t>
            </a:r>
            <a:r>
              <a:rPr lang="en-US" sz="2800"/>
              <a:t>(FreeBSD.2)</a:t>
            </a:r>
            <a:endParaRPr sz="2800"/>
          </a:p>
        </p:txBody>
      </p:sp>
      <p:sp>
        <p:nvSpPr>
          <p:cNvPr id="162" name="Google Shape;162;p17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11297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Example of /etc/exports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Network and mask cannot be in the same line with hosts and netgroups</a:t>
            </a:r>
            <a:endParaRPr/>
          </a:p>
        </p:txBody>
      </p:sp>
      <p:sp>
        <p:nvSpPr>
          <p:cNvPr id="163" name="Google Shape;163;p17"/>
          <p:cNvSpPr txBox="1">
            <a:spLocks noGrp="1"/>
          </p:cNvSpPr>
          <p:nvPr>
            <p:ph type="body" idx="2"/>
          </p:nvPr>
        </p:nvSpPr>
        <p:spPr>
          <a:xfrm>
            <a:off x="1037975" y="2172275"/>
            <a:ext cx="10375800" cy="133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/raid	-alldirs -maproot=root mailgate ccserv backup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/raid 	-alldirs -maproot=65534 -network 140.113.209 -mask 255.255.255.0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/home	-ro -mapall=nobody -network 140.113.235.0 -mask 255.255.255.0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/usr/src  /usr/obj -maproot=0 bsd_cc_csie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1"/>
          </a:p>
        </p:txBody>
      </p:sp>
      <p:sp>
        <p:nvSpPr>
          <p:cNvPr id="164" name="Google Shape;164;p17"/>
          <p:cNvSpPr txBox="1">
            <a:spLocks noGrp="1"/>
          </p:cNvSpPr>
          <p:nvPr>
            <p:ph type="body" idx="1"/>
          </p:nvPr>
        </p:nvSpPr>
        <p:spPr>
          <a:xfrm>
            <a:off x="566650" y="4368675"/>
            <a:ext cx="10830900" cy="262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Reload daemons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% kill -1 `cat /var/run/mountd.pid`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/etc/rc.d/mountd restart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/usr/sbin/service mountd restart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70" name="Google Shape;170;p1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Components of NFS – Server-side NFS </a:t>
            </a:r>
            <a:r>
              <a:rPr lang="en-US" sz="2800"/>
              <a:t>(Linux.1)</a:t>
            </a:r>
            <a:endParaRPr sz="2800"/>
          </a:p>
        </p:txBody>
      </p:sp>
      <p:sp>
        <p:nvSpPr>
          <p:cNvPr id="171" name="Google Shape;171;p1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Exporting filesystem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/etc/exports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Format:</a:t>
            </a:r>
            <a:r>
              <a:rPr lang="en-US" i="1">
                <a:solidFill>
                  <a:srgbClr val="FF0000"/>
                </a:solidFill>
              </a:rPr>
              <a:t> directory  client-list-with-option </a:t>
            </a:r>
            <a:endParaRPr i="1">
              <a:solidFill>
                <a:srgbClr val="FF0000"/>
              </a:solidFill>
            </a:endParaRPr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E.g.: /home1 bsd1(ro)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72" name="Google Shape;172;p18"/>
          <p:cNvGraphicFramePr/>
          <p:nvPr/>
        </p:nvGraphicFramePr>
        <p:xfrm>
          <a:off x="1960563" y="3702650"/>
          <a:ext cx="8077200" cy="1828850"/>
        </p:xfrm>
        <a:graphic>
          <a:graphicData uri="http://schemas.openxmlformats.org/drawingml/2006/table">
            <a:tbl>
              <a:tblPr>
                <a:noFill/>
                <a:tableStyleId>{A4F4C448-EC8A-454B-8910-4292C318B576}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Client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hostname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Host name (ex: mailgate ccserv)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@netgroup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NIS netgroups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ipaddr/mask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CIDR-style specification (ex: 140.113.235.2/24)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Wild cards * ?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FQDN with 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wildcards</a:t>
                      </a: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(ex: bsd*.cs.nctu.edu.tw)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78" name="Google Shape;178;p1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Components of NFS – Server-side NFS </a:t>
            </a:r>
            <a:r>
              <a:rPr lang="en-US" sz="2800"/>
              <a:t>(Linux.2)</a:t>
            </a:r>
            <a:endParaRPr sz="2800"/>
          </a:p>
        </p:txBody>
      </p:sp>
      <p:graphicFrame>
        <p:nvGraphicFramePr>
          <p:cNvPr id="179" name="Google Shape;179;p19"/>
          <p:cNvGraphicFramePr/>
          <p:nvPr/>
        </p:nvGraphicFramePr>
        <p:xfrm>
          <a:off x="1426700" y="1563425"/>
          <a:ext cx="9144925" cy="5760850"/>
        </p:xfrm>
        <a:graphic>
          <a:graphicData uri="http://schemas.openxmlformats.org/drawingml/2006/table">
            <a:tbl>
              <a:tblPr>
                <a:noFill/>
                <a:tableStyleId>{A4F4C448-EC8A-454B-8910-4292C318B576}</a:tableStyleId>
              </a:tblPr>
              <a:tblGrid>
                <a:gridCol w="254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99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Option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ro,rw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Read-only, Read-write (default)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rw=list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Hosts in the list can do rw, others ro only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root_squash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Maps UID 0 and GID 0 to the value of anonuid and anongid (default)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no_root_squash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Allow root access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all_squash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Maps all UID and GID to anonymous one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subtree_check</a:t>
                      </a:r>
                      <a:endParaRPr sz="200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Check that the accessed file is in the appropriate filesystem and in the exported tree.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no_subtree_check</a:t>
                      </a:r>
                      <a:endParaRPr sz="200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Disables subtree checking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anonuid=xxx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Related to root_squash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anongid=xxx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Related to root_squash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secure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 remote access from privileged port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insecure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Allow remote access from any port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noaccess</a:t>
                      </a:r>
                      <a:endParaRPr sz="200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Prevent access to this dir and it’s subdir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85" name="Google Shape;185;p2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Components of NFS – Server-side NFS </a:t>
            </a:r>
            <a:r>
              <a:rPr lang="en-US" sz="2800"/>
              <a:t>(Linux.3)</a:t>
            </a:r>
            <a:endParaRPr sz="2800"/>
          </a:p>
        </p:txBody>
      </p:sp>
      <p:sp>
        <p:nvSpPr>
          <p:cNvPr id="186" name="Google Shape;186;p2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Example of /etc/exports</a:t>
            </a:r>
            <a:endParaRPr/>
          </a:p>
        </p:txBody>
      </p:sp>
      <p:sp>
        <p:nvSpPr>
          <p:cNvPr id="187" name="Google Shape;187;p20"/>
          <p:cNvSpPr txBox="1">
            <a:spLocks noGrp="1"/>
          </p:cNvSpPr>
          <p:nvPr>
            <p:ph type="body" idx="2"/>
          </p:nvPr>
        </p:nvSpPr>
        <p:spPr>
          <a:xfrm>
            <a:off x="1037975" y="2172275"/>
            <a:ext cx="10375800" cy="184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/home1      ccsun*.csie.nctu.eud.tw(rw)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/home2      @sun_cc_csie(ro)  dragon(rw,no_root_squash)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/home       ccpc1(rw,all_squash,anonuid=150,anongid=100)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/ftp/pub    (ro,insecure,all_squash)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/users      *.xor.com(rw)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/users/evi  (noaccess)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1"/>
          </a:p>
        </p:txBody>
      </p:sp>
      <p:sp>
        <p:nvSpPr>
          <p:cNvPr id="188" name="Google Shape;188;p20"/>
          <p:cNvSpPr txBox="1">
            <a:spLocks noGrp="1"/>
          </p:cNvSpPr>
          <p:nvPr>
            <p:ph type="body" idx="1"/>
          </p:nvPr>
        </p:nvSpPr>
        <p:spPr>
          <a:xfrm>
            <a:off x="566650" y="4074700"/>
            <a:ext cx="10830900" cy="307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Run /usr/sbin/exportfs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% /usr/sbin/exportfs -a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Maintain /var/lib/nfs/xtab table which is read by mountd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94" name="Google Shape;194;p2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Components of NFS – Server-side NFS </a:t>
            </a:r>
            <a:r>
              <a:rPr lang="en-US" sz="2800"/>
              <a:t>(Solaris.1)</a:t>
            </a:r>
            <a:endParaRPr sz="2800"/>
          </a:p>
        </p:txBody>
      </p:sp>
      <p:sp>
        <p:nvSpPr>
          <p:cNvPr id="195" name="Google Shape;195;p2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Exporting filesystem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/etc/dfs/dfstab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Each line will execute “share” command to export one NFS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Format:</a:t>
            </a:r>
            <a:r>
              <a:rPr lang="en-US" i="1">
                <a:solidFill>
                  <a:srgbClr val="FF0000"/>
                </a:solidFill>
              </a:rPr>
              <a:t> share –F nfs -o option-list directory</a:t>
            </a:r>
            <a:endParaRPr i="1">
              <a:solidFill>
                <a:srgbClr val="FF0000"/>
              </a:solidFill>
            </a:endParaRPr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E.g.: /home1 bsd1(ro)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Run shareall command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% /usr/sbin/shareall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96" name="Google Shape;196;p21"/>
          <p:cNvGraphicFramePr/>
          <p:nvPr/>
        </p:nvGraphicFramePr>
        <p:xfrm>
          <a:off x="2074000" y="5153650"/>
          <a:ext cx="7848600" cy="1981250"/>
        </p:xfrm>
        <a:graphic>
          <a:graphicData uri="http://schemas.openxmlformats.org/drawingml/2006/table">
            <a:tbl>
              <a:tblPr>
                <a:noFill/>
                <a:tableStyleId>{A4F4C448-EC8A-454B-8910-4292C318B576}</a:tableStyleId>
              </a:tblPr>
              <a:tblGrid>
                <a:gridCol w="194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9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Client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hostname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Host name (ex: mailgate ccserv)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netgroup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NIS netgroups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IP networks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@CIDR-style specification (ex: @140.113.235.2/24)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DNS domains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.xxx.yyy any host within the domain (ex: .nctu.edu.tw)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02" name="Google Shape;202;p2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Components of NFS – Server-side NFS </a:t>
            </a:r>
            <a:r>
              <a:rPr lang="en-US" sz="2800"/>
              <a:t>(Solaris.2)</a:t>
            </a:r>
            <a:endParaRPr sz="2800"/>
          </a:p>
        </p:txBody>
      </p:sp>
      <p:graphicFrame>
        <p:nvGraphicFramePr>
          <p:cNvPr id="203" name="Google Shape;203;p22"/>
          <p:cNvGraphicFramePr/>
          <p:nvPr/>
        </p:nvGraphicFramePr>
        <p:xfrm>
          <a:off x="1150600" y="1939100"/>
          <a:ext cx="9695375" cy="3474800"/>
        </p:xfrm>
        <a:graphic>
          <a:graphicData uri="http://schemas.openxmlformats.org/drawingml/2006/table">
            <a:tbl>
              <a:tblPr>
                <a:noFill/>
                <a:tableStyleId>{A4F4C448-EC8A-454B-8910-4292C318B576}</a:tableStyleId>
              </a:tblPr>
              <a:tblGrid>
                <a:gridCol w="247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Option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ro,rw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Read-only to all, Read-write to all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ro=list, rw=list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Hosts in the list can do ro/rw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root=list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Lists hosts permitted to access this filesystem as root. Otherwise, root access from a client is equivalent to by “nobody”</a:t>
                      </a:r>
                      <a:endParaRPr sz="200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anon=xxx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Specify the UID to which root is remapped. Default is “nobody”</a:t>
                      </a:r>
                      <a:endParaRPr sz="200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anongid=xxx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Related to root_squash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nosub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Forbids clients to mount subdirectories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nosuid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Prevents setuid and setgid from being created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09" name="Google Shape;209;p2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Components of NFS – Server-side NFS (3)</a:t>
            </a:r>
            <a:endParaRPr sz="4800"/>
          </a:p>
        </p:txBody>
      </p:sp>
      <p:sp>
        <p:nvSpPr>
          <p:cNvPr id="210" name="Google Shape;210;p2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nfsd daemon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Handle NFS file access request from NFS clients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○"/>
            </a:pPr>
            <a:r>
              <a:rPr lang="en-US">
                <a:solidFill>
                  <a:srgbClr val="FF0000"/>
                </a:solidFill>
              </a:rPr>
              <a:t>Number of nfsd’s thread is important</a:t>
            </a:r>
            <a:endParaRPr>
              <a:solidFill>
                <a:srgbClr val="FF0000"/>
              </a:solidFill>
            </a:endParaRPr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Too small, some NFS requests’ response will be delayed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Too large, load will be high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nfsd(8)</a:t>
            </a:r>
            <a:endParaRPr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-n thread</a:t>
            </a:r>
            <a:endParaRPr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--maxthreads --minthreads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 FreeBSD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Specify nfsd options in /etc/rc.conf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nfs_server_enable="YES"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nfs_server_flags="-u –t –n 4"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16" name="Google Shape;216;p2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Components of NFS – Client-side NFS (1)</a:t>
            </a:r>
            <a:endParaRPr sz="4800"/>
          </a:p>
        </p:txBody>
      </p:sp>
      <p:sp>
        <p:nvSpPr>
          <p:cNvPr id="217" name="Google Shape;217;p2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 dirty="0"/>
              <a:t>NFS Client</a:t>
            </a:r>
            <a:endParaRPr sz="25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 dirty="0"/>
              <a:t>Mount NFS filesystem first</a:t>
            </a:r>
            <a:endParaRPr sz="23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 dirty="0"/>
              <a:t>Access file under NFS filesystem</a:t>
            </a:r>
            <a:endParaRPr sz="2300" dirty="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 dirty="0"/>
              <a:t>mount command (</a:t>
            </a:r>
            <a:r>
              <a:rPr lang="en-US" sz="2500" u="sng" dirty="0" err="1">
                <a:solidFill>
                  <a:schemeClr val="hlink"/>
                </a:solidFill>
                <a:hlinkClick r:id="rId3"/>
              </a:rPr>
              <a:t>mount_nfs</a:t>
            </a:r>
            <a:r>
              <a:rPr lang="en-US" sz="2500" u="sng" dirty="0">
                <a:solidFill>
                  <a:schemeClr val="hlink"/>
                </a:solidFill>
                <a:hlinkClick r:id="rId3"/>
              </a:rPr>
              <a:t>(8)</a:t>
            </a:r>
            <a:r>
              <a:rPr lang="en-US" sz="2500" dirty="0"/>
              <a:t>)</a:t>
            </a:r>
            <a:endParaRPr sz="25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 dirty="0"/>
              <a:t>[format]</a:t>
            </a:r>
            <a:endParaRPr sz="2300" dirty="0"/>
          </a:p>
          <a:p>
            <a:pPr marL="1371600" lvl="2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 dirty="0"/>
              <a:t>mount [-o options] </a:t>
            </a:r>
            <a:r>
              <a:rPr lang="en-US" sz="2300" dirty="0" err="1"/>
              <a:t>host:directory</a:t>
            </a:r>
            <a:r>
              <a:rPr lang="en-US" sz="2300" dirty="0"/>
              <a:t>  mount-point</a:t>
            </a:r>
            <a:endParaRPr sz="23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 dirty="0"/>
              <a:t>E.g.,</a:t>
            </a:r>
            <a:endParaRPr sz="2300" dirty="0"/>
          </a:p>
          <a:p>
            <a:pPr marL="1371600" lvl="2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100" dirty="0"/>
              <a:t>% mount –t </a:t>
            </a:r>
            <a:r>
              <a:rPr lang="en-US" sz="2100" dirty="0" err="1"/>
              <a:t>nfs</a:t>
            </a:r>
            <a:r>
              <a:rPr lang="en-US" sz="2100" dirty="0"/>
              <a:t> ccbsd4:/home/www /home/</a:t>
            </a:r>
            <a:r>
              <a:rPr lang="en-US" sz="2100" dirty="0" err="1"/>
              <a:t>nfs</a:t>
            </a:r>
            <a:r>
              <a:rPr lang="en-US" sz="2100" dirty="0"/>
              <a:t>/www</a:t>
            </a:r>
            <a:endParaRPr sz="2100" dirty="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 dirty="0"/>
              <a:t>/</a:t>
            </a:r>
            <a:r>
              <a:rPr lang="en-US" sz="2500" dirty="0" err="1"/>
              <a:t>etc</a:t>
            </a:r>
            <a:r>
              <a:rPr lang="en-US" sz="2500" dirty="0"/>
              <a:t>/</a:t>
            </a:r>
            <a:r>
              <a:rPr lang="en-US" sz="2500" dirty="0" err="1"/>
              <a:t>fstab</a:t>
            </a:r>
            <a:r>
              <a:rPr lang="en-US" sz="2500" dirty="0"/>
              <a:t> (/</a:t>
            </a:r>
            <a:r>
              <a:rPr lang="en-US" sz="2500" dirty="0" err="1"/>
              <a:t>etc</a:t>
            </a:r>
            <a:r>
              <a:rPr lang="en-US" sz="2500" dirty="0"/>
              <a:t>/</a:t>
            </a:r>
            <a:r>
              <a:rPr lang="en-US" sz="2500" dirty="0" err="1"/>
              <a:t>vfstab</a:t>
            </a:r>
            <a:r>
              <a:rPr lang="en-US" sz="2500" dirty="0"/>
              <a:t> in Solaris)</a:t>
            </a:r>
            <a:endParaRPr sz="2500" dirty="0"/>
          </a:p>
          <a:p>
            <a:pPr marL="1371600" lvl="2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100" dirty="0"/>
              <a:t>% mount -a -t </a:t>
            </a:r>
            <a:r>
              <a:rPr lang="en-US" sz="2100" dirty="0" err="1"/>
              <a:t>nfs</a:t>
            </a:r>
            <a:r>
              <a:rPr lang="en-US" sz="2100" dirty="0"/>
              <a:t> (FreeBSD, Linux)</a:t>
            </a:r>
            <a:endParaRPr sz="2100" dirty="0"/>
          </a:p>
          <a:p>
            <a:pPr marL="1371600" lvl="2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100" dirty="0"/>
              <a:t>% mount -a -F </a:t>
            </a:r>
            <a:r>
              <a:rPr lang="en-US" sz="2100" dirty="0" err="1"/>
              <a:t>nfs</a:t>
            </a:r>
            <a:r>
              <a:rPr lang="en-US" sz="2100" dirty="0"/>
              <a:t> (Solaris)</a:t>
            </a:r>
            <a:endParaRPr sz="2500" dirty="0"/>
          </a:p>
        </p:txBody>
      </p:sp>
      <p:sp>
        <p:nvSpPr>
          <p:cNvPr id="218" name="Google Shape;218;p24"/>
          <p:cNvSpPr txBox="1">
            <a:spLocks noGrp="1"/>
          </p:cNvSpPr>
          <p:nvPr>
            <p:ph type="body" idx="2"/>
          </p:nvPr>
        </p:nvSpPr>
        <p:spPr>
          <a:xfrm>
            <a:off x="1500125" y="6108950"/>
            <a:ext cx="9271500" cy="10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# Device           Mountpoint  Fstype  Options     Dump  Pass#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dragon:/usr/man    /usr/man    nfs     ro,bg,soft  0     0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ccserv:/spool/mail /var/mail   nfs     rw,bg,intr  0     0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24" name="Google Shape;224;p2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Components of NFS – Client-side NFS (2)</a:t>
            </a:r>
            <a:endParaRPr sz="4800"/>
          </a:p>
        </p:txBody>
      </p:sp>
      <p:sp>
        <p:nvSpPr>
          <p:cNvPr id="225" name="Google Shape;225;p2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NFS mount flags</a:t>
            </a:r>
            <a:endParaRPr sz="2500"/>
          </a:p>
        </p:txBody>
      </p:sp>
      <p:graphicFrame>
        <p:nvGraphicFramePr>
          <p:cNvPr id="226" name="Google Shape;226;p25"/>
          <p:cNvGraphicFramePr/>
          <p:nvPr/>
        </p:nvGraphicFramePr>
        <p:xfrm>
          <a:off x="1362575" y="2076375"/>
          <a:ext cx="9271450" cy="5120780"/>
        </p:xfrm>
        <a:graphic>
          <a:graphicData uri="http://schemas.openxmlformats.org/drawingml/2006/table">
            <a:tbl>
              <a:tblPr>
                <a:noFill/>
                <a:tableStyleId>{A4F4C448-EC8A-454B-8910-4292C318B576}</a:tableStyleId>
              </a:tblPr>
              <a:tblGrid>
                <a:gridCol w="14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46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Flag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 or rw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S,L,F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Mount the NFS as ro or rw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bg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S,L,F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If failed, keep trying in background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hard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S,L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If server down, access will keep trying until server comes back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soft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S,L,F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If server down, let access fail and return error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intr, nointr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S,L,F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Allow/Disallow user to interrupt blocked access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retrans=n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S,L,F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# of times to repeat a request before error return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timeo=n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S,L,F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Timeout period of requests (tens of seconds)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rsize=n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S,L,F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Set read buffer size to n bytes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wsize=n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S,L,F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Set write buffer size to n bytes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vers=n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Selects NFS v2 or v3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nfsv3,nfsv2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Selects NFS v2 or v3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proto=prot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tcp or udp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tcp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L,F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Select TCP. UDP is default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32" name="Google Shape;232;p2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Components of NFS – Client-side NFS (3)</a:t>
            </a:r>
            <a:endParaRPr sz="4800"/>
          </a:p>
        </p:txBody>
      </p:sp>
      <p:sp>
        <p:nvSpPr>
          <p:cNvPr id="233" name="Google Shape;233;p2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188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Client side daemons that enhance performance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biod (block I/O daemon, or called </a:t>
            </a:r>
            <a:r>
              <a:rPr lang="en-US">
                <a:solidFill>
                  <a:srgbClr val="FF0000"/>
                </a:solidFill>
              </a:rPr>
              <a:t>nfsiod</a:t>
            </a:r>
            <a:r>
              <a:rPr lang="en-US"/>
              <a:t>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Perform read-ahead and write-behind caching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 sysctl wrapper now (vfs.nfs.iodmin &amp; vfs.nfs.iodmax)</a:t>
            </a:r>
            <a:endParaRPr/>
          </a:p>
        </p:txBody>
      </p:sp>
      <p:grpSp>
        <p:nvGrpSpPr>
          <p:cNvPr id="234" name="Google Shape;234;p26"/>
          <p:cNvGrpSpPr/>
          <p:nvPr/>
        </p:nvGrpSpPr>
        <p:grpSpPr>
          <a:xfrm>
            <a:off x="1295050" y="3742675"/>
            <a:ext cx="2818500" cy="1793400"/>
            <a:chOff x="1295050" y="4123675"/>
            <a:chExt cx="2818500" cy="1793400"/>
          </a:xfrm>
        </p:grpSpPr>
        <p:sp>
          <p:nvSpPr>
            <p:cNvPr id="235" name="Google Shape;235;p26"/>
            <p:cNvSpPr txBox="1"/>
            <p:nvPr/>
          </p:nvSpPr>
          <p:spPr>
            <a:xfrm>
              <a:off x="1715650" y="4123675"/>
              <a:ext cx="1977300" cy="48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latin typeface="Times New Roman"/>
                  <a:ea typeface="Times New Roman"/>
                  <a:cs typeface="Times New Roman"/>
                  <a:sym typeface="Times New Roman"/>
                </a:rPr>
                <a:t>User Process</a:t>
              </a:r>
              <a:endParaRPr sz="1800" b="1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6" name="Google Shape;236;p26"/>
            <p:cNvSpPr txBox="1"/>
            <p:nvPr/>
          </p:nvSpPr>
          <p:spPr>
            <a:xfrm>
              <a:off x="1295050" y="4451875"/>
              <a:ext cx="2818500" cy="48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latin typeface="Courier New"/>
                  <a:ea typeface="Courier New"/>
                  <a:cs typeface="Courier New"/>
                  <a:sym typeface="Courier New"/>
                </a:rPr>
                <a:t>write(fd, buf, 2048);</a:t>
              </a: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37" name="Google Shape;237;p26"/>
            <p:cNvSpPr txBox="1"/>
            <p:nvPr/>
          </p:nvSpPr>
          <p:spPr>
            <a:xfrm>
              <a:off x="1295050" y="4780075"/>
              <a:ext cx="2818500" cy="48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latin typeface="Courier New"/>
                  <a:ea typeface="Courier New"/>
                  <a:cs typeface="Courier New"/>
                  <a:sym typeface="Courier New"/>
                </a:rPr>
                <a:t>write(fd, buf, 2048);</a:t>
              </a: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38" name="Google Shape;238;p26"/>
            <p:cNvSpPr txBox="1"/>
            <p:nvPr/>
          </p:nvSpPr>
          <p:spPr>
            <a:xfrm>
              <a:off x="1295050" y="5108275"/>
              <a:ext cx="2818500" cy="48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latin typeface="Courier New"/>
                  <a:ea typeface="Courier New"/>
                  <a:cs typeface="Courier New"/>
                  <a:sym typeface="Courier New"/>
                </a:rPr>
                <a:t>write(fd, buf, 2048);</a:t>
              </a: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39" name="Google Shape;239;p26"/>
            <p:cNvSpPr txBox="1"/>
            <p:nvPr/>
          </p:nvSpPr>
          <p:spPr>
            <a:xfrm>
              <a:off x="1295050" y="5436475"/>
              <a:ext cx="2818500" cy="48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latin typeface="Courier New"/>
                  <a:ea typeface="Courier New"/>
                  <a:cs typeface="Courier New"/>
                  <a:sym typeface="Courier New"/>
                </a:rPr>
                <a:t>write(fd, buf, 2048);</a:t>
              </a: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40" name="Google Shape;240;p26"/>
          <p:cNvGrpSpPr/>
          <p:nvPr/>
        </p:nvGrpSpPr>
        <p:grpSpPr>
          <a:xfrm>
            <a:off x="7986387" y="4903870"/>
            <a:ext cx="1799853" cy="1889357"/>
            <a:chOff x="5271850" y="4709050"/>
            <a:chExt cx="1452900" cy="1617600"/>
          </a:xfrm>
        </p:grpSpPr>
        <p:sp>
          <p:nvSpPr>
            <p:cNvPr id="241" name="Google Shape;241;p26"/>
            <p:cNvSpPr/>
            <p:nvPr/>
          </p:nvSpPr>
          <p:spPr>
            <a:xfrm>
              <a:off x="5271850" y="4709050"/>
              <a:ext cx="1452900" cy="404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6"/>
            <p:cNvSpPr/>
            <p:nvPr/>
          </p:nvSpPr>
          <p:spPr>
            <a:xfrm>
              <a:off x="5271850" y="5113450"/>
              <a:ext cx="1452900" cy="404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6"/>
            <p:cNvSpPr/>
            <p:nvPr/>
          </p:nvSpPr>
          <p:spPr>
            <a:xfrm>
              <a:off x="5271850" y="5517850"/>
              <a:ext cx="1452900" cy="404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6"/>
            <p:cNvSpPr/>
            <p:nvPr/>
          </p:nvSpPr>
          <p:spPr>
            <a:xfrm>
              <a:off x="5271850" y="5922250"/>
              <a:ext cx="1452900" cy="404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45" name="Google Shape;245;p26"/>
          <p:cNvCxnSpPr>
            <a:stCxn id="236" idx="3"/>
            <a:endCxn id="241" idx="1"/>
          </p:cNvCxnSpPr>
          <p:nvPr/>
        </p:nvCxnSpPr>
        <p:spPr>
          <a:xfrm>
            <a:off x="4113550" y="4311175"/>
            <a:ext cx="3872700" cy="828900"/>
          </a:xfrm>
          <a:prstGeom prst="bentConnector3">
            <a:avLst>
              <a:gd name="adj1" fmla="val 33841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6" name="Google Shape;246;p26"/>
          <p:cNvCxnSpPr>
            <a:stCxn id="237" idx="3"/>
            <a:endCxn id="242" idx="1"/>
          </p:cNvCxnSpPr>
          <p:nvPr/>
        </p:nvCxnSpPr>
        <p:spPr>
          <a:xfrm>
            <a:off x="4113550" y="4639375"/>
            <a:ext cx="3872700" cy="972900"/>
          </a:xfrm>
          <a:prstGeom prst="bentConnector3">
            <a:avLst>
              <a:gd name="adj1" fmla="val 25725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7" name="Google Shape;247;p26"/>
          <p:cNvCxnSpPr>
            <a:stCxn id="239" idx="3"/>
            <a:endCxn id="244" idx="1"/>
          </p:cNvCxnSpPr>
          <p:nvPr/>
        </p:nvCxnSpPr>
        <p:spPr>
          <a:xfrm>
            <a:off x="4113550" y="5295775"/>
            <a:ext cx="3872700" cy="1261200"/>
          </a:xfrm>
          <a:prstGeom prst="bentConnector3">
            <a:avLst>
              <a:gd name="adj1" fmla="val 9492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" name="Google Shape;248;p26"/>
          <p:cNvCxnSpPr>
            <a:stCxn id="238" idx="3"/>
            <a:endCxn id="243" idx="1"/>
          </p:cNvCxnSpPr>
          <p:nvPr/>
        </p:nvCxnSpPr>
        <p:spPr>
          <a:xfrm>
            <a:off x="4113550" y="4967575"/>
            <a:ext cx="3872700" cy="1117200"/>
          </a:xfrm>
          <a:prstGeom prst="bentConnector3">
            <a:avLst>
              <a:gd name="adj1" fmla="val 17609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9" name="Google Shape;249;p26"/>
          <p:cNvSpPr txBox="1"/>
          <p:nvPr/>
        </p:nvSpPr>
        <p:spPr>
          <a:xfrm>
            <a:off x="7897663" y="4256725"/>
            <a:ext cx="19773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NFS </a:t>
            </a: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8k buffer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26"/>
          <p:cNvSpPr txBox="1"/>
          <p:nvPr/>
        </p:nvSpPr>
        <p:spPr>
          <a:xfrm>
            <a:off x="7355563" y="6793225"/>
            <a:ext cx="30615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write() passes buffer to biod or makes its own RPC call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26"/>
          <p:cNvSpPr txBox="1"/>
          <p:nvPr/>
        </p:nvSpPr>
        <p:spPr>
          <a:xfrm>
            <a:off x="5716438" y="5140075"/>
            <a:ext cx="19773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immediate return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26"/>
          <p:cNvSpPr txBox="1"/>
          <p:nvPr/>
        </p:nvSpPr>
        <p:spPr>
          <a:xfrm>
            <a:off x="5716438" y="5608250"/>
            <a:ext cx="19773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immediate return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26"/>
          <p:cNvSpPr txBox="1"/>
          <p:nvPr/>
        </p:nvSpPr>
        <p:spPr>
          <a:xfrm>
            <a:off x="5716438" y="6084775"/>
            <a:ext cx="19773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immediate return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59" name="Google Shape;259;p2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Components of NFS – NFS Utilities (1)</a:t>
            </a:r>
            <a:endParaRPr sz="4800"/>
          </a:p>
        </p:txBody>
      </p:sp>
      <p:sp>
        <p:nvSpPr>
          <p:cNvPr id="260" name="Google Shape;260;p27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nfsstat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Display NFS statistics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% nfsstat -s (display statistics of NFS server)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% nfsstat -c (display statistics of NFS client)</a:t>
            </a:r>
            <a:endParaRPr/>
          </a:p>
        </p:txBody>
      </p:sp>
      <p:sp>
        <p:nvSpPr>
          <p:cNvPr id="261" name="Google Shape;261;p27"/>
          <p:cNvSpPr txBox="1">
            <a:spLocks noGrp="1"/>
          </p:cNvSpPr>
          <p:nvPr>
            <p:ph type="body" idx="2"/>
          </p:nvPr>
        </p:nvSpPr>
        <p:spPr>
          <a:xfrm>
            <a:off x="724500" y="3618200"/>
            <a:ext cx="10798500" cy="37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$ </a:t>
            </a:r>
            <a:r>
              <a:rPr lang="en-US" sz="1400" b="1">
                <a:solidFill>
                  <a:srgbClr val="FF0000"/>
                </a:solidFill>
              </a:rPr>
              <a:t>sudo nfsstat -c</a:t>
            </a:r>
            <a:endParaRPr sz="1400"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Client Info: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Rpc Counts: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  Getattr   Setattr    Lookup  Readlink      Read     Write    Create    Remove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  1065253     34196    379742      5187    111699    182603     18049     29803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   Rename      Link   Symlink     Mkdir     Rmdir   Readdir  RdirPlus    Access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    20838      4746         1        10      1003      4705         0    316560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    Mknod    Fsstat    Fsinfo  PathConf    Commit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        0     13742      3889         0     75747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Rpc Info: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 TimedOut   Invalid  X Replies   Retries  Requests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        0         0         69      3994   2267773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Cache Info: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Attr Hits    Misses Lkup Hits    Misses BioR Hits    Misses BioW Hits    Misses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  1920497   1259363   1256973    379714    352854    102015    521158    182603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BioRLHits    Misses BioD Hits    Misses DirE Hits    Misses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   347749      5187     14996      4685      6137         0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67" name="Google Shape;267;p2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Components of NFS – NFS Utilities (2)</a:t>
            </a:r>
            <a:endParaRPr sz="4800"/>
          </a:p>
        </p:txBody>
      </p:sp>
      <p:sp>
        <p:nvSpPr>
          <p:cNvPr id="268" name="Google Shape;268;p2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 err="1"/>
              <a:t>showmount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% </a:t>
            </a:r>
            <a:r>
              <a:rPr lang="en-US" dirty="0" err="1"/>
              <a:t>showmount</a:t>
            </a:r>
            <a:r>
              <a:rPr lang="en-US" dirty="0"/>
              <a:t> -e [host]</a:t>
            </a:r>
            <a:endParaRPr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dirty="0"/>
              <a:t>show the hosts’ export list (localhost if not specified)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% </a:t>
            </a:r>
            <a:r>
              <a:rPr lang="en-US" dirty="0" err="1"/>
              <a:t>showmount</a:t>
            </a:r>
            <a:r>
              <a:rPr lang="en-US" dirty="0"/>
              <a:t> -a </a:t>
            </a:r>
            <a:endParaRPr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dirty="0"/>
              <a:t>List all mount points</a:t>
            </a:r>
            <a:endParaRPr dirty="0"/>
          </a:p>
        </p:txBody>
      </p:sp>
      <p:sp>
        <p:nvSpPr>
          <p:cNvPr id="269" name="Google Shape;269;p28"/>
          <p:cNvSpPr txBox="1">
            <a:spLocks noGrp="1"/>
          </p:cNvSpPr>
          <p:nvPr>
            <p:ph type="body" idx="2"/>
          </p:nvPr>
        </p:nvSpPr>
        <p:spPr>
          <a:xfrm>
            <a:off x="2777050" y="4034699"/>
            <a:ext cx="6474900" cy="33014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/>
              <a:t>$ </a:t>
            </a:r>
            <a:r>
              <a:rPr lang="en-US" sz="1500" b="1" dirty="0" err="1">
                <a:solidFill>
                  <a:srgbClr val="FF0000"/>
                </a:solidFill>
              </a:rPr>
              <a:t>showmount</a:t>
            </a:r>
            <a:r>
              <a:rPr lang="en-US" sz="1500" b="1" dirty="0">
                <a:solidFill>
                  <a:srgbClr val="FF0000"/>
                </a:solidFill>
              </a:rPr>
              <a:t> -e magpie</a:t>
            </a:r>
            <a:endParaRPr sz="1500" b="1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/>
              <a:t>Exports list on magpie:</a:t>
            </a:r>
            <a:endParaRPr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/>
              <a:t>/home		</a:t>
            </a:r>
            <a:r>
              <a:rPr lang="en-US" sz="1500" b="1" dirty="0" err="1"/>
              <a:t>ccduty</a:t>
            </a:r>
            <a:r>
              <a:rPr lang="en-US" sz="1500" b="1" dirty="0"/>
              <a:t> </a:t>
            </a:r>
            <a:r>
              <a:rPr lang="en-US" sz="1500" b="1" dirty="0" err="1"/>
              <a:t>mailgate</a:t>
            </a:r>
            <a:r>
              <a:rPr lang="en-US" sz="1500" b="1" dirty="0"/>
              <a:t> 140.113.209.0</a:t>
            </a:r>
            <a:endParaRPr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/>
              <a:t>/</a:t>
            </a:r>
            <a:r>
              <a:rPr lang="en-US" sz="1500" b="1" dirty="0" err="1"/>
              <a:t>drongo</a:t>
            </a:r>
            <a:r>
              <a:rPr lang="en-US" sz="1500" b="1" dirty="0"/>
              <a:t>		operator </a:t>
            </a:r>
            <a:r>
              <a:rPr lang="en-US" sz="1500" b="1" dirty="0" err="1"/>
              <a:t>ccduty</a:t>
            </a:r>
            <a:r>
              <a:rPr lang="en-US" sz="1500" b="1" dirty="0"/>
              <a:t> </a:t>
            </a:r>
            <a:r>
              <a:rPr lang="en-US" sz="1500" b="1" dirty="0" err="1"/>
              <a:t>mailgate</a:t>
            </a:r>
            <a:r>
              <a:rPr lang="en-US" sz="1500" b="1" dirty="0"/>
              <a:t> 140.113.209.0</a:t>
            </a:r>
            <a:endParaRPr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/>
              <a:t>$ </a:t>
            </a:r>
            <a:r>
              <a:rPr lang="en-US" sz="1500" b="1" dirty="0" err="1">
                <a:solidFill>
                  <a:srgbClr val="FF0000"/>
                </a:solidFill>
              </a:rPr>
              <a:t>showmount</a:t>
            </a:r>
            <a:r>
              <a:rPr lang="en-US" sz="1500" b="1" dirty="0">
                <a:solidFill>
                  <a:srgbClr val="FF0000"/>
                </a:solidFill>
              </a:rPr>
              <a:t> -a</a:t>
            </a:r>
            <a:endParaRPr sz="1500" b="1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/>
              <a:t>All mount points on localhost:</a:t>
            </a:r>
            <a:endParaRPr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/>
              <a:t>bsd1:/home2</a:t>
            </a:r>
            <a:endParaRPr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/>
              <a:t>bsd1:/raid/home</a:t>
            </a:r>
            <a:endParaRPr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 err="1"/>
              <a:t>csduty</a:t>
            </a:r>
            <a:r>
              <a:rPr lang="en-US" sz="1500" b="1" dirty="0"/>
              <a:t>:/home2</a:t>
            </a:r>
            <a:endParaRPr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 err="1"/>
              <a:t>csduty</a:t>
            </a:r>
            <a:r>
              <a:rPr lang="en-US" sz="1500" b="1" dirty="0"/>
              <a:t>:/raid/home</a:t>
            </a:r>
            <a:endParaRPr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/>
              <a:t>linux1:/raid/home</a:t>
            </a:r>
            <a:endParaRPr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/>
              <a:t>linux2:/raid/home</a:t>
            </a:r>
            <a:endParaRPr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/>
              <a:t>nat235.dynamic:/raid/home</a:t>
            </a:r>
            <a:endParaRPr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/>
              <a:t>sun1:/raid/home</a:t>
            </a:r>
            <a:endParaRPr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75" name="Google Shape;275;p2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NFS in FreeBSD</a:t>
            </a:r>
            <a:endParaRPr/>
          </a:p>
        </p:txBody>
      </p:sp>
      <p:sp>
        <p:nvSpPr>
          <p:cNvPr id="276" name="Google Shape;276;p2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NFS server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NFS client</a:t>
            </a:r>
            <a:endParaRPr/>
          </a:p>
        </p:txBody>
      </p:sp>
      <p:sp>
        <p:nvSpPr>
          <p:cNvPr id="277" name="Google Shape;277;p29"/>
          <p:cNvSpPr txBox="1">
            <a:spLocks noGrp="1"/>
          </p:cNvSpPr>
          <p:nvPr>
            <p:ph type="body" idx="2"/>
          </p:nvPr>
        </p:nvSpPr>
        <p:spPr>
          <a:xfrm>
            <a:off x="1095925" y="2077825"/>
            <a:ext cx="5262300" cy="19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…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nfs_server_enable="YES"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nfs_server_flags="-u -t -n 4"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rpcbind_enable="YES“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mount_enable="YES"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…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278" name="Google Shape;278;p29"/>
          <p:cNvSpPr txBox="1"/>
          <p:nvPr/>
        </p:nvSpPr>
        <p:spPr>
          <a:xfrm>
            <a:off x="4817800" y="1890625"/>
            <a:ext cx="1442100" cy="382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/etc/rc.conf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29"/>
          <p:cNvSpPr txBox="1">
            <a:spLocks noGrp="1"/>
          </p:cNvSpPr>
          <p:nvPr>
            <p:ph type="body" idx="2"/>
          </p:nvPr>
        </p:nvSpPr>
        <p:spPr>
          <a:xfrm>
            <a:off x="1095925" y="4811100"/>
            <a:ext cx="5262300" cy="10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…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nfs_client_enable="YES"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…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280" name="Google Shape;280;p29"/>
          <p:cNvSpPr txBox="1"/>
          <p:nvPr/>
        </p:nvSpPr>
        <p:spPr>
          <a:xfrm>
            <a:off x="4817800" y="4623900"/>
            <a:ext cx="1442100" cy="382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/etc/rc.conf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286" name="Google Shape;286;p3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NFS and ZFS</a:t>
            </a:r>
            <a:endParaRPr/>
          </a:p>
        </p:txBody>
      </p:sp>
      <p:sp>
        <p:nvSpPr>
          <p:cNvPr id="287" name="Google Shape;287;p3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No need to edit /</a:t>
            </a:r>
            <a:r>
              <a:rPr lang="en-US" dirty="0" err="1"/>
              <a:t>etc</a:t>
            </a:r>
            <a:r>
              <a:rPr lang="en-US" dirty="0"/>
              <a:t>/exports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 dirty="0" err="1">
                <a:solidFill>
                  <a:schemeClr val="hlink"/>
                </a:solidFill>
                <a:hlinkClick r:id="rId3"/>
              </a:rPr>
              <a:t>zfs</a:t>
            </a:r>
            <a:r>
              <a:rPr lang="en-US" u="sng" dirty="0">
                <a:solidFill>
                  <a:schemeClr val="hlink"/>
                </a:solidFill>
                <a:hlinkClick r:id="rId3"/>
              </a:rPr>
              <a:t>(8)</a:t>
            </a:r>
            <a:endParaRPr dirty="0"/>
          </a:p>
        </p:txBody>
      </p:sp>
      <p:sp>
        <p:nvSpPr>
          <p:cNvPr id="288" name="Google Shape;288;p30"/>
          <p:cNvSpPr txBox="1">
            <a:spLocks noGrp="1"/>
          </p:cNvSpPr>
          <p:nvPr>
            <p:ph type="body" idx="2"/>
          </p:nvPr>
        </p:nvSpPr>
        <p:spPr>
          <a:xfrm>
            <a:off x="1072450" y="2248474"/>
            <a:ext cx="8932800" cy="13410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if </a:t>
            </a:r>
            <a:r>
              <a:rPr lang="en-US" b="1" dirty="0" err="1"/>
              <a:t>checkyesno</a:t>
            </a:r>
            <a:r>
              <a:rPr lang="en-US" b="1" dirty="0"/>
              <a:t> </a:t>
            </a:r>
            <a:r>
              <a:rPr lang="en-US" b="1" dirty="0" err="1"/>
              <a:t>zfs_enable</a:t>
            </a:r>
            <a:r>
              <a:rPr lang="en-US" b="1" dirty="0"/>
              <a:t>; then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	</a:t>
            </a:r>
            <a:r>
              <a:rPr lang="en-US" b="1" dirty="0" err="1"/>
              <a:t>rc_flags</a:t>
            </a:r>
            <a:r>
              <a:rPr lang="en-US" b="1" dirty="0"/>
              <a:t>="${</a:t>
            </a:r>
            <a:r>
              <a:rPr lang="en-US" b="1" dirty="0" err="1"/>
              <a:t>rc_flags</a:t>
            </a:r>
            <a:r>
              <a:rPr lang="en-US" b="1" dirty="0"/>
              <a:t>} /</a:t>
            </a:r>
            <a:r>
              <a:rPr lang="en-US" b="1" dirty="0" err="1"/>
              <a:t>etc</a:t>
            </a:r>
            <a:r>
              <a:rPr lang="en-US" b="1" dirty="0"/>
              <a:t>/exports </a:t>
            </a:r>
            <a:r>
              <a:rPr lang="en-US" b="1" dirty="0">
                <a:solidFill>
                  <a:srgbClr val="FF0000"/>
                </a:solidFill>
              </a:rPr>
              <a:t>/</a:t>
            </a:r>
            <a:r>
              <a:rPr lang="en-US" b="1" dirty="0" err="1">
                <a:solidFill>
                  <a:srgbClr val="FF0000"/>
                </a:solidFill>
              </a:rPr>
              <a:t>etc</a:t>
            </a:r>
            <a:r>
              <a:rPr lang="en-US" b="1" dirty="0">
                <a:solidFill>
                  <a:srgbClr val="FF0000"/>
                </a:solidFill>
              </a:rPr>
              <a:t>/</a:t>
            </a:r>
            <a:r>
              <a:rPr lang="en-US" b="1" dirty="0" err="1">
                <a:solidFill>
                  <a:srgbClr val="FF0000"/>
                </a:solidFill>
              </a:rPr>
              <a:t>zfs</a:t>
            </a:r>
            <a:r>
              <a:rPr lang="en-US" b="1" dirty="0">
                <a:solidFill>
                  <a:srgbClr val="FF0000"/>
                </a:solidFill>
              </a:rPr>
              <a:t>/exports</a:t>
            </a:r>
            <a:r>
              <a:rPr lang="en-US" b="1" dirty="0"/>
              <a:t>"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fi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sp>
        <p:nvSpPr>
          <p:cNvPr id="289" name="Google Shape;289;p30"/>
          <p:cNvSpPr txBox="1"/>
          <p:nvPr/>
        </p:nvSpPr>
        <p:spPr>
          <a:xfrm>
            <a:off x="7995175" y="2006675"/>
            <a:ext cx="1795500" cy="491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/etc/rc.d/mountd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30"/>
          <p:cNvSpPr txBox="1">
            <a:spLocks noGrp="1"/>
          </p:cNvSpPr>
          <p:nvPr>
            <p:ph type="body" idx="2"/>
          </p:nvPr>
        </p:nvSpPr>
        <p:spPr>
          <a:xfrm>
            <a:off x="1072450" y="4231387"/>
            <a:ext cx="8932800" cy="27886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 err="1"/>
              <a:t>sharenfs</a:t>
            </a:r>
            <a:r>
              <a:rPr lang="en-US" sz="1600" b="1" dirty="0"/>
              <a:t>=on | off | opts</a:t>
            </a:r>
            <a:endParaRPr sz="1600" b="1" dirty="0"/>
          </a:p>
          <a:p>
            <a:pPr marL="0" lvl="0" indent="0">
              <a:buNone/>
            </a:pPr>
            <a:r>
              <a:rPr lang="en-US" sz="1600" b="1" dirty="0"/>
              <a:t>Controls whether the file system is shared via NFS, and what options are used. </a:t>
            </a:r>
            <a:r>
              <a:rPr lang="en-US" sz="1600" b="1" dirty="0">
                <a:solidFill>
                  <a:srgbClr val="FF0000"/>
                </a:solidFill>
              </a:rPr>
              <a:t>A file system with a </a:t>
            </a:r>
            <a:r>
              <a:rPr lang="en-US" sz="1600" b="1" dirty="0" err="1">
                <a:solidFill>
                  <a:srgbClr val="0000FF"/>
                </a:solidFill>
              </a:rPr>
              <a:t>sharenfs</a:t>
            </a:r>
            <a:r>
              <a:rPr lang="en-US" sz="1600" b="1" dirty="0">
                <a:solidFill>
                  <a:srgbClr val="FF0000"/>
                </a:solidFill>
              </a:rPr>
              <a:t> property of </a:t>
            </a:r>
            <a:r>
              <a:rPr lang="en-US" sz="1600" b="1" dirty="0">
                <a:solidFill>
                  <a:srgbClr val="0000FF"/>
                </a:solidFill>
              </a:rPr>
              <a:t>off</a:t>
            </a:r>
            <a:r>
              <a:rPr lang="en-US" sz="1600" b="1" dirty="0">
                <a:solidFill>
                  <a:srgbClr val="FF0000"/>
                </a:solidFill>
              </a:rPr>
              <a:t> is managed the traditional way via exports(5). Otherwise, the file system is</a:t>
            </a:r>
            <a:r>
              <a:rPr lang="en-US" altLang="zh-TW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>
                <a:solidFill>
                  <a:srgbClr val="FF0000"/>
                </a:solidFill>
              </a:rPr>
              <a:t>automatically shared and unshared with the “</a:t>
            </a:r>
            <a:r>
              <a:rPr lang="en-US" sz="1600" b="1" dirty="0" err="1">
                <a:solidFill>
                  <a:srgbClr val="0000FF"/>
                </a:solidFill>
              </a:rPr>
              <a:t>zfs</a:t>
            </a:r>
            <a:r>
              <a:rPr lang="en-US" sz="1600" b="1" dirty="0">
                <a:solidFill>
                  <a:srgbClr val="0000FF"/>
                </a:solidFill>
              </a:rPr>
              <a:t> share</a:t>
            </a:r>
            <a:r>
              <a:rPr lang="en-US" altLang="zh-TW" sz="1600" b="1" dirty="0">
                <a:solidFill>
                  <a:srgbClr val="FF0000"/>
                </a:solidFill>
              </a:rPr>
              <a:t>”</a:t>
            </a:r>
            <a:r>
              <a:rPr lang="en-US" sz="1600" b="1" dirty="0">
                <a:solidFill>
                  <a:srgbClr val="FF0000"/>
                </a:solidFill>
              </a:rPr>
              <a:t> and “</a:t>
            </a:r>
            <a:r>
              <a:rPr lang="en-US" sz="1600" b="1" dirty="0" err="1">
                <a:solidFill>
                  <a:srgbClr val="0000FF"/>
                </a:solidFill>
              </a:rPr>
              <a:t>zfs</a:t>
            </a:r>
            <a:r>
              <a:rPr lang="en-US" altLang="zh-TW" sz="1600" b="1" dirty="0">
                <a:solidFill>
                  <a:srgbClr val="0000FF"/>
                </a:solidFill>
              </a:rPr>
              <a:t> </a:t>
            </a:r>
            <a:r>
              <a:rPr lang="en-US" sz="1600" b="1" dirty="0" err="1">
                <a:solidFill>
                  <a:srgbClr val="0000FF"/>
                </a:solidFill>
              </a:rPr>
              <a:t>unshare</a:t>
            </a:r>
            <a:r>
              <a:rPr lang="en-US" sz="1600" b="1" dirty="0">
                <a:solidFill>
                  <a:srgbClr val="FF0000"/>
                </a:solidFill>
              </a:rPr>
              <a:t>” commands.</a:t>
            </a:r>
            <a:r>
              <a:rPr lang="en-US" sz="1600" b="1" dirty="0"/>
              <a:t> If the property is set to on no NFS</a:t>
            </a:r>
            <a:r>
              <a:rPr lang="zh-TW" altLang="en-US" sz="1600" b="1" dirty="0"/>
              <a:t> </a:t>
            </a:r>
            <a:r>
              <a:rPr lang="en-US" sz="1600" b="1" dirty="0"/>
              <a:t>export options</a:t>
            </a:r>
            <a:r>
              <a:rPr lang="en-US" altLang="zh-TW" sz="1600" b="1" dirty="0"/>
              <a:t> </a:t>
            </a:r>
            <a:r>
              <a:rPr lang="en-US" sz="1600" b="1" dirty="0"/>
              <a:t>are used. Otherwise, NFS export options are equivalent to the contents of this property. The export options may be comma-separated.</a:t>
            </a:r>
            <a:endParaRPr sz="16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/>
              <a:t>See exports(5)	for a list of valid options.</a:t>
            </a:r>
            <a:endParaRPr sz="16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/>
              <a:t>When the </a:t>
            </a:r>
            <a:r>
              <a:rPr lang="en-US" sz="1600" b="1" dirty="0" err="1">
                <a:solidFill>
                  <a:srgbClr val="0000FF"/>
                </a:solidFill>
              </a:rPr>
              <a:t>sharenfs</a:t>
            </a:r>
            <a:r>
              <a:rPr lang="en-US" sz="1600" b="1" dirty="0"/>
              <a:t> property is changed for a dataset, the </a:t>
            </a:r>
            <a:r>
              <a:rPr lang="en-US" sz="1600" b="1" dirty="0" err="1"/>
              <a:t>mountd</a:t>
            </a:r>
            <a:r>
              <a:rPr lang="en-US" sz="1600" b="1" dirty="0"/>
              <a:t>(8)</a:t>
            </a:r>
            <a:r>
              <a:rPr lang="en-US" altLang="zh-TW" sz="1600" b="1" dirty="0"/>
              <a:t> </a:t>
            </a:r>
            <a:r>
              <a:rPr lang="en-US" sz="1600" b="1" dirty="0"/>
              <a:t>daemon is reloaded.</a:t>
            </a:r>
            <a:endParaRPr sz="1500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296" name="Google Shape;296;p3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NFSv4</a:t>
            </a:r>
            <a:endParaRPr/>
          </a:p>
        </p:txBody>
      </p:sp>
      <p:sp>
        <p:nvSpPr>
          <p:cNvPr id="297" name="Google Shape;297;p3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 dirty="0"/>
              <a:t>Server</a:t>
            </a:r>
            <a:endParaRPr sz="2800" dirty="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 dirty="0"/>
              <a:t>/</a:t>
            </a:r>
            <a:r>
              <a:rPr lang="en-US" sz="2600" dirty="0" err="1"/>
              <a:t>etc</a:t>
            </a:r>
            <a:r>
              <a:rPr lang="en-US" sz="2600" dirty="0"/>
              <a:t>/</a:t>
            </a:r>
            <a:r>
              <a:rPr lang="en-US" sz="2600" dirty="0" err="1"/>
              <a:t>rc.conf</a:t>
            </a:r>
            <a:endParaRPr sz="2600" dirty="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 dirty="0"/>
              <a:t>nfsv4_server_enable="YES"</a:t>
            </a:r>
            <a:endParaRPr sz="2400" dirty="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 dirty="0"/>
              <a:t>/</a:t>
            </a:r>
            <a:r>
              <a:rPr lang="en-US" sz="2600" dirty="0" err="1"/>
              <a:t>etc</a:t>
            </a:r>
            <a:r>
              <a:rPr lang="en-US" sz="2600" dirty="0"/>
              <a:t>/exports</a:t>
            </a:r>
            <a:endParaRPr sz="2600" dirty="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 dirty="0"/>
              <a:t>V4: / …</a:t>
            </a:r>
            <a:endParaRPr sz="2400" dirty="0"/>
          </a:p>
          <a:p>
            <a:pPr marL="1828800" lvl="3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 dirty="0"/>
              <a:t>Specify the NFSv4 tree root.</a:t>
            </a:r>
            <a:endParaRPr sz="2200" dirty="0"/>
          </a:p>
          <a:p>
            <a:pPr marL="1828800" lvl="3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 dirty="0"/>
              <a:t>Still need to specify files systems in other lines, as in v2 or v3</a:t>
            </a:r>
            <a:endParaRPr sz="2200" dirty="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 dirty="0"/>
              <a:t>Client</a:t>
            </a:r>
            <a:endParaRPr sz="2800" dirty="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 dirty="0"/>
              <a:t>/</a:t>
            </a:r>
            <a:r>
              <a:rPr lang="en-US" sz="2600" dirty="0" err="1"/>
              <a:t>etc</a:t>
            </a:r>
            <a:r>
              <a:rPr lang="en-US" sz="2600" dirty="0"/>
              <a:t>/</a:t>
            </a:r>
            <a:r>
              <a:rPr lang="en-US" sz="2600" dirty="0" err="1"/>
              <a:t>rc.conf</a:t>
            </a:r>
            <a:endParaRPr sz="2600" dirty="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 dirty="0" err="1"/>
              <a:t>nfscbd_enable</a:t>
            </a:r>
            <a:r>
              <a:rPr lang="en-US" sz="2400" dirty="0"/>
              <a:t>="YES"</a:t>
            </a:r>
            <a:endParaRPr sz="2400" dirty="0"/>
          </a:p>
          <a:p>
            <a:pPr marL="1828800" lvl="3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 dirty="0"/>
              <a:t>Client side callback daemon</a:t>
            </a:r>
            <a:endParaRPr sz="2200" dirty="0"/>
          </a:p>
          <a:p>
            <a:pPr marL="2286000" lvl="4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 dirty="0"/>
              <a:t>nfsv4(4), </a:t>
            </a:r>
            <a:r>
              <a:rPr lang="en-US" sz="2200" dirty="0" err="1"/>
              <a:t>pnfs</a:t>
            </a:r>
            <a:r>
              <a:rPr lang="en-US" sz="2200" dirty="0"/>
              <a:t>(4)</a:t>
            </a:r>
            <a:endParaRPr sz="2200" dirty="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 dirty="0"/>
              <a:t>nfsv4(4), </a:t>
            </a:r>
            <a:r>
              <a:rPr lang="en-US" sz="2800" dirty="0" err="1"/>
              <a:t>pnfs</a:t>
            </a:r>
            <a:r>
              <a:rPr lang="en-US" sz="2800" dirty="0"/>
              <a:t>(4)</a:t>
            </a:r>
            <a:endParaRPr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303" name="Google Shape;303;p3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Performance &amp; Security</a:t>
            </a:r>
            <a:endParaRPr/>
          </a:p>
        </p:txBody>
      </p:sp>
      <p:sp>
        <p:nvSpPr>
          <p:cNvPr id="304" name="Google Shape;304;p32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Jumbo Frames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interface and switch/router both need to support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Font typeface="Courier New"/>
              <a:buChar char="○"/>
            </a:pPr>
            <a:r>
              <a:rPr lang="en-US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ping -D -s &lt;packetsize&gt;</a:t>
            </a:r>
            <a:endParaRPr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Font typeface="Courier New"/>
              <a:buChar char="○"/>
            </a:pPr>
            <a:r>
              <a:rPr lang="en-US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ping -D -g &lt;sweepminsize&gt; -G &lt;sweepmaxsize&gt; </a:t>
            </a:r>
            <a:endParaRPr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Font typeface="Courier New"/>
              <a:buChar char="○"/>
            </a:pPr>
            <a:r>
              <a:rPr lang="en-US"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ifconfig em0 mtu &lt;size&gt;</a:t>
            </a:r>
            <a:endParaRPr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Firewall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Storage Network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2471</Words>
  <Application>Microsoft Office PowerPoint</Application>
  <PresentationFormat>自訂</PresentationFormat>
  <Paragraphs>446</Paragraphs>
  <Slides>26</Slides>
  <Notes>26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4" baseType="lpstr">
      <vt:lpstr>Source Sans Pro</vt:lpstr>
      <vt:lpstr>Courier New</vt:lpstr>
      <vt:lpstr>Times New Roman</vt:lpstr>
      <vt:lpstr>Arial</vt:lpstr>
      <vt:lpstr>Wingdings</vt:lpstr>
      <vt:lpstr>Noto Sans Symbols</vt:lpstr>
      <vt:lpstr>Microsoft JhengHei</vt:lpstr>
      <vt:lpstr>CSCC NASA</vt:lpstr>
      <vt:lpstr>The Network File System</vt:lpstr>
      <vt:lpstr>NFS</vt:lpstr>
      <vt:lpstr>Components of NFS – mounting protocol (1)</vt:lpstr>
      <vt:lpstr>Components of NFS – mounting protocol (2)</vt:lpstr>
      <vt:lpstr>Components of NFS – mounting protocol (3)</vt:lpstr>
      <vt:lpstr>Components of NFS – mounting protocol (4)</vt:lpstr>
      <vt:lpstr>Components of NFS</vt:lpstr>
      <vt:lpstr>Components of NFS – Server-side NFS (1)</vt:lpstr>
      <vt:lpstr>Components of NFS – Server-side NFS (2)</vt:lpstr>
      <vt:lpstr>Components of NFS – Server-side NFS (FreeBSD.1)</vt:lpstr>
      <vt:lpstr>Components of NFS – Server-side NFS (FreeBSD.2)</vt:lpstr>
      <vt:lpstr>Components of NFS – Server-side NFS (Linux.1)</vt:lpstr>
      <vt:lpstr>Components of NFS – Server-side NFS (Linux.2)</vt:lpstr>
      <vt:lpstr>Components of NFS – Server-side NFS (Linux.3)</vt:lpstr>
      <vt:lpstr>Components of NFS – Server-side NFS (Solaris.1)</vt:lpstr>
      <vt:lpstr>Components of NFS – Server-side NFS (Solaris.2)</vt:lpstr>
      <vt:lpstr>Components of NFS – Server-side NFS (3)</vt:lpstr>
      <vt:lpstr>Components of NFS – Client-side NFS (1)</vt:lpstr>
      <vt:lpstr>Components of NFS – Client-side NFS (2)</vt:lpstr>
      <vt:lpstr>Components of NFS – Client-side NFS (3)</vt:lpstr>
      <vt:lpstr>Components of NFS – NFS Utilities (1)</vt:lpstr>
      <vt:lpstr>Components of NFS – NFS Utilities (2)</vt:lpstr>
      <vt:lpstr>NFS in FreeBSD</vt:lpstr>
      <vt:lpstr>NFS and ZFS</vt:lpstr>
      <vt:lpstr>NFSv4</vt:lpstr>
      <vt:lpstr>Performance &amp; Security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Network File System</dc:title>
  <cp:lastModifiedBy>王則涵</cp:lastModifiedBy>
  <cp:revision>8</cp:revision>
  <dcterms:modified xsi:type="dcterms:W3CDTF">2021-11-29T15:26:20Z</dcterms:modified>
</cp:coreProperties>
</file>