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</p:sldIdLst>
  <p:sldSz cy="7559675" cx="11998325"/>
  <p:notesSz cx="7559675" cy="10691800"/>
  <p:embeddedFontLst>
    <p:embeddedFont>
      <p:font typeface="Source Sans Pro Light"/>
      <p:regular r:id="rId56"/>
      <p:bold r:id="rId57"/>
      <p:italic r:id="rId58"/>
      <p:boldItalic r:id="rId59"/>
    </p:embeddedFont>
    <p:embeddedFont>
      <p:font typeface="Ubuntu Mono"/>
      <p:regular r:id="rId60"/>
      <p:bold r:id="rId61"/>
      <p:italic r:id="rId62"/>
      <p:boldItalic r:id="rId63"/>
    </p:embeddedFont>
    <p:embeddedFont>
      <p:font typeface="Source Sans Pro"/>
      <p:regular r:id="rId64"/>
      <p:bold r:id="rId65"/>
      <p:italic r:id="rId66"/>
      <p:boldItalic r:id="rId6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70C53DB-1B9C-4018-AA12-DDFDFFAB2258}">
  <a:tblStyle styleId="{D70C53DB-1B9C-4018-AA12-DDFDFFAB225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UbuntuMono-italic.fntdata"/><Relationship Id="rId61" Type="http://schemas.openxmlformats.org/officeDocument/2006/relationships/font" Target="fonts/UbuntuMono-bold.fntdata"/><Relationship Id="rId20" Type="http://schemas.openxmlformats.org/officeDocument/2006/relationships/slide" Target="slides/slide15.xml"/><Relationship Id="rId64" Type="http://schemas.openxmlformats.org/officeDocument/2006/relationships/font" Target="fonts/SourceSansPro-regular.fntdata"/><Relationship Id="rId63" Type="http://schemas.openxmlformats.org/officeDocument/2006/relationships/font" Target="fonts/UbuntuMono-boldItalic.fntdata"/><Relationship Id="rId22" Type="http://schemas.openxmlformats.org/officeDocument/2006/relationships/slide" Target="slides/slide17.xml"/><Relationship Id="rId66" Type="http://schemas.openxmlformats.org/officeDocument/2006/relationships/font" Target="fonts/SourceSansPro-italic.fntdata"/><Relationship Id="rId21" Type="http://schemas.openxmlformats.org/officeDocument/2006/relationships/slide" Target="slides/slide16.xml"/><Relationship Id="rId65" Type="http://schemas.openxmlformats.org/officeDocument/2006/relationships/font" Target="fonts/SourceSansPro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7" Type="http://schemas.openxmlformats.org/officeDocument/2006/relationships/font" Target="fonts/SourceSansPro-boldItalic.fntdata"/><Relationship Id="rId60" Type="http://schemas.openxmlformats.org/officeDocument/2006/relationships/font" Target="fonts/UbuntuMono-regular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SourceSansProLight-bold.fntdata"/><Relationship Id="rId12" Type="http://schemas.openxmlformats.org/officeDocument/2006/relationships/slide" Target="slides/slide7.xml"/><Relationship Id="rId56" Type="http://schemas.openxmlformats.org/officeDocument/2006/relationships/font" Target="fonts/SourceSansProLight-regular.fntdata"/><Relationship Id="rId15" Type="http://schemas.openxmlformats.org/officeDocument/2006/relationships/slide" Target="slides/slide10.xml"/><Relationship Id="rId59" Type="http://schemas.openxmlformats.org/officeDocument/2006/relationships/font" Target="fonts/SourceSansProLight-boldItalic.fntdata"/><Relationship Id="rId14" Type="http://schemas.openxmlformats.org/officeDocument/2006/relationships/slide" Target="slides/slide9.xml"/><Relationship Id="rId58" Type="http://schemas.openxmlformats.org/officeDocument/2006/relationships/font" Target="fonts/SourceSansProLight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講課時間：65分鐘</a:t>
            </a:r>
            <a:endParaRPr/>
          </a:p>
        </p:txBody>
      </p:sp>
      <p:sp>
        <p:nvSpPr>
          <p:cNvPr id="33" name="Google Shape;33;p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9b97769ca7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g9b97769ca7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95936f4331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95936f4331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95a40ea778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95a40ea778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95a40ea778_0_1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95a40ea778_0_1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95a40ea778_0_4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95a40ea778_0_4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95a40ea778_0_4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95a40ea778_0_4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95a40ea778_0_5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95a40ea778_0_5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95a40ea778_0_6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95a40ea778_0_6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95a40ea778_0_7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95a40ea778_0_7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95a40ea778_0_7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95a40ea778_0_7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95a40ea778_0_8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95a40ea778_0_8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95a40ea778_0_9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95a40ea778_0_9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95a40ea778_0_10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95a40ea778_0_10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95a40ea778_0_10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95a40ea778_0_10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95a40ea778_0_11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95a40ea778_0_11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95a40ea778_0_12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95a40ea778_0_12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95a40ea778_0_13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95a40ea778_0_13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95a40ea778_0_13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95a40ea778_0_13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95a40ea778_0_14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95a40ea778_0_14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975fc7977a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975fc7977a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975fc7977a_0_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975fc7977a_0_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975fc7977a_0_1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975fc7977a_0_1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975fc7977a_0_3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975fc7977a_0_3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975fc7977a_0_4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975fc7977a_0_4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975fc7977a_0_4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975fc7977a_0_4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9b97769ca7_0_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9b97769ca7_0_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9b97769ca7_0_1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9b97769ca7_0_1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a02abb9ca4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a02abb9ca4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9b97769ca7_0_2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9b97769ca7_0_2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9b97769ca7_0_4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9b97769ca7_0_4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9b97769ca7_0_4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9b97769ca7_0_4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9b97769ca7_0_5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9b97769ca7_0_5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9b97769ca7_0_6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9b97769ca7_0_6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9b97769ca7_0_7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9b97769ca7_0_7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9b97769ca7_0_8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9b97769ca7_0_8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9b97769ca7_0_9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9b97769ca7_0_9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9b97769ca7_0_10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9b97769ca7_0_10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9b97769ca7_0_11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9b97769ca7_0_11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a02abb9ca4_0_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a02abb9ca4_0_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a02abb9ca4_0_1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a02abb9ca4_0_1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a02abb9ca4_0_2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a02abb9ca4_0_2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a02abb9ca4_0_3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a02abb9ca4_0_3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a02abb9ca4_0_4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a02abb9ca4_0_4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a02abb9ca4_0_5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a02abb9ca4_0_5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a02abb9ca4_0_4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a02abb9ca4_0_4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a02abb9ca4_0_6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a02abb9ca4_0_6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a02abb9ca4_0_8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a02abb9ca4_0_8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a02abb9ca4_0_9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a02abb9ca4_0_9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9c0f242f42_0_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9c0f242f42_0_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大標題" type="tx">
  <p:cSld name="TITLE_AND_BODY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8000"/>
              <a:buFont typeface="Source Sans Pro"/>
              <a:buNone/>
              <a:defRPr sz="8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BF5F9"/>
              </a:buClr>
              <a:buSzPts val="3600"/>
              <a:buFont typeface="Source Sans Pro"/>
              <a:buNone/>
              <a:defRPr sz="3600">
                <a:solidFill>
                  <a:srgbClr val="DBF5F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/>
        </p:nvSpPr>
        <p:spPr>
          <a:xfrm>
            <a:off x="5272075" y="6385700"/>
            <a:ext cx="6126300" cy="10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國立陽明交通大學資工系資訊中心</a:t>
            </a:r>
            <a:endParaRPr sz="3000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Computer Center, Department of Computer Science, NYCU</a:t>
            </a:r>
            <a:endParaRPr sz="1100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4500">
              <a:solidFill>
                <a:srgbClr val="FFFFF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一" type="obj">
  <p:cSld name="OBJEC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Source Sans Pro"/>
              <a:buNone/>
              <a:defRPr sz="6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一 (程式碼)">
  <p:cSld name="OBJECT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Source Sans Pro"/>
              <a:buNone/>
              <a:defRPr sz="6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1pPr>
            <a:lvl2pPr indent="-368300" lvl="1" marL="9144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2pPr>
            <a:lvl3pPr indent="-368300" lvl="2" marL="13716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3pPr>
            <a:lvl4pPr indent="-368300" lvl="3" marL="18288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4pPr>
            <a:lvl5pPr indent="-368300" lvl="4" marL="22860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5pPr>
            <a:lvl6pPr indent="-368300" lvl="5" marL="27432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6pPr>
            <a:lvl7pPr indent="-368300" lvl="6" marL="32004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7pPr>
            <a:lvl8pPr indent="-368300" lvl="7" marL="36576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8pPr>
            <a:lvl9pPr indent="-368300" lvl="8" marL="41148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二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5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版面二 (程式碼)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" name="Google Shape;29;p6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2" type="body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1pPr>
            <a:lvl2pPr indent="-368300" lvl="1" marL="9144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2pPr>
            <a:lvl3pPr indent="-368300" lvl="2" marL="13716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3pPr>
            <a:lvl4pPr indent="-368300" lvl="3" marL="18288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4pPr>
            <a:lvl5pPr indent="-368300" lvl="4" marL="22860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5pPr>
            <a:lvl6pPr indent="-368300" lvl="5" marL="27432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6pPr>
            <a:lvl7pPr indent="-368300" lvl="6" marL="32004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7pPr>
            <a:lvl8pPr indent="-368300" lvl="7" marL="36576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8pPr>
            <a:lvl9pPr indent="-368300" lvl="8" marL="41148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8000"/>
              <a:buFont typeface="Source Sans Pro"/>
              <a:buNone/>
              <a:defRPr sz="8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" name="Google Shape;7;p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hyperlink" Target="https://github.com/lctseng/Unix-User-Config/blob/master/.tmux.conf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www.freebsd.org/cgi/man.cgi?tmux" TargetMode="External"/><Relationship Id="rId4" Type="http://schemas.openxmlformats.org/officeDocument/2006/relationships/hyperlink" Target="https://gist.github.com/MohamedAlaa/2961058" TargetMode="External"/><Relationship Id="rId5" Type="http://schemas.openxmlformats.org/officeDocument/2006/relationships/hyperlink" Target="https://5xruby.tw/posts/tmux/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git-scm.com/book/en/v2/Getting-Started-Installing-Git" TargetMode="External"/><Relationship Id="rId4" Type="http://schemas.openxmlformats.org/officeDocument/2006/relationships/image" Target="../media/image2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git-scm.com/docs/git-diff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://gits-scm.com/docs/pretty-formats" TargetMode="Externa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git.cs.nctu.edu.tw/lctseng/sa-demo.git" TargetMode="Externa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/>
        </p:nvSpPr>
        <p:spPr>
          <a:xfrm>
            <a:off x="548640" y="301320"/>
            <a:ext cx="10798500" cy="4453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8000" strike="noStrike">
              <a:solidFill>
                <a:srgbClr val="04617B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sp>
        <p:nvSpPr>
          <p:cNvPr id="36" name="Google Shape;36;p7"/>
          <p:cNvSpPr txBox="1"/>
          <p:nvPr/>
        </p:nvSpPr>
        <p:spPr>
          <a:xfrm>
            <a:off x="552960" y="5216400"/>
            <a:ext cx="10789800" cy="15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 strike="noStrike">
              <a:solidFill>
                <a:srgbClr val="DBF5F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37" name="Google Shape;37;p7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Utilities - tmux &amp; git</a:t>
            </a:r>
            <a:endParaRPr/>
          </a:p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300"/>
              <a:t>lctseng (2019-2021, CC BY-SA)</a:t>
            </a:r>
            <a:endParaRPr sz="3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/>
              <a:t>wnlee and others (1996-2018) </a:t>
            </a:r>
            <a:endParaRPr sz="3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/>
        </p:nvSpPr>
        <p:spPr>
          <a:xfrm>
            <a:off x="548640" y="301320"/>
            <a:ext cx="10798500" cy="4453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8000" strike="noStrike">
              <a:solidFill>
                <a:srgbClr val="04617B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sp>
        <p:nvSpPr>
          <p:cNvPr id="45" name="Google Shape;45;p8"/>
          <p:cNvSpPr txBox="1"/>
          <p:nvPr/>
        </p:nvSpPr>
        <p:spPr>
          <a:xfrm>
            <a:off x="552960" y="5216400"/>
            <a:ext cx="10789800" cy="15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 strike="noStrike">
              <a:solidFill>
                <a:srgbClr val="DBF5F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46" name="Google Shape;46;p8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Tmux</a:t>
            </a:r>
            <a:endParaRPr/>
          </a:p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" name="Google Shape;48;p8"/>
          <p:cNvSpPr txBox="1"/>
          <p:nvPr>
            <p:ph idx="1" type="subTitle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Terminal Multiplexer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9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tmux?</a:t>
            </a:r>
            <a:endParaRPr/>
          </a:p>
        </p:txBody>
      </p:sp>
      <p:sp>
        <p:nvSpPr>
          <p:cNvPr id="55" name="Google Shape;55;p9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</a:t>
            </a:r>
            <a:r>
              <a:rPr lang="en-US"/>
              <a:t>erminal Multiplexer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Allow open multiple tabs (multiple terminals)</a:t>
            </a:r>
            <a:endParaRPr/>
          </a:p>
        </p:txBody>
      </p:sp>
      <p:pic>
        <p:nvPicPr>
          <p:cNvPr id="56" name="Google Shape;56;p9"/>
          <p:cNvPicPr preferRelativeResize="0"/>
          <p:nvPr/>
        </p:nvPicPr>
        <p:blipFill rotWithShape="1">
          <a:blip r:embed="rId3">
            <a:alphaModFix/>
          </a:blip>
          <a:srcRect b="0" l="0" r="921" t="4251"/>
          <a:stretch/>
        </p:blipFill>
        <p:spPr>
          <a:xfrm>
            <a:off x="1086325" y="2668675"/>
            <a:ext cx="10029977" cy="4629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10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tmux?</a:t>
            </a:r>
            <a:endParaRPr/>
          </a:p>
        </p:txBody>
      </p:sp>
      <p:sp>
        <p:nvSpPr>
          <p:cNvPr id="63" name="Google Shape;63;p10"/>
          <p:cNvSpPr/>
          <p:nvPr/>
        </p:nvSpPr>
        <p:spPr>
          <a:xfrm>
            <a:off x="4274775" y="4326125"/>
            <a:ext cx="2871600" cy="2915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0"/>
          <p:cNvSpPr/>
          <p:nvPr/>
        </p:nvSpPr>
        <p:spPr>
          <a:xfrm>
            <a:off x="4503150" y="4543650"/>
            <a:ext cx="2436600" cy="1152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Tmux Client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0"/>
          <p:cNvSpPr/>
          <p:nvPr/>
        </p:nvSpPr>
        <p:spPr>
          <a:xfrm>
            <a:off x="4503150" y="5892525"/>
            <a:ext cx="2436600" cy="1152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Tmux Server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10"/>
          <p:cNvSpPr/>
          <p:nvPr/>
        </p:nvSpPr>
        <p:spPr>
          <a:xfrm>
            <a:off x="5416875" y="5369500"/>
            <a:ext cx="587400" cy="8703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8201" y="1237126"/>
            <a:ext cx="3084742" cy="29151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/>
          <p:nvPr/>
        </p:nvSpPr>
        <p:spPr>
          <a:xfrm>
            <a:off x="5416875" y="3769300"/>
            <a:ext cx="587400" cy="8703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0"/>
          <p:cNvSpPr txBox="1"/>
          <p:nvPr/>
        </p:nvSpPr>
        <p:spPr>
          <a:xfrm>
            <a:off x="5754050" y="3883625"/>
            <a:ext cx="7200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SSH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10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p11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tmux?</a:t>
            </a:r>
            <a:endParaRPr/>
          </a:p>
        </p:txBody>
      </p:sp>
      <p:pic>
        <p:nvPicPr>
          <p:cNvPr id="77" name="Google Shape;77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68425"/>
            <a:ext cx="11609176" cy="536027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1"/>
          <p:cNvSpPr txBox="1"/>
          <p:nvPr/>
        </p:nvSpPr>
        <p:spPr>
          <a:xfrm>
            <a:off x="2273325" y="3339288"/>
            <a:ext cx="1718700" cy="8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rgbClr val="F3F3F3"/>
                </a:solidFill>
                <a:latin typeface="Verdana"/>
                <a:ea typeface="Verdana"/>
                <a:cs typeface="Verdana"/>
                <a:sym typeface="Verdana"/>
              </a:rPr>
              <a:t>Pane</a:t>
            </a:r>
            <a:endParaRPr sz="4500">
              <a:solidFill>
                <a:srgbClr val="F3F3F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8310325" y="3339275"/>
            <a:ext cx="1718700" cy="8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rgbClr val="F3F3F3"/>
                </a:solidFill>
                <a:latin typeface="Verdana"/>
                <a:ea typeface="Verdana"/>
                <a:cs typeface="Verdana"/>
                <a:sym typeface="Verdana"/>
              </a:rPr>
              <a:t>Pane</a:t>
            </a:r>
            <a:endParaRPr sz="4500">
              <a:solidFill>
                <a:srgbClr val="F3F3F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0" name="Google Shape;80;p11"/>
          <p:cNvSpPr txBox="1"/>
          <p:nvPr/>
        </p:nvSpPr>
        <p:spPr>
          <a:xfrm>
            <a:off x="5226838" y="5786888"/>
            <a:ext cx="1718700" cy="8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rgbClr val="F3F3F3"/>
                </a:solidFill>
                <a:latin typeface="Verdana"/>
                <a:ea typeface="Verdana"/>
                <a:cs typeface="Verdana"/>
                <a:sym typeface="Verdana"/>
              </a:rPr>
              <a:t>Pane</a:t>
            </a:r>
            <a:endParaRPr sz="4500">
              <a:solidFill>
                <a:srgbClr val="F3F3F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1" name="Google Shape;81;p11"/>
          <p:cNvSpPr/>
          <p:nvPr/>
        </p:nvSpPr>
        <p:spPr>
          <a:xfrm>
            <a:off x="152400" y="6601450"/>
            <a:ext cx="282900" cy="2730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1"/>
          <p:cNvSpPr/>
          <p:nvPr/>
        </p:nvSpPr>
        <p:spPr>
          <a:xfrm>
            <a:off x="489500" y="6601450"/>
            <a:ext cx="1957800" cy="273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115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1"/>
          <p:cNvSpPr txBox="1"/>
          <p:nvPr/>
        </p:nvSpPr>
        <p:spPr>
          <a:xfrm>
            <a:off x="320875" y="4867025"/>
            <a:ext cx="2556000" cy="6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Session</a:t>
            </a:r>
            <a:endParaRPr sz="2500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4" name="Google Shape;84;p11"/>
          <p:cNvSpPr txBox="1"/>
          <p:nvPr/>
        </p:nvSpPr>
        <p:spPr>
          <a:xfrm>
            <a:off x="2241050" y="4870325"/>
            <a:ext cx="15882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1155CC"/>
                </a:solidFill>
                <a:latin typeface="Verdana"/>
                <a:ea typeface="Verdana"/>
                <a:cs typeface="Verdana"/>
                <a:sym typeface="Verdana"/>
              </a:rPr>
              <a:t>Window</a:t>
            </a:r>
            <a:endParaRPr sz="2500">
              <a:solidFill>
                <a:srgbClr val="1155C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85" name="Google Shape;85;p11"/>
          <p:cNvCxnSpPr/>
          <p:nvPr/>
        </p:nvCxnSpPr>
        <p:spPr>
          <a:xfrm flipH="1">
            <a:off x="293850" y="5297050"/>
            <a:ext cx="326100" cy="1228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6" name="Google Shape;86;p11"/>
          <p:cNvCxnSpPr/>
          <p:nvPr/>
        </p:nvCxnSpPr>
        <p:spPr>
          <a:xfrm flipH="1">
            <a:off x="2275050" y="5373250"/>
            <a:ext cx="326100" cy="1228200"/>
          </a:xfrm>
          <a:prstGeom prst="straightConnector1">
            <a:avLst/>
          </a:prstGeom>
          <a:noFill/>
          <a:ln cap="flat" cmpd="sng" w="28575">
            <a:solidFill>
              <a:srgbClr val="1155CC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" name="Google Shape;87;p11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" name="Google Shape;93;p12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should I use tmux?</a:t>
            </a:r>
            <a:endParaRPr/>
          </a:p>
        </p:txBody>
      </p:sp>
      <p:sp>
        <p:nvSpPr>
          <p:cNvPr id="94" name="Google Shape;94;p12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Keep your working session alive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By default, shell is </a:t>
            </a:r>
            <a:r>
              <a:rPr lang="en-US">
                <a:solidFill>
                  <a:srgbClr val="FF0000"/>
                </a:solidFill>
              </a:rPr>
              <a:t>terminated</a:t>
            </a:r>
            <a:r>
              <a:rPr lang="en-US"/>
              <a:t> when connection is lost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Including any programs/editors opened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Any unsaved changes are</a:t>
            </a:r>
            <a:r>
              <a:rPr lang="en-US">
                <a:solidFill>
                  <a:srgbClr val="FF0000"/>
                </a:solidFill>
              </a:rPr>
              <a:t> discarded without warning</a:t>
            </a:r>
            <a:endParaRPr>
              <a:solidFill>
                <a:srgbClr val="FF0000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tmux </a:t>
            </a:r>
            <a:r>
              <a:rPr lang="en-US">
                <a:solidFill>
                  <a:srgbClr val="FF0000"/>
                </a:solidFill>
              </a:rPr>
              <a:t>will not be terminated</a:t>
            </a:r>
            <a:r>
              <a:rPr lang="en-US"/>
              <a:t> when connection is lost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Attach to previous sessions!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1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screenshot of tmux</a:t>
            </a:r>
            <a:endParaRPr/>
          </a:p>
        </p:txBody>
      </p:sp>
      <p:pic>
        <p:nvPicPr>
          <p:cNvPr id="101" name="Google Shape;10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21962" y="1509025"/>
            <a:ext cx="8152674" cy="4962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3"/>
          <p:cNvSpPr txBox="1"/>
          <p:nvPr/>
        </p:nvSpPr>
        <p:spPr>
          <a:xfrm>
            <a:off x="2029863" y="6591725"/>
            <a:ext cx="7938600" cy="57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https://github.com/lctseng/Unix-User-Config/blob/master/.tmux.conf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3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14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Advantages of tmux</a:t>
            </a:r>
            <a:endParaRPr/>
          </a:p>
        </p:txBody>
      </p:sp>
      <p:sp>
        <p:nvSpPr>
          <p:cNvPr id="110" name="Google Shape;110;p14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-US" sz="3600"/>
              <a:t>Multiple sessions, windows, panes</a:t>
            </a:r>
            <a:endParaRPr sz="3600"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-US" sz="3600"/>
              <a:t>Keep the sessions, attach/detach anytime</a:t>
            </a:r>
            <a:endParaRPr sz="3600"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-US" sz="3600"/>
              <a:t>Powerful window division (panes)</a:t>
            </a:r>
            <a:endParaRPr sz="3600"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-US" sz="3600"/>
              <a:t>Share screen by attaching to the same session</a:t>
            </a:r>
            <a:endParaRPr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" name="Google Shape;116;p15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Start tmux</a:t>
            </a:r>
            <a:endParaRPr/>
          </a:p>
        </p:txBody>
      </p:sp>
      <p:sp>
        <p:nvSpPr>
          <p:cNvPr id="117" name="Google Shape;117;p15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-US" sz="3600"/>
              <a:t>tmux</a:t>
            </a:r>
            <a:endParaRPr sz="3600"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-US" sz="3600"/>
              <a:t>tmux attach [ -t &lt;number&gt; ]</a:t>
            </a:r>
            <a:endParaRPr sz="3600"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-US" sz="3600"/>
              <a:t>tmux detach</a:t>
            </a:r>
            <a:endParaRPr sz="3600"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-US" sz="3600"/>
              <a:t>tmux ls</a:t>
            </a:r>
            <a:endParaRPr sz="3600"/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-US" sz="3600"/>
              <a:t>tmux kill-session [ &lt;number&gt; ]</a:t>
            </a:r>
            <a:endParaRPr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tmux 101</a:t>
            </a:r>
            <a:endParaRPr/>
          </a:p>
        </p:txBody>
      </p:sp>
      <p:sp>
        <p:nvSpPr>
          <p:cNvPr id="123" name="Google Shape;123;p1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idx="1" type="subTitle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operations and configurations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17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Session	</a:t>
            </a:r>
            <a:endParaRPr/>
          </a:p>
        </p:txBody>
      </p:sp>
      <p:sp>
        <p:nvSpPr>
          <p:cNvPr id="131" name="Google Shape;131;p17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Create new session (open a new browser)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Execute outside of any tmux sessions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$ tmux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Detach current session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When attached in a session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$ tmux detach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Or close the terminal directly 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Attach to previous session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$ tmux attach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Attach only if previous sessions exist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" name="Google Shape;137;p18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Multiple sessions (1)</a:t>
            </a:r>
            <a:endParaRPr/>
          </a:p>
        </p:txBody>
      </p:sp>
      <p:sp>
        <p:nvSpPr>
          <p:cNvPr id="138" name="Google Shape;138;p18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Open multiple browsers</a:t>
            </a:r>
            <a:endParaRPr/>
          </a:p>
        </p:txBody>
      </p:sp>
      <p:pic>
        <p:nvPicPr>
          <p:cNvPr id="139" name="Google Shape;13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3775" y="2264303"/>
            <a:ext cx="8529050" cy="4258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19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Multiple sessions (2)</a:t>
            </a:r>
            <a:endParaRPr/>
          </a:p>
        </p:txBody>
      </p:sp>
      <p:sp>
        <p:nvSpPr>
          <p:cNvPr id="146" name="Google Shape;146;p19"/>
          <p:cNvSpPr txBox="1"/>
          <p:nvPr>
            <p:ph idx="1" type="body"/>
          </p:nvPr>
        </p:nvSpPr>
        <p:spPr>
          <a:xfrm>
            <a:off x="599050" y="1563425"/>
            <a:ext cx="10830900" cy="137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Open multiple browsers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List opened sessions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$ tmux list-sessions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147" name="Google Shape;147;p19"/>
          <p:cNvSpPr txBox="1"/>
          <p:nvPr>
            <p:ph idx="2" type="body"/>
          </p:nvPr>
        </p:nvSpPr>
        <p:spPr>
          <a:xfrm>
            <a:off x="1566475" y="3142750"/>
            <a:ext cx="8043000" cy="86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0</a:t>
            </a:r>
            <a:r>
              <a:rPr lang="en-US"/>
              <a:t>: 1 windows (created Sun Jun 16 18:49:57 2019) [128x38]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1</a:t>
            </a:r>
            <a:r>
              <a:rPr lang="en-US"/>
              <a:t>: 3 windows (created Sun Jun 16 18:50:03 2019) [128x38]</a:t>
            </a:r>
            <a:endParaRPr/>
          </a:p>
        </p:txBody>
      </p:sp>
      <p:sp>
        <p:nvSpPr>
          <p:cNvPr id="148" name="Google Shape;148;p19"/>
          <p:cNvSpPr txBox="1"/>
          <p:nvPr>
            <p:ph idx="1" type="body"/>
          </p:nvPr>
        </p:nvSpPr>
        <p:spPr>
          <a:xfrm>
            <a:off x="599050" y="41542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Attach to previous session by id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$ tmux attach -t </a:t>
            </a:r>
            <a:r>
              <a:rPr lang="en-US">
                <a:solidFill>
                  <a:srgbClr val="FF0000"/>
                </a:solidFill>
              </a:rPr>
              <a:t>session-id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0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20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tmux - bindkey</a:t>
            </a:r>
            <a:endParaRPr/>
          </a:p>
        </p:txBody>
      </p:sp>
      <p:sp>
        <p:nvSpPr>
          <p:cNvPr id="155" name="Google Shape;155;p20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Operations start with a special key combination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Default is C-b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Where C is Ctrl (control)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" name="Google Shape;161;p21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tmux - command</a:t>
            </a:r>
            <a:endParaRPr/>
          </a:p>
        </p:txBody>
      </p:sp>
      <p:sp>
        <p:nvSpPr>
          <p:cNvPr id="162" name="Google Shape;162;p21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Bindkey + :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Open command prompt and execute tmux commands</a:t>
            </a:r>
            <a:endParaRPr/>
          </a:p>
        </p:txBody>
      </p:sp>
      <p:pic>
        <p:nvPicPr>
          <p:cNvPr id="163" name="Google Shape;16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2140" y="2916925"/>
            <a:ext cx="7624725" cy="406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9" name="Google Shape;169;p22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Bindkey - Window</a:t>
            </a:r>
            <a:endParaRPr/>
          </a:p>
        </p:txBody>
      </p:sp>
      <p:graphicFrame>
        <p:nvGraphicFramePr>
          <p:cNvPr id="170" name="Google Shape;170;p22"/>
          <p:cNvGraphicFramePr/>
          <p:nvPr/>
        </p:nvGraphicFramePr>
        <p:xfrm>
          <a:off x="577213" y="1679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{D70C53DB-1B9C-4018-AA12-DDFDFFAB2258}</a:tableStyleId>
              </a:tblPr>
              <a:tblGrid>
                <a:gridCol w="2146175"/>
                <a:gridCol w="1352200"/>
                <a:gridCol w="7345500"/>
              </a:tblGrid>
              <a:tr h="381000">
                <a:tc rowSpan="8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bindkey </a:t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(default is C-b)</a:t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//C == control</a:t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</a:t>
                      </a:r>
                      <a:endParaRPr sz="25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new-window</a:t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N</a:t>
                      </a:r>
                      <a:endParaRPr sz="25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next-window</a:t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P</a:t>
                      </a:r>
                      <a:endParaRPr sz="25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previous-window</a:t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L</a:t>
                      </a:r>
                      <a:endParaRPr sz="25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last-window</a:t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&lt;NUM&gt;</a:t>
                      </a:r>
                      <a:endParaRPr sz="25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select-window -t := &lt;NUM&gt;</a:t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&amp;</a:t>
                      </a:r>
                      <a:endParaRPr sz="25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confirm-before -p "kill-window #W? (y/n)" kill-window</a:t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,</a:t>
                      </a:r>
                      <a:endParaRPr sz="25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command-prompt -I "#W"</a:t>
                      </a: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"rename-window '%%'"</a:t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.</a:t>
                      </a:r>
                      <a:endParaRPr sz="25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command-prompt "move-window -t '%%'"</a:t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1" name="Google Shape;171;p22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7" name="Google Shape;177;p2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Bindkey - Pane</a:t>
            </a:r>
            <a:endParaRPr/>
          </a:p>
        </p:txBody>
      </p:sp>
      <p:graphicFrame>
        <p:nvGraphicFramePr>
          <p:cNvPr id="178" name="Google Shape;178;p23"/>
          <p:cNvGraphicFramePr/>
          <p:nvPr/>
        </p:nvGraphicFramePr>
        <p:xfrm>
          <a:off x="969613" y="1972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{D70C53DB-1B9C-4018-AA12-DDFDFFAB2258}</a:tableStyleId>
              </a:tblPr>
              <a:tblGrid>
                <a:gridCol w="2312400"/>
                <a:gridCol w="2736575"/>
                <a:gridCol w="5008400"/>
              </a:tblGrid>
              <a:tr h="381000">
                <a:tc rowSpan="7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bindkey </a:t>
                      </a:r>
                      <a:endParaRPr sz="2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(default is C-b)</a:t>
                      </a:r>
                      <a:endParaRPr sz="2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//C == control</a:t>
                      </a:r>
                      <a:endParaRPr sz="2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5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%</a:t>
                      </a:r>
                      <a:endParaRPr sz="25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split-window -h</a:t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“</a:t>
                      </a:r>
                      <a:endParaRPr sz="25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split-window</a:t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arrow-key</a:t>
                      </a:r>
                      <a:endParaRPr sz="25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select-pane</a:t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alt + arrow-kwy</a:t>
                      </a:r>
                      <a:endParaRPr sz="25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resize-pane</a:t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x</a:t>
                      </a:r>
                      <a:endParaRPr sz="25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confirm-before -p "kill-pane #P? (y/n)" kill-pane</a:t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{</a:t>
                      </a:r>
                      <a:endParaRPr sz="25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swap-pane -U</a:t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}</a:t>
                      </a:r>
                      <a:endParaRPr sz="2500">
                        <a:latin typeface="Ubuntu Mono"/>
                        <a:ea typeface="Ubuntu Mono"/>
                        <a:cs typeface="Ubuntu Mono"/>
                        <a:sym typeface="Ubuntu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swap-pane -</a:t>
                      </a: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9" name="Google Shape;179;p23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" name="Google Shape;185;p24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tmux - bindkey</a:t>
            </a:r>
            <a:endParaRPr/>
          </a:p>
        </p:txBody>
      </p:sp>
      <p:sp>
        <p:nvSpPr>
          <p:cNvPr id="186" name="Google Shape;186;p24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bindkey + ?</a:t>
            </a:r>
            <a:endParaRPr/>
          </a:p>
        </p:txBody>
      </p:sp>
      <p:pic>
        <p:nvPicPr>
          <p:cNvPr id="187" name="Google Shape;18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3038" y="2181297"/>
            <a:ext cx="8842925" cy="470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3" name="Google Shape;193;p25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Configuration - tmux.conf</a:t>
            </a:r>
            <a:endParaRPr/>
          </a:p>
        </p:txBody>
      </p:sp>
      <p:sp>
        <p:nvSpPr>
          <p:cNvPr id="194" name="Google Shape;194;p25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~/.tmux.conf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design yourself style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colorful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0" name="Google Shape;200;p26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Configuration - tmux.conf</a:t>
            </a:r>
            <a:endParaRPr/>
          </a:p>
        </p:txBody>
      </p:sp>
      <p:sp>
        <p:nvSpPr>
          <p:cNvPr id="201" name="Google Shape;201;p26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~/.tmux.conf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01188" y="1990550"/>
            <a:ext cx="8026625" cy="505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09580" y="6286939"/>
            <a:ext cx="7256067" cy="761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7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p27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Configuration - bindkey</a:t>
            </a:r>
            <a:endParaRPr/>
          </a:p>
        </p:txBody>
      </p:sp>
      <p:sp>
        <p:nvSpPr>
          <p:cNvPr id="210" name="Google Shape;210;p27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~/.tmux.conf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bind-key ( alias: bind )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 ( alias: &lt;Ctrl&gt; )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M ( alias: &lt;Alt&gt; )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bind-key  &lt;key&gt;  &lt;command&gt;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-T key-table ( default table is prefix ) 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-n : alias for -T root    =&gt; </a:t>
            </a:r>
            <a:r>
              <a:rPr lang="en-US">
                <a:solidFill>
                  <a:srgbClr val="FF0000"/>
                </a:solidFill>
              </a:rPr>
              <a:t>Don’t need to press C-b first</a:t>
            </a:r>
            <a:endParaRPr>
              <a:solidFill>
                <a:srgbClr val="FF0000"/>
              </a:solidFill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-r : repeat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1" name="Google Shape;211;p27"/>
          <p:cNvPicPr preferRelativeResize="0"/>
          <p:nvPr/>
        </p:nvPicPr>
        <p:blipFill rotWithShape="1">
          <a:blip r:embed="rId3">
            <a:alphaModFix/>
          </a:blip>
          <a:srcRect b="18653" l="46" r="66703" t="63374"/>
          <a:stretch/>
        </p:blipFill>
        <p:spPr>
          <a:xfrm>
            <a:off x="3279300" y="5475775"/>
            <a:ext cx="5470399" cy="1887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7" name="Google Shape;217;p28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Configuration - set</a:t>
            </a:r>
            <a:endParaRPr/>
          </a:p>
        </p:txBody>
      </p:sp>
      <p:sp>
        <p:nvSpPr>
          <p:cNvPr id="218" name="Google Shape;218;p28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~/.tmux.conf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set-window-option ( alias: setw )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9" name="Google Shape;219;p28"/>
          <p:cNvPicPr preferRelativeResize="0"/>
          <p:nvPr/>
        </p:nvPicPr>
        <p:blipFill rotWithShape="1">
          <a:blip r:embed="rId3">
            <a:alphaModFix/>
          </a:blip>
          <a:srcRect b="37134" l="0" r="19374" t="-246"/>
          <a:stretch/>
        </p:blipFill>
        <p:spPr>
          <a:xfrm>
            <a:off x="1129338" y="2542375"/>
            <a:ext cx="9737924" cy="486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9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5" name="Google Shape;225;p29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Configuration - set</a:t>
            </a:r>
            <a:endParaRPr/>
          </a:p>
        </p:txBody>
      </p:sp>
      <p:pic>
        <p:nvPicPr>
          <p:cNvPr id="226" name="Google Shape;22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5299" y="1370325"/>
            <a:ext cx="6687725" cy="603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9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3" name="Google Shape;233;p30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tmux - share session</a:t>
            </a:r>
            <a:endParaRPr/>
          </a:p>
        </p:txBody>
      </p:sp>
      <p:sp>
        <p:nvSpPr>
          <p:cNvPr id="234" name="Google Shape;234;p30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Both side can edit and execute commands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02613" y="2429950"/>
            <a:ext cx="7023774" cy="443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1" name="Google Shape;241;p31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	</a:t>
            </a:r>
            <a:endParaRPr/>
          </a:p>
        </p:txBody>
      </p:sp>
      <p:sp>
        <p:nvSpPr>
          <p:cNvPr id="242" name="Google Shape;242;p31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u="sng">
                <a:solidFill>
                  <a:schemeClr val="hlink"/>
                </a:solidFill>
                <a:hlinkClick r:id="rId3"/>
              </a:rPr>
              <a:t>tmux (1)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tmux shortcuts &amp; cheatsheet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https://gist.github.com/MohamedAlaa/2961058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tmux brief introduction (chinese)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https://5xruby.tw/posts/tmux/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8" name="Google Shape;248;p32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Appendix: tmux v.s. screen</a:t>
            </a:r>
            <a:endParaRPr/>
          </a:p>
        </p:txBody>
      </p:sp>
      <p:graphicFrame>
        <p:nvGraphicFramePr>
          <p:cNvPr id="249" name="Google Shape;249;p32"/>
          <p:cNvGraphicFramePr/>
          <p:nvPr/>
        </p:nvGraphicFramePr>
        <p:xfrm>
          <a:off x="951613" y="1631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{D70C53DB-1B9C-4018-AA12-DDFDFFAB2258}</a:tableStyleId>
              </a:tblPr>
              <a:tblGrid>
                <a:gridCol w="1943925"/>
                <a:gridCol w="4074700"/>
                <a:gridCol w="4074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tmux</a:t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screen</a:t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FFD966"/>
                    </a:solidFill>
                  </a:tcPr>
                </a:tc>
              </a:tr>
              <a:tr h="38100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Window Split</a:t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top-down &amp; left-right</a:t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top-down only (default)</a:t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different sessions can have different schemes</a:t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scheme must shared by all sessions</a:t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Session</a:t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switch between sessions without detach</a:t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detach first then re-attach another session</a:t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multiple clients can attach to same session</a:t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one session for one client only (force detach)</a:t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381000">
                <a:tc row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Profile</a:t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 anchor="ctr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.tmux</a:t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.screenrc</a:t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381000"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highly customizable</a:t>
                      </a:r>
                      <a:endParaRPr sz="2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less than tmux</a:t>
                      </a:r>
                      <a:endParaRPr sz="25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3"/>
          <p:cNvSpPr txBox="1"/>
          <p:nvPr/>
        </p:nvSpPr>
        <p:spPr>
          <a:xfrm>
            <a:off x="548640" y="301320"/>
            <a:ext cx="10798500" cy="4453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8000" strike="noStrike">
              <a:solidFill>
                <a:srgbClr val="04617B"/>
              </a:solidFill>
              <a:latin typeface="Source Sans Pro Light"/>
              <a:ea typeface="Source Sans Pro Light"/>
              <a:cs typeface="Source Sans Pro Light"/>
              <a:sym typeface="Source Sans Pro Light"/>
            </a:endParaRPr>
          </a:p>
        </p:txBody>
      </p:sp>
      <p:sp>
        <p:nvSpPr>
          <p:cNvPr id="255" name="Google Shape;255;p33"/>
          <p:cNvSpPr txBox="1"/>
          <p:nvPr/>
        </p:nvSpPr>
        <p:spPr>
          <a:xfrm>
            <a:off x="552960" y="5216400"/>
            <a:ext cx="10789800" cy="15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 strike="noStrike">
              <a:solidFill>
                <a:srgbClr val="DBF5F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56" name="Google Shape;256;p33"/>
          <p:cNvSpPr txBox="1"/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</a:t>
            </a:r>
            <a:endParaRPr/>
          </a:p>
        </p:txBody>
      </p:sp>
      <p:sp>
        <p:nvSpPr>
          <p:cNvPr id="257" name="Google Shape;257;p3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8" name="Google Shape;258;p33"/>
          <p:cNvSpPr txBox="1"/>
          <p:nvPr>
            <p:ph idx="1" type="subTitle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One of the most popular Version Control Systems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4" name="Google Shape;264;p34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Version Control Systems (VCS)</a:t>
            </a:r>
            <a:endParaRPr/>
          </a:p>
        </p:txBody>
      </p:sp>
      <p:sp>
        <p:nvSpPr>
          <p:cNvPr id="265" name="Google Shape;265;p34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Also known as Source Code Management (SCM)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R</a:t>
            </a:r>
            <a:r>
              <a:rPr lang="en-US"/>
              <a:t>ecords changes to a set of files over time so that you can recall specific versions later.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Easy for developing, finding bug, blame someone else, ...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Popular tools	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Git, Subversion (svn), Mercurial (hg)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1" name="Google Shape;271;p35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Version Control Systems (VCS)</a:t>
            </a:r>
            <a:endParaRPr/>
          </a:p>
        </p:txBody>
      </p:sp>
      <p:sp>
        <p:nvSpPr>
          <p:cNvPr id="272" name="Google Shape;272;p35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Web hosting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Backup projects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Collaborating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Commercial providers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Github, Gitlab, Bitbucket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Self-hosted 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git.cs.nctu.edu.tw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4271" y="1780696"/>
            <a:ext cx="4021575" cy="3217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6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Copy-paste </a:t>
            </a:r>
            <a:r>
              <a:rPr lang="en-US"/>
              <a:t>manually</a:t>
            </a:r>
            <a:endParaRPr/>
          </a:p>
        </p:txBody>
      </p:sp>
      <p:sp>
        <p:nvSpPr>
          <p:cNvPr id="279" name="Google Shape;279;p3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0" name="Google Shape;280;p36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Without VCS</a:t>
            </a:r>
            <a:endParaRPr/>
          </a:p>
        </p:txBody>
      </p:sp>
      <p:pic>
        <p:nvPicPr>
          <p:cNvPr id="281" name="Google Shape;28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4450" y="2473275"/>
            <a:ext cx="6140001" cy="373465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36"/>
          <p:cNvSpPr txBox="1"/>
          <p:nvPr/>
        </p:nvSpPr>
        <p:spPr>
          <a:xfrm>
            <a:off x="599050" y="2619338"/>
            <a:ext cx="4797600" cy="32439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# 2015-11-10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cp -r project project.bak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# 2015-11-11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cp -r project project.bak1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# 2015-11-12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cp -r project project.bak2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# 2015-11-15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cp -r project project.bak3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8" name="Google Shape;288;p37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VCS works</a:t>
            </a:r>
            <a:endParaRPr/>
          </a:p>
        </p:txBody>
      </p:sp>
      <p:sp>
        <p:nvSpPr>
          <p:cNvPr id="289" name="Google Shape;289;p37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In addition to your files, VCS stores extra information under your project folder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Hidden folders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.git for Git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.hg for </a:t>
            </a:r>
            <a:r>
              <a:rPr lang="en-US"/>
              <a:t>Mercurial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Previous versions of files (compressed)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Remote repository information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5" name="Google Shape;295;p38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Types of VCS (1)</a:t>
            </a:r>
            <a:endParaRPr/>
          </a:p>
        </p:txBody>
      </p:sp>
      <p:sp>
        <p:nvSpPr>
          <p:cNvPr id="296" name="Google Shape;296;p38"/>
          <p:cNvSpPr txBox="1"/>
          <p:nvPr>
            <p:ph idx="1" type="body"/>
          </p:nvPr>
        </p:nvSpPr>
        <p:spPr>
          <a:xfrm>
            <a:off x="599050" y="1563425"/>
            <a:ext cx="50676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Local VCS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All versions are in local 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Cannot share with others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No remote backup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Example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Manually copy-paste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Git/Hg without setting remote upstream</a:t>
            </a:r>
            <a:endParaRPr/>
          </a:p>
        </p:txBody>
      </p:sp>
      <p:pic>
        <p:nvPicPr>
          <p:cNvPr id="297" name="Google Shape;29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6808" y="1700725"/>
            <a:ext cx="6181918" cy="528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9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3" name="Google Shape;303;p39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Types of VCS (2)</a:t>
            </a:r>
            <a:endParaRPr/>
          </a:p>
        </p:txBody>
      </p:sp>
      <p:sp>
        <p:nvSpPr>
          <p:cNvPr id="304" name="Google Shape;304;p39"/>
          <p:cNvSpPr txBox="1"/>
          <p:nvPr>
            <p:ph idx="1" type="body"/>
          </p:nvPr>
        </p:nvSpPr>
        <p:spPr>
          <a:xfrm>
            <a:off x="599050" y="1442075"/>
            <a:ext cx="49386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Centralized</a:t>
            </a:r>
            <a:r>
              <a:rPr lang="en-US"/>
              <a:t> VCS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User can checkout one specific version 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Remote server has all versions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Lost access to other </a:t>
            </a:r>
            <a:r>
              <a:rPr lang="en-US"/>
              <a:t>versions</a:t>
            </a:r>
            <a:r>
              <a:rPr lang="en-US"/>
              <a:t> if network is down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Lost all versions if server is down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Example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Subversion</a:t>
            </a:r>
            <a:endParaRPr/>
          </a:p>
        </p:txBody>
      </p:sp>
      <p:pic>
        <p:nvPicPr>
          <p:cNvPr id="305" name="Google Shape;30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5450" y="1798213"/>
            <a:ext cx="6311350" cy="494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0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1" name="Google Shape;311;p40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Types of VCS (3)</a:t>
            </a:r>
            <a:endParaRPr/>
          </a:p>
        </p:txBody>
      </p:sp>
      <p:sp>
        <p:nvSpPr>
          <p:cNvPr id="312" name="Google Shape;312;p40"/>
          <p:cNvSpPr txBox="1"/>
          <p:nvPr>
            <p:ph idx="1" type="body"/>
          </p:nvPr>
        </p:nvSpPr>
        <p:spPr>
          <a:xfrm>
            <a:off x="599050" y="1442075"/>
            <a:ext cx="49386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Distributed</a:t>
            </a:r>
            <a:r>
              <a:rPr lang="en-US"/>
              <a:t> VCS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Every node has complete copy of versions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Offline working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Synchronization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Usually using a server as the source of truth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Example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Git, Mercurial</a:t>
            </a:r>
            <a:endParaRPr/>
          </a:p>
        </p:txBody>
      </p:sp>
      <p:pic>
        <p:nvPicPr>
          <p:cNvPr id="313" name="Google Shape;31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8063" y="602901"/>
            <a:ext cx="5631865" cy="6743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9" name="Google Shape;319;p41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</a:t>
            </a:r>
            <a:endParaRPr/>
          </a:p>
        </p:txBody>
      </p:sp>
      <p:sp>
        <p:nvSpPr>
          <p:cNvPr id="320" name="Google Shape;320;p41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Distributed VCS</a:t>
            </a:r>
            <a:endParaRPr>
              <a:solidFill>
                <a:schemeClr val="dk1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History</a:t>
            </a:r>
            <a:endParaRPr>
              <a:solidFill>
                <a:schemeClr val="dk1"/>
              </a:solidFill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Linus Torvalds (the creator of Linux)</a:t>
            </a:r>
            <a:endParaRPr>
              <a:solidFill>
                <a:schemeClr val="dk1"/>
              </a:solidFill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Source Control Management for Linux Kernel</a:t>
            </a:r>
            <a:endParaRPr>
              <a:solidFill>
                <a:schemeClr val="dk1"/>
              </a:solidFill>
            </a:endParaRPr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■"/>
            </a:pPr>
            <a:r>
              <a:rPr lang="en-US">
                <a:solidFill>
                  <a:schemeClr val="dk1"/>
                </a:solidFill>
              </a:rPr>
              <a:t>~2005</a:t>
            </a:r>
            <a:endParaRPr>
              <a:solidFill>
                <a:schemeClr val="dk1"/>
              </a:solidFill>
            </a:endParaRPr>
          </a:p>
          <a:p>
            <a:pPr indent="-3810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>
                <a:solidFill>
                  <a:schemeClr val="dk1"/>
                </a:solidFill>
              </a:rPr>
              <a:t>Using BitKeeper (commercial software)</a:t>
            </a:r>
            <a:endParaRPr>
              <a:solidFill>
                <a:schemeClr val="dk1"/>
              </a:solidFill>
            </a:endParaRPr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■"/>
            </a:pPr>
            <a:r>
              <a:rPr lang="en-US">
                <a:solidFill>
                  <a:schemeClr val="dk1"/>
                </a:solidFill>
              </a:rPr>
              <a:t>2005~</a:t>
            </a:r>
            <a:endParaRPr>
              <a:solidFill>
                <a:schemeClr val="dk1"/>
              </a:solidFill>
            </a:endParaRPr>
          </a:p>
          <a:p>
            <a:pPr indent="-3810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>
                <a:solidFill>
                  <a:schemeClr val="dk1"/>
                </a:solidFill>
              </a:rPr>
              <a:t>Developed Git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6" name="Google Shape;326;p42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</a:t>
            </a:r>
            <a:endParaRPr/>
          </a:p>
        </p:txBody>
      </p:sp>
      <p:sp>
        <p:nvSpPr>
          <p:cNvPr id="327" name="Google Shape;327;p42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Snapshots, not differences</a:t>
            </a:r>
            <a:endParaRPr>
              <a:solidFill>
                <a:schemeClr val="dk1"/>
              </a:solidFill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All versions of all files are stored independently</a:t>
            </a:r>
            <a:endParaRPr>
              <a:solidFill>
                <a:schemeClr val="dk1"/>
              </a:solidFill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Easy for checking out to any version </a:t>
            </a:r>
            <a:endParaRPr>
              <a:solidFill>
                <a:schemeClr val="dk1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Nearly every operation is local</a:t>
            </a:r>
            <a:endParaRPr>
              <a:solidFill>
                <a:schemeClr val="dk1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Git has i</a:t>
            </a:r>
            <a:r>
              <a:rPr lang="en-US">
                <a:solidFill>
                  <a:schemeClr val="dk1"/>
                </a:solidFill>
              </a:rPr>
              <a:t>ntegrity</a:t>
            </a:r>
            <a:endParaRPr>
              <a:solidFill>
                <a:schemeClr val="dk1"/>
              </a:solidFill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SHA checking</a:t>
            </a:r>
            <a:endParaRPr>
              <a:solidFill>
                <a:schemeClr val="dk1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Git generally only adds data</a:t>
            </a:r>
            <a:endParaRPr>
              <a:solidFill>
                <a:schemeClr val="dk1"/>
              </a:solidFill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Delete	</a:t>
            </a:r>
            <a:endParaRPr>
              <a:solidFill>
                <a:schemeClr val="dk1"/>
              </a:solidFill>
            </a:endParaRPr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■"/>
            </a:pPr>
            <a:r>
              <a:rPr lang="en-US">
                <a:solidFill>
                  <a:schemeClr val="dk1"/>
                </a:solidFill>
              </a:rPr>
              <a:t>Store the file in .git folder and hide from your workspace</a:t>
            </a:r>
            <a:endParaRPr>
              <a:solidFill>
                <a:schemeClr val="dk1"/>
              </a:solidFill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Modify	</a:t>
            </a:r>
            <a:endParaRPr>
              <a:solidFill>
                <a:schemeClr val="dk1"/>
              </a:solidFill>
            </a:endParaRPr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■"/>
            </a:pPr>
            <a:r>
              <a:rPr lang="en-US">
                <a:solidFill>
                  <a:schemeClr val="dk1"/>
                </a:solidFill>
              </a:rPr>
              <a:t>Backup the original file to .git folder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3" name="Google Shape;333;p4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</a:t>
            </a:r>
            <a:endParaRPr/>
          </a:p>
        </p:txBody>
      </p:sp>
      <p:sp>
        <p:nvSpPr>
          <p:cNvPr id="334" name="Google Shape;334;p43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Git is very powerful, with many features</a:t>
            </a:r>
            <a:endParaRPr>
              <a:solidFill>
                <a:schemeClr val="dk1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In this class, we only talk about the very simple one</a:t>
            </a:r>
            <a:endParaRPr>
              <a:solidFill>
                <a:schemeClr val="dk1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We will cover</a:t>
            </a:r>
            <a:endParaRPr>
              <a:solidFill>
                <a:schemeClr val="dk1"/>
              </a:solidFill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How to install and create repos</a:t>
            </a:r>
            <a:endParaRPr>
              <a:solidFill>
                <a:schemeClr val="dk1"/>
              </a:solidFill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How to add files/make changes </a:t>
            </a:r>
            <a:endParaRPr>
              <a:solidFill>
                <a:schemeClr val="dk1"/>
              </a:solidFill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How to </a:t>
            </a:r>
            <a:r>
              <a:rPr lang="en-US">
                <a:solidFill>
                  <a:schemeClr val="dk1"/>
                </a:solidFill>
              </a:rPr>
              <a:t>create commits</a:t>
            </a:r>
            <a:endParaRPr>
              <a:solidFill>
                <a:schemeClr val="dk1"/>
              </a:solidFill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How to navigate between versions</a:t>
            </a:r>
            <a:endParaRPr>
              <a:solidFill>
                <a:schemeClr val="dk1"/>
              </a:solidFill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How to push to remote</a:t>
            </a:r>
            <a:endParaRPr>
              <a:solidFill>
                <a:schemeClr val="dk1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Will NOT cover</a:t>
            </a:r>
            <a:endParaRPr>
              <a:solidFill>
                <a:schemeClr val="dk1"/>
              </a:solidFill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branching (git branch, git merge, ...)</a:t>
            </a:r>
            <a:endParaRPr>
              <a:solidFill>
                <a:schemeClr val="dk1"/>
              </a:solidFill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Anything else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5" name="Google Shape;335;p43"/>
          <p:cNvSpPr/>
          <p:nvPr/>
        </p:nvSpPr>
        <p:spPr>
          <a:xfrm>
            <a:off x="6609875" y="3041050"/>
            <a:ext cx="461400" cy="23481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43"/>
          <p:cNvSpPr txBox="1"/>
          <p:nvPr/>
        </p:nvSpPr>
        <p:spPr>
          <a:xfrm>
            <a:off x="7179925" y="3937625"/>
            <a:ext cx="2719500" cy="91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Homework 2</a:t>
            </a:r>
            <a:endParaRPr sz="21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2" name="Google Shape;342;p44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 - installation</a:t>
            </a:r>
            <a:endParaRPr/>
          </a:p>
        </p:txBody>
      </p:sp>
      <p:sp>
        <p:nvSpPr>
          <p:cNvPr id="343" name="Google Shape;343;p44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FreeBSD</a:t>
            </a:r>
            <a:endParaRPr>
              <a:solidFill>
                <a:schemeClr val="dk1"/>
              </a:solidFill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pkg install git</a:t>
            </a:r>
            <a:endParaRPr>
              <a:solidFill>
                <a:schemeClr val="dk1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Other OS</a:t>
            </a:r>
            <a:endParaRPr>
              <a:solidFill>
                <a:schemeClr val="dk1"/>
              </a:solidFill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https://git-scm.com/book/en/v2/Getting-Started-Installing-Git</a:t>
            </a:r>
            <a:r>
              <a:rPr lang="en-US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44" name="Google Shape;344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5856" y="3730399"/>
            <a:ext cx="8926626" cy="3390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0" name="Google Shape;350;p45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 - getting started</a:t>
            </a:r>
            <a:endParaRPr/>
          </a:p>
        </p:txBody>
      </p:sp>
      <p:sp>
        <p:nvSpPr>
          <p:cNvPr id="351" name="Google Shape;351;p45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Developer information</a:t>
            </a:r>
            <a:endParaRPr>
              <a:solidFill>
                <a:schemeClr val="dk1"/>
              </a:solidFill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In terminal</a:t>
            </a:r>
            <a:endParaRPr>
              <a:solidFill>
                <a:schemeClr val="dk1"/>
              </a:solidFill>
            </a:endParaRPr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Ubuntu Mono"/>
              <a:buChar char="■"/>
            </a:pPr>
            <a:r>
              <a:rPr lang="en-US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$ git config --global user.email "you@example.com"</a:t>
            </a:r>
            <a:endParaRPr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Ubuntu Mono"/>
              <a:buChar char="■"/>
            </a:pPr>
            <a:r>
              <a:rPr lang="en-US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$ git config --global user.name "Name"</a:t>
            </a:r>
            <a:endParaRPr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Or edit manually in ~/.gitconfig</a:t>
            </a:r>
            <a:endParaRPr>
              <a:solidFill>
                <a:schemeClr val="dk1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Create a new repository</a:t>
            </a:r>
            <a:endParaRPr>
              <a:solidFill>
                <a:schemeClr val="dk1"/>
              </a:solidFill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 Mono"/>
              <a:buChar char="○"/>
            </a:pPr>
            <a:r>
              <a:rPr lang="en-US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$ mkdir hw2</a:t>
            </a:r>
            <a:endParaRPr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 Mono"/>
              <a:buChar char="○"/>
            </a:pPr>
            <a:r>
              <a:rPr lang="en-US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$ cd hw2</a:t>
            </a:r>
            <a:endParaRPr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 Mono"/>
              <a:buChar char="○"/>
            </a:pPr>
            <a:r>
              <a:rPr lang="en-US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$ git init</a:t>
            </a:r>
            <a:endParaRPr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■"/>
            </a:pPr>
            <a:r>
              <a:rPr lang="en-US">
                <a:solidFill>
                  <a:schemeClr val="dk1"/>
                </a:solidFill>
              </a:rPr>
              <a:t>Initialize an empty project with .git directory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7" name="Google Shape;357;p46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 - the three stages</a:t>
            </a:r>
            <a:endParaRPr/>
          </a:p>
        </p:txBody>
      </p:sp>
      <p:pic>
        <p:nvPicPr>
          <p:cNvPr id="358" name="Google Shape;35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7575" y="1599375"/>
            <a:ext cx="10140225" cy="558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7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4" name="Google Shape;364;p47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 - file lifecycle</a:t>
            </a:r>
            <a:endParaRPr/>
          </a:p>
        </p:txBody>
      </p:sp>
      <p:sp>
        <p:nvSpPr>
          <p:cNvPr id="365" name="Google Shape;365;p47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The lifecycle of the status of your files</a:t>
            </a:r>
            <a:endParaRPr/>
          </a:p>
        </p:txBody>
      </p:sp>
      <p:pic>
        <p:nvPicPr>
          <p:cNvPr id="366" name="Google Shape;36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225" y="2253813"/>
            <a:ext cx="11156548" cy="460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8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2" name="Google Shape;372;p48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 - basic operations (1)</a:t>
            </a:r>
            <a:endParaRPr/>
          </a:p>
        </p:txBody>
      </p:sp>
      <p:sp>
        <p:nvSpPr>
          <p:cNvPr id="373" name="Google Shape;373;p48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git add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Add file contents to the index (staged)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Ubuntu Mono"/>
              <a:buChar char="○"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$ git add file1 file2...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Ubuntu Mono"/>
              <a:buChar char="○"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$ git add directory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Ubuntu Mono"/>
              <a:buChar char="○"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$ git add .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9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9" name="Google Shape;379;p49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 - basic operations (2)</a:t>
            </a:r>
            <a:endParaRPr/>
          </a:p>
        </p:txBody>
      </p:sp>
      <p:sp>
        <p:nvSpPr>
          <p:cNvPr id="380" name="Google Shape;380;p49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git commit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Confirm your staged change and create a commit (revision)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Will o</a:t>
            </a:r>
            <a:r>
              <a:rPr lang="en-US"/>
              <a:t>pen default text editor for commit message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Useful options 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-a: stage all modified and deleted path (git add)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/>
              <a:t>-m MSG: use MSG as commit message without opening editors 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0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6" name="Google Shape;386;p50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 - basic operations (3)</a:t>
            </a:r>
            <a:endParaRPr/>
          </a:p>
        </p:txBody>
      </p:sp>
      <p:sp>
        <p:nvSpPr>
          <p:cNvPr id="387" name="Google Shape;387;p50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git status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View the working directory status of current project</a:t>
            </a:r>
            <a:endParaRPr/>
          </a:p>
        </p:txBody>
      </p:sp>
      <p:sp>
        <p:nvSpPr>
          <p:cNvPr id="388" name="Google Shape;388;p50"/>
          <p:cNvSpPr txBox="1"/>
          <p:nvPr/>
        </p:nvSpPr>
        <p:spPr>
          <a:xfrm>
            <a:off x="1766250" y="2877225"/>
            <a:ext cx="7422300" cy="32439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$ git status -s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M README.md         # updated in index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D run.sh            # deleted from index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R src/main.js       # renamed in index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A src/index.html    # added to index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?? src/README.md    # untracked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1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4" name="Google Shape;394;p51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 - basic operations (4)</a:t>
            </a:r>
            <a:endParaRPr/>
          </a:p>
        </p:txBody>
      </p:sp>
      <p:sp>
        <p:nvSpPr>
          <p:cNvPr id="395" name="Google Shape;395;p51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git diff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Compare change with the previous version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https://git-scm.com/docs/git-diff</a:t>
            </a: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51"/>
          <p:cNvSpPr txBox="1"/>
          <p:nvPr/>
        </p:nvSpPr>
        <p:spPr>
          <a:xfrm>
            <a:off x="1834100" y="3121525"/>
            <a:ext cx="9051000" cy="35841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$ git diff                      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diff --git a/README.md b/README.md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index 76f177f..f4986c2 100644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--- a/README.md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+++ b/README.md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1155CC"/>
                </a:solidFill>
                <a:latin typeface="Ubuntu Mono"/>
                <a:ea typeface="Ubuntu Mono"/>
                <a:cs typeface="Ubuntu Mono"/>
                <a:sym typeface="Ubuntu Mono"/>
              </a:rPr>
              <a:t>@@ -1 +1 @@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rgbClr val="CC0000"/>
                </a:solidFill>
                <a:latin typeface="Ubuntu Mono"/>
                <a:ea typeface="Ubuntu Mono"/>
                <a:cs typeface="Ubuntu Mono"/>
                <a:sym typeface="Ubuntu Mono"/>
              </a:rPr>
              <a:t>-# Hi</a:t>
            </a:r>
            <a:endParaRPr sz="2500">
              <a:solidFill>
                <a:srgbClr val="CC0000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500">
                <a:solidFill>
                  <a:srgbClr val="6AA84F"/>
                </a:solidFill>
                <a:latin typeface="Ubuntu Mono"/>
                <a:ea typeface="Ubuntu Mono"/>
                <a:cs typeface="Ubuntu Mono"/>
                <a:sym typeface="Ubuntu Mono"/>
              </a:rPr>
              <a:t>+# Hello</a:t>
            </a:r>
            <a:endParaRPr sz="2500">
              <a:solidFill>
                <a:srgbClr val="6AA84F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2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2" name="Google Shape;402;p52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 - basic operations (5)</a:t>
            </a:r>
            <a:endParaRPr/>
          </a:p>
        </p:txBody>
      </p:sp>
      <p:sp>
        <p:nvSpPr>
          <p:cNvPr id="403" name="Google Shape;403;p52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git log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View the commit log (history)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Change the log format</a:t>
            </a:r>
            <a:endParaRPr/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http://gits-scm.com/docs/pretty-formats</a:t>
            </a: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52"/>
          <p:cNvSpPr txBox="1"/>
          <p:nvPr/>
        </p:nvSpPr>
        <p:spPr>
          <a:xfrm>
            <a:off x="1847675" y="3813700"/>
            <a:ext cx="9051000" cy="28956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$ git log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commit 2f2bd00051fbd4d4978b7e96508b97950d6e60b1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Author: lctseng lctseng@cs.nctu.edu.tw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Date:   Thu Oct 8 17:10:13 2020 +0800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    Initial commit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3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0" name="Google Shape;410;p53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 - basic operations (6)</a:t>
            </a:r>
            <a:endParaRPr/>
          </a:p>
        </p:txBody>
      </p:sp>
      <p:sp>
        <p:nvSpPr>
          <p:cNvPr id="411" name="Google Shape;411;p53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git checkout</a:t>
            </a:r>
            <a:endParaRPr/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/>
              <a:t>Go to other revisions or branches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Ubuntu Mono"/>
              <a:buChar char="○"/>
            </a:pPr>
            <a:r>
              <a:rPr lang="en-US">
                <a:latin typeface="Ubuntu Mono"/>
                <a:ea typeface="Ubuntu Mono"/>
                <a:cs typeface="Ubuntu Mono"/>
                <a:sym typeface="Ubuntu Mono"/>
              </a:rPr>
              <a:t>$ git checkout &lt;commit-id&gt;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Ubuntu Mono"/>
              <a:buChar char="○"/>
            </a:pPr>
            <a:r>
              <a:rPr lang="en-US">
                <a:solidFill>
                  <a:schemeClr val="dk1"/>
                </a:solidFill>
              </a:rPr>
              <a:t>Go back to latest change:</a:t>
            </a:r>
            <a:endParaRPr>
              <a:solidFill>
                <a:schemeClr val="dk1"/>
              </a:solidFill>
            </a:endParaRPr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SzPts val="2600"/>
              <a:buFont typeface="Ubuntu Mono"/>
              <a:buChar char="■"/>
            </a:pPr>
            <a:r>
              <a:rPr lang="en-US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$ git checkout master</a:t>
            </a:r>
            <a:endParaRPr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53"/>
          <p:cNvSpPr txBox="1"/>
          <p:nvPr/>
        </p:nvSpPr>
        <p:spPr>
          <a:xfrm>
            <a:off x="6827300" y="2269875"/>
            <a:ext cx="5041500" cy="33180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$ git status   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On branch master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$ </a:t>
            </a: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git checkout 2f2bd00     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Note: checking out '2f2bd00'.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$ git status    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HEAD detached at 2f2bd00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54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8" name="Google Shape;418;p54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 - basic operations (7)</a:t>
            </a:r>
            <a:endParaRPr/>
          </a:p>
        </p:txBody>
      </p:sp>
      <p:sp>
        <p:nvSpPr>
          <p:cNvPr id="419" name="Google Shape;419;p54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git bisect</a:t>
            </a:r>
            <a:endParaRPr sz="2900"/>
          </a:p>
          <a:p>
            <a:pPr indent="-400050" lvl="1" marL="914400" rtl="0" algn="l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Finding </a:t>
            </a:r>
            <a:r>
              <a:rPr lang="en-US" sz="2700">
                <a:solidFill>
                  <a:schemeClr val="dk1"/>
                </a:solidFill>
              </a:rPr>
              <a:t>problematic commit</a:t>
            </a:r>
            <a:endParaRPr sz="2700"/>
          </a:p>
          <a:p>
            <a:pPr indent="-400050" lvl="1" marL="914400" rtl="0" algn="l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Flow (similar to binary search)</a:t>
            </a:r>
            <a:endParaRPr sz="2700"/>
          </a:p>
          <a:p>
            <a:pPr indent="-387350" lvl="2" marL="1371600" rtl="0" algn="l">
              <a:spcBef>
                <a:spcPts val="0"/>
              </a:spcBef>
              <a:spcAft>
                <a:spcPts val="0"/>
              </a:spcAft>
              <a:buSzPts val="2500"/>
              <a:buFont typeface="Ubuntu Mono"/>
              <a:buChar char="■"/>
            </a:pPr>
            <a:r>
              <a:rPr lang="en-US" sz="2500">
                <a:latin typeface="Ubuntu Mono"/>
                <a:ea typeface="Ubuntu Mono"/>
                <a:cs typeface="Ubuntu Mono"/>
                <a:sym typeface="Ubuntu Mono"/>
              </a:rPr>
              <a:t>$ git bisect start</a:t>
            </a:r>
            <a:endParaRPr sz="2500">
              <a:latin typeface="Ubuntu Mono"/>
              <a:ea typeface="Ubuntu Mono"/>
              <a:cs typeface="Ubuntu Mono"/>
              <a:sym typeface="Ubuntu Mono"/>
            </a:endParaRPr>
          </a:p>
          <a:p>
            <a:pPr indent="-387350" lvl="2" marL="1371600" rtl="0" algn="l">
              <a:spcBef>
                <a:spcPts val="0"/>
              </a:spcBef>
              <a:spcAft>
                <a:spcPts val="0"/>
              </a:spcAft>
              <a:buSzPts val="2500"/>
              <a:buChar char="■"/>
            </a:pPr>
            <a:r>
              <a:rPr lang="en-US" sz="2500"/>
              <a:t>Define endpoints</a:t>
            </a:r>
            <a:endParaRPr sz="2500"/>
          </a:p>
          <a:p>
            <a:pPr indent="-374650" lvl="3" marL="1828800" rtl="0" algn="l">
              <a:spcBef>
                <a:spcPts val="0"/>
              </a:spcBef>
              <a:spcAft>
                <a:spcPts val="0"/>
              </a:spcAft>
              <a:buSzPts val="2300"/>
              <a:buFont typeface="Ubuntu Mono"/>
              <a:buChar char="●"/>
            </a:pPr>
            <a:r>
              <a:rPr lang="en-US" sz="2300">
                <a:latin typeface="Ubuntu Mono"/>
                <a:ea typeface="Ubuntu Mono"/>
                <a:cs typeface="Ubuntu Mono"/>
                <a:sym typeface="Ubuntu Mono"/>
              </a:rPr>
              <a:t>$ git bisect good &lt;good-commit-id&gt;</a:t>
            </a:r>
            <a:endParaRPr sz="2300">
              <a:latin typeface="Ubuntu Mono"/>
              <a:ea typeface="Ubuntu Mono"/>
              <a:cs typeface="Ubuntu Mono"/>
              <a:sym typeface="Ubuntu Mono"/>
            </a:endParaRPr>
          </a:p>
          <a:p>
            <a:pPr indent="-374650" lvl="3" marL="1828800" rtl="0" algn="l">
              <a:spcBef>
                <a:spcPts val="0"/>
              </a:spcBef>
              <a:spcAft>
                <a:spcPts val="0"/>
              </a:spcAft>
              <a:buSzPts val="2300"/>
              <a:buFont typeface="Ubuntu Mono"/>
              <a:buChar char="●"/>
            </a:pPr>
            <a:r>
              <a:rPr lang="en-US" sz="23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$ git bisect bad &lt;bad-commit-id&gt;</a:t>
            </a:r>
            <a:endParaRPr sz="23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-3873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■"/>
            </a:pPr>
            <a:r>
              <a:rPr lang="en-US" sz="2500">
                <a:solidFill>
                  <a:schemeClr val="dk1"/>
                </a:solidFill>
              </a:rPr>
              <a:t>After that, git will checkout to some commit</a:t>
            </a:r>
            <a:endParaRPr sz="2500">
              <a:solidFill>
                <a:schemeClr val="dk1"/>
              </a:solidFill>
            </a:endParaRPr>
          </a:p>
          <a:p>
            <a:pPr indent="-3873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■"/>
            </a:pPr>
            <a:r>
              <a:rPr lang="en-US" sz="2500">
                <a:solidFill>
                  <a:schemeClr val="dk1"/>
                </a:solidFill>
              </a:rPr>
              <a:t>If that commit is good</a:t>
            </a:r>
            <a:endParaRPr sz="2500">
              <a:solidFill>
                <a:schemeClr val="dk1"/>
              </a:solidFill>
            </a:endParaRPr>
          </a:p>
          <a:p>
            <a:pPr indent="-37465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Ubuntu Mono"/>
              <a:buChar char="●"/>
            </a:pPr>
            <a:r>
              <a:rPr lang="en-US" sz="23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$ git bisect good</a:t>
            </a:r>
            <a:endParaRPr sz="23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-3873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■"/>
            </a:pPr>
            <a:r>
              <a:rPr lang="en-US" sz="2500">
                <a:solidFill>
                  <a:schemeClr val="dk1"/>
                </a:solidFill>
              </a:rPr>
              <a:t>If that commit is bad</a:t>
            </a:r>
            <a:endParaRPr sz="2500">
              <a:solidFill>
                <a:schemeClr val="dk1"/>
              </a:solidFill>
            </a:endParaRPr>
          </a:p>
          <a:p>
            <a:pPr indent="-37465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Ubuntu Mono"/>
              <a:buChar char="●"/>
            </a:pPr>
            <a:r>
              <a:rPr lang="en-US" sz="2300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$ git bisect bad</a:t>
            </a:r>
            <a:endParaRPr sz="2300"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-38735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■"/>
            </a:pPr>
            <a:r>
              <a:rPr lang="en-US" sz="2500">
                <a:solidFill>
                  <a:schemeClr val="dk1"/>
                </a:solidFill>
              </a:rPr>
              <a:t>After several rounds, git will checkout to first bad commit</a:t>
            </a:r>
            <a:endParaRPr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5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5" name="Google Shape;425;p55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 - push to remote</a:t>
            </a:r>
            <a:endParaRPr/>
          </a:p>
        </p:txBody>
      </p:sp>
      <p:sp>
        <p:nvSpPr>
          <p:cNvPr id="426" name="Google Shape;426;p55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git remote</a:t>
            </a:r>
            <a:endParaRPr>
              <a:solidFill>
                <a:schemeClr val="dk1"/>
              </a:solidFill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Manage the remote </a:t>
            </a:r>
            <a:r>
              <a:rPr lang="en-US">
                <a:solidFill>
                  <a:schemeClr val="dk1"/>
                </a:solidFill>
              </a:rPr>
              <a:t>repository</a:t>
            </a:r>
            <a:endParaRPr>
              <a:solidFill>
                <a:schemeClr val="dk1"/>
              </a:solidFill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 Mono"/>
              <a:buChar char="○"/>
            </a:pPr>
            <a:r>
              <a:rPr lang="en-US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$ git remote add origin </a:t>
            </a:r>
            <a:r>
              <a:rPr lang="en-US" u="sng">
                <a:solidFill>
                  <a:schemeClr val="hlink"/>
                </a:solidFill>
                <a:latin typeface="Ubuntu Mono"/>
                <a:ea typeface="Ubuntu Mono"/>
                <a:cs typeface="Ubuntu Mono"/>
                <a:sym typeface="Ubuntu Mono"/>
                <a:hlinkClick r:id="rId3"/>
              </a:rPr>
              <a:t>https://git.cs.nctu.edu.tw/lctseng/sa-demo.git</a:t>
            </a:r>
            <a:endParaRPr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■"/>
            </a:pPr>
            <a:r>
              <a:rPr lang="en-US">
                <a:solidFill>
                  <a:schemeClr val="dk1"/>
                </a:solidFill>
              </a:rPr>
              <a:t>Set the remote server &amp; repo for push/pull</a:t>
            </a:r>
            <a:endParaRPr>
              <a:solidFill>
                <a:schemeClr val="dk1"/>
              </a:solidFill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git push</a:t>
            </a:r>
            <a:endParaRPr>
              <a:solidFill>
                <a:schemeClr val="dk1"/>
              </a:solidFill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 Mono"/>
              <a:buChar char="○"/>
            </a:pPr>
            <a:r>
              <a:rPr lang="en-US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$ git push -u origin master</a:t>
            </a:r>
            <a:endParaRPr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■"/>
            </a:pPr>
            <a:r>
              <a:rPr lang="en-US">
                <a:solidFill>
                  <a:schemeClr val="dk1"/>
                </a:solidFill>
              </a:rPr>
              <a:t>Push to the remote and create the remote master branch</a:t>
            </a:r>
            <a:endParaRPr>
              <a:solidFill>
                <a:schemeClr val="dk1"/>
              </a:solidFill>
            </a:endParaRPr>
          </a:p>
          <a:p>
            <a:pPr indent="-3937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■"/>
            </a:pPr>
            <a:r>
              <a:rPr lang="en-US">
                <a:solidFill>
                  <a:schemeClr val="dk1"/>
                </a:solidFill>
              </a:rPr>
              <a:t>Later on, you can simply use "git push"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6"/>
          <p:cNvSpPr txBox="1"/>
          <p:nvPr>
            <p:ph idx="12" type="sldNum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2" name="Google Shape;432;p56"/>
          <p:cNvSpPr txBox="1"/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Git - pull from remote</a:t>
            </a:r>
            <a:endParaRPr/>
          </a:p>
        </p:txBody>
      </p:sp>
      <p:sp>
        <p:nvSpPr>
          <p:cNvPr id="433" name="Google Shape;433;p56"/>
          <p:cNvSpPr txBox="1"/>
          <p:nvPr>
            <p:ph idx="1" type="body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git clone</a:t>
            </a:r>
            <a:endParaRPr>
              <a:solidFill>
                <a:schemeClr val="dk1"/>
              </a:solidFill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Download the full repository from remote server</a:t>
            </a:r>
            <a:endParaRPr>
              <a:solidFill>
                <a:schemeClr val="dk1"/>
              </a:solidFill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 Mono"/>
              <a:buChar char="○"/>
            </a:pPr>
            <a:r>
              <a:rPr lang="en-US">
                <a:solidFill>
                  <a:schemeClr val="dk1"/>
                </a:solidFill>
                <a:latin typeface="Ubuntu Mono"/>
                <a:ea typeface="Ubuntu Mono"/>
                <a:cs typeface="Ubuntu Mono"/>
                <a:sym typeface="Ubuntu Mono"/>
              </a:rPr>
              <a:t>$ git clone https://github.com/curl/curl.git</a:t>
            </a:r>
            <a:endParaRPr>
              <a:solidFill>
                <a:schemeClr val="dk1"/>
              </a:solidFill>
              <a:latin typeface="Ubuntu Mono"/>
              <a:ea typeface="Ubuntu Mono"/>
              <a:cs typeface="Ubuntu Mono"/>
              <a:sym typeface="Ubuntu Mono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Char char="●"/>
            </a:pPr>
            <a:r>
              <a:rPr lang="en-US">
                <a:solidFill>
                  <a:schemeClr val="dk1"/>
                </a:solidFill>
              </a:rPr>
              <a:t>git pull</a:t>
            </a:r>
            <a:endParaRPr>
              <a:solidFill>
                <a:schemeClr val="dk1"/>
              </a:solidFill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-US">
                <a:solidFill>
                  <a:schemeClr val="dk1"/>
                </a:solidFill>
              </a:rPr>
              <a:t>Pull the latest revisions from remote in an existing repository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SCC NAS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