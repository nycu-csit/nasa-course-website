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7559675" cx="11998325"/>
  <p:notesSz cx="7559675" cy="10691800"/>
  <p:embeddedFontLst>
    <p:embeddedFont>
      <p:font typeface="Source Sans Pro Light"/>
      <p:regular r:id="rId35"/>
      <p:bold r:id="rId36"/>
      <p:italic r:id="rId37"/>
      <p:boldItalic r:id="rId38"/>
    </p:embeddedFont>
    <p:embeddedFont>
      <p:font typeface="Ubuntu Mono"/>
      <p:regular r:id="rId39"/>
      <p:bold r:id="rId40"/>
      <p:italic r:id="rId41"/>
      <p:boldItalic r:id="rId42"/>
    </p:embeddedFont>
    <p:embeddedFont>
      <p:font typeface="Source Sans Pro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6BAA1FF-33E8-4C70-B64D-731CC956EBF8}">
  <a:tblStyle styleId="{56BAA1FF-33E8-4C70-B64D-731CC956EBF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UbuntuMono-bold.fntdata"/><Relationship Id="rId20" Type="http://schemas.openxmlformats.org/officeDocument/2006/relationships/slide" Target="slides/slide15.xml"/><Relationship Id="rId42" Type="http://schemas.openxmlformats.org/officeDocument/2006/relationships/font" Target="fonts/UbuntuMono-boldItalic.fntdata"/><Relationship Id="rId41" Type="http://schemas.openxmlformats.org/officeDocument/2006/relationships/font" Target="fonts/UbuntuMono-italic.fntdata"/><Relationship Id="rId22" Type="http://schemas.openxmlformats.org/officeDocument/2006/relationships/slide" Target="slides/slide17.xml"/><Relationship Id="rId44" Type="http://schemas.openxmlformats.org/officeDocument/2006/relationships/font" Target="fonts/SourceSansPro-bold.fntdata"/><Relationship Id="rId21" Type="http://schemas.openxmlformats.org/officeDocument/2006/relationships/slide" Target="slides/slide16.xml"/><Relationship Id="rId43" Type="http://schemas.openxmlformats.org/officeDocument/2006/relationships/font" Target="fonts/SourceSansPro-regular.fntdata"/><Relationship Id="rId24" Type="http://schemas.openxmlformats.org/officeDocument/2006/relationships/slide" Target="slides/slide19.xml"/><Relationship Id="rId46" Type="http://schemas.openxmlformats.org/officeDocument/2006/relationships/font" Target="fonts/SourceSansPro-boldItalic.fntdata"/><Relationship Id="rId23" Type="http://schemas.openxmlformats.org/officeDocument/2006/relationships/slide" Target="slides/slide18.xml"/><Relationship Id="rId45" Type="http://schemas.openxmlformats.org/officeDocument/2006/relationships/font" Target="fonts/SourceSansPro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SourceSansProLight-regular.fntdata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SourceSansProLight-italic.fntdata"/><Relationship Id="rId14" Type="http://schemas.openxmlformats.org/officeDocument/2006/relationships/slide" Target="slides/slide9.xml"/><Relationship Id="rId36" Type="http://schemas.openxmlformats.org/officeDocument/2006/relationships/font" Target="fonts/SourceSansProLight-bold.fntdata"/><Relationship Id="rId17" Type="http://schemas.openxmlformats.org/officeDocument/2006/relationships/slide" Target="slides/slide12.xml"/><Relationship Id="rId39" Type="http://schemas.openxmlformats.org/officeDocument/2006/relationships/font" Target="fonts/UbuntuMono-regular.fntdata"/><Relationship Id="rId16" Type="http://schemas.openxmlformats.org/officeDocument/2006/relationships/slide" Target="slides/slide11.xml"/><Relationship Id="rId38" Type="http://schemas.openxmlformats.org/officeDocument/2006/relationships/font" Target="fonts/SourceSansProLight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講課時間：1.5節</a:t>
            </a:r>
            <a:endParaRPr/>
          </a:p>
        </p:txBody>
      </p:sp>
      <p:sp>
        <p:nvSpPr>
          <p:cNvPr id="23" name="Google Shape;23;p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8e7dd12c34_0_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" name="Google Shape;32;g8e7dd12c34_0_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f0690debe9_0_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" name="Google Shape;39;gf0690debe9_0_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8e7dd12c34_0_7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" name="Google Shape;46;g8e7dd12c34_0_7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868fde805b_0_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868fde805b_0_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868fde805b_0_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868fde805b_0_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868fde805b_0_1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868fde805b_0_1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868fde805b_0_2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868fde805b_0_2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868fde805b_0_2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868fde805b_0_2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868fde805b_0_35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868fde805b_0_35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f0690debe9_0_7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f0690debe9_0_7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868fde805b_0_4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868fde805b_0_4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868fde805b_0_47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868fde805b_0_47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91ab239ef8_1_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91ab239ef8_1_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868fde805b_0_5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868fde805b_0_5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91ab239ef8_1_1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91ab239ef8_1_1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91ab239ef8_1_2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91ab239ef8_1_2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868fde805b_0_7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868fde805b_0_7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91ab239ef8_3_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91ab239ef8_3_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91ab239ef8_3_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91ab239ef8_3_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868fde805b_0_7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868fde805b_0_7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868fde805b_0_9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868fde805b_0_9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868fde805b_0_9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868fde805b_0_9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868fde805b_0_10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868fde805b_0_10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868fde805b_0_11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868fde805b_0_11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868fde805b_0_11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868fde805b_0_11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868fde805b_0_12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868fde805b_0_12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868fde805b_0_13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868fde805b_0_13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868fde805b_0_15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868fde805b_0_15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4617B"/>
              </a:buClr>
              <a:buSzPts val="8000"/>
              <a:buFont typeface="Source Sans Pro"/>
              <a:buNone/>
              <a:defRPr sz="8000">
                <a:solidFill>
                  <a:srgbClr val="04617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2"/>
          <p:cNvSpPr txBox="1"/>
          <p:nvPr/>
        </p:nvSpPr>
        <p:spPr>
          <a:xfrm>
            <a:off x="5272075" y="6385700"/>
            <a:ext cx="6126300" cy="10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國立陽明交通大學資工系資訊中心</a:t>
            </a:r>
            <a:endParaRPr sz="3000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Computer Center, Department of Computer Science, NYCU</a:t>
            </a:r>
            <a:endParaRPr sz="1100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500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99875" y="5339225"/>
            <a:ext cx="102675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DBF5F9"/>
              </a:buClr>
              <a:buSzPts val="3600"/>
              <a:buFont typeface="Source Sans Pro"/>
              <a:buNone/>
              <a:defRPr sz="3600">
                <a:solidFill>
                  <a:srgbClr val="DBF5F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Source Sans Pro"/>
              <a:buNone/>
              <a:defRPr sz="60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599040" y="1828800"/>
            <a:ext cx="10830900" cy="53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Source Sans Pro"/>
              <a:buNone/>
              <a:defRPr sz="3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3000"/>
              <a:buFont typeface="Source Sans Pro"/>
              <a:buNone/>
              <a:defRPr sz="3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3000"/>
              <a:buFont typeface="Source Sans Pro"/>
              <a:buNone/>
              <a:defRPr sz="3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3000"/>
              <a:buFont typeface="Source Sans Pro"/>
              <a:buNone/>
              <a:defRPr sz="3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3000"/>
              <a:buFont typeface="Source Sans Pro"/>
              <a:buNone/>
              <a:defRPr sz="3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3000"/>
              <a:buFont typeface="Source Sans Pro"/>
              <a:buNone/>
              <a:defRPr sz="3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3000"/>
              <a:buFont typeface="Source Sans Pro"/>
              <a:buNone/>
              <a:defRPr sz="3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3000"/>
              <a:buFont typeface="Source Sans Pro"/>
              <a:buNone/>
              <a:defRPr sz="3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3000"/>
              <a:buFont typeface="Source Sans Pro"/>
              <a:buNone/>
              <a:defRPr sz="3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381">
          <p15:clr>
            <a:srgbClr val="FA7B17"/>
          </p15:clr>
        </p15:guide>
        <p15:guide id="2" pos="3779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自訂版面配置 1">
  <p:cSld name="CUSTOM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" name="Google Shape;19;p4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599040" y="1828800"/>
            <a:ext cx="10830900" cy="53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Source Sans Pro"/>
              <a:buNone/>
              <a:defRPr sz="3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3000"/>
              <a:buFont typeface="Source Sans Pro"/>
              <a:buNone/>
              <a:defRPr sz="3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3000"/>
              <a:buFont typeface="Source Sans Pro"/>
              <a:buNone/>
              <a:defRPr sz="3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3000"/>
              <a:buFont typeface="Source Sans Pro"/>
              <a:buNone/>
              <a:defRPr sz="3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3000"/>
              <a:buFont typeface="Source Sans Pro"/>
              <a:buNone/>
              <a:defRPr sz="3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3000"/>
              <a:buFont typeface="Source Sans Pro"/>
              <a:buNone/>
              <a:defRPr sz="3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3000"/>
              <a:buFont typeface="Source Sans Pro"/>
              <a:buNone/>
              <a:defRPr sz="3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3000"/>
              <a:buFont typeface="Source Sans Pro"/>
              <a:buNone/>
              <a:defRPr sz="3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3000"/>
              <a:buFont typeface="Source Sans Pro"/>
              <a:buNone/>
              <a:defRPr sz="3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4617B"/>
              </a:buClr>
              <a:buSzPts val="8000"/>
              <a:buFont typeface="Source Sans Pro"/>
              <a:buNone/>
              <a:defRPr sz="8000">
                <a:solidFill>
                  <a:srgbClr val="04617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" name="Google Shape;7;p1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nasa.cs.nctu.edu.tw/sa/2021/content.php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sysadminday.com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en.wikipedia.org/wiki/Darwin_(operating_system)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mailto:lctseng@cs.nctu.edu.tw" TargetMode="External"/><Relationship Id="rId4" Type="http://schemas.openxmlformats.org/officeDocument/2006/relationships/hyperlink" Target="mailto:wangth@cs.nctu.edu.tw" TargetMode="External"/><Relationship Id="rId5" Type="http://schemas.openxmlformats.org/officeDocument/2006/relationships/hyperlink" Target="mailto:jnlin@cs.nctu.edu.tw" TargetMode="External"/><Relationship Id="rId6" Type="http://schemas.openxmlformats.org/officeDocument/2006/relationships/hyperlink" Target="mailto:lwhsu@cs.nctu.edu.tw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groups.google.com/forum/#!forum/nctunasa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mailto:ta@nasa.cs.nctu.edu.tw" TargetMode="External"/><Relationship Id="rId4" Type="http://schemas.openxmlformats.org/officeDocument/2006/relationships/hyperlink" Target="https://nasa.cs.nctu.edu.tw/sa/2021/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mailto:ta@nasa.cs.nctu.edu.tw" TargetMode="External"/><Relationship Id="rId4" Type="http://schemas.openxmlformats.org/officeDocument/2006/relationships/hyperlink" Target="mailto:ta@nasa.cs.nctu.edu.tw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it.cs.nycu.edu.tw/workstation-guide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www.putty.org/" TargetMode="External"/><Relationship Id="rId4" Type="http://schemas.openxmlformats.org/officeDocument/2006/relationships/image" Target="../media/image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it.cs.nycu.edu.tw/unix-basic-commands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/>
        </p:nvSpPr>
        <p:spPr>
          <a:xfrm>
            <a:off x="548640" y="301320"/>
            <a:ext cx="10798500" cy="4453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8000" strike="noStrike">
              <a:solidFill>
                <a:srgbClr val="04617B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</p:txBody>
      </p:sp>
      <p:sp>
        <p:nvSpPr>
          <p:cNvPr id="26" name="Google Shape;26;p5"/>
          <p:cNvSpPr txBox="1"/>
          <p:nvPr/>
        </p:nvSpPr>
        <p:spPr>
          <a:xfrm>
            <a:off x="552960" y="5216400"/>
            <a:ext cx="10789800" cy="15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 strike="noStrike">
              <a:solidFill>
                <a:srgbClr val="DBF5F9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763577" y="3739695"/>
            <a:ext cx="10798500" cy="1262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00"/>
              <a:t>Computer System Administration</a:t>
            </a:r>
            <a:endParaRPr sz="6100"/>
          </a:p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" name="Google Shape;29;p5"/>
          <p:cNvSpPr txBox="1"/>
          <p:nvPr>
            <p:ph idx="1" type="subTitle"/>
          </p:nvPr>
        </p:nvSpPr>
        <p:spPr>
          <a:xfrm>
            <a:off x="599875" y="5339225"/>
            <a:ext cx="102675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曾亮齊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/>
              <a:t>Online Course Announcement</a:t>
            </a:r>
            <a:endParaRPr sz="5200"/>
          </a:p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36" name="Google Shape;36;p6"/>
          <p:cNvSpPr txBox="1"/>
          <p:nvPr>
            <p:ph idx="1" type="body"/>
          </p:nvPr>
        </p:nvSpPr>
        <p:spPr>
          <a:xfrm>
            <a:off x="599050" y="1828800"/>
            <a:ext cx="11073000" cy="53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The live course will be available online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Using Microsoft Teams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Available at </a:t>
            </a:r>
            <a:r>
              <a:rPr lang="en-US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https://nasa.cs.nctu.edu.tw/sa/2021/content.php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We will</a:t>
            </a:r>
            <a:r>
              <a:rPr b="1"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record the meeting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during the class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For reference only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Will not release to public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●"/>
            </a:pPr>
            <a:r>
              <a:rPr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 NOT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record this meeting by yourself without 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approval from the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lecturer!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/>
              <a:t>What System Administrator Should do?</a:t>
            </a:r>
            <a:endParaRPr sz="5200"/>
          </a:p>
        </p:txBody>
      </p:sp>
      <p:sp>
        <p:nvSpPr>
          <p:cNvPr id="42" name="Google Shape;42;p7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43" name="Google Shape;43;p7"/>
          <p:cNvSpPr txBox="1"/>
          <p:nvPr>
            <p:ph idx="1" type="body"/>
          </p:nvPr>
        </p:nvSpPr>
        <p:spPr>
          <a:xfrm>
            <a:off x="599050" y="1828800"/>
            <a:ext cx="11073000" cy="53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Ordinary list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Installing new system, programs and OS updates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Monitoring system and tuning performance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Adding and removing users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Adding and removing hardware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Backup and restore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Configuration management (Ansible, Chef, Puppet, SaltStack, …)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Infrastructure management (Terraform, …)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/>
              <a:t>What System Administrator Should do?</a:t>
            </a:r>
            <a:endParaRPr sz="5200"/>
          </a:p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50" name="Google Shape;50;p8"/>
          <p:cNvSpPr txBox="1"/>
          <p:nvPr>
            <p:ph idx="1" type="body"/>
          </p:nvPr>
        </p:nvSpPr>
        <p:spPr>
          <a:xfrm>
            <a:off x="599040" y="1828800"/>
            <a:ext cx="10830900" cy="53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Ordinary list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○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Continuous Integration &amp; Delivery (Jenkins, Travis CI, …)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○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 management (Fluentd, Papertrail, … )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○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Security monitoring and reaction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○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Virtualization (VMWare, Xen, Bhyve, …)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○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Containerization (Docker, …)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○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Capacity planning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○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/>
              <a:t>What System Administrator Should do?</a:t>
            </a:r>
            <a:endParaRPr sz="5200"/>
          </a:p>
        </p:txBody>
      </p:sp>
      <p:sp>
        <p:nvSpPr>
          <p:cNvPr id="56" name="Google Shape;56;p9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57" name="Google Shape;57;p9"/>
          <p:cNvSpPr txBox="1"/>
          <p:nvPr>
            <p:ph idx="1" type="body"/>
          </p:nvPr>
        </p:nvSpPr>
        <p:spPr>
          <a:xfrm>
            <a:off x="599040" y="1828800"/>
            <a:ext cx="10830900" cy="53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Non-technique list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Helping users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Maintaining documentation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Moving furniture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Good communication and memorization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Char char="■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Leverage external memory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 strike="sng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Burning your liver</a:t>
            </a:r>
            <a:endParaRPr strike="sng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/>
              <a:t>What System Administrator Should do?</a:t>
            </a:r>
            <a:endParaRPr sz="5200"/>
          </a:p>
        </p:txBody>
      </p:sp>
      <p:sp>
        <p:nvSpPr>
          <p:cNvPr id="63" name="Google Shape;63;p10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599040" y="1828800"/>
            <a:ext cx="10830900" cy="53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The best words to describe the job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Thankless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job.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■"/>
            </a:pPr>
            <a:r>
              <a:rPr lang="en-US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https://sysadminday.com/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System administration is like keeping the trains on time;</a:t>
            </a:r>
            <a:b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no one notices it except when they're late.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When we do right, no one remembers;</a:t>
            </a:r>
            <a:b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when we do wrong, no one forgets.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/>
              <a:t>What System Administrator </a:t>
            </a:r>
            <a:r>
              <a:rPr lang="en-US" sz="5200"/>
              <a:t>Must</a:t>
            </a:r>
            <a:r>
              <a:rPr lang="en-US" sz="5200"/>
              <a:t> do?</a:t>
            </a:r>
            <a:endParaRPr sz="5200"/>
          </a:p>
        </p:txBody>
      </p:sp>
      <p:sp>
        <p:nvSpPr>
          <p:cNvPr id="70" name="Google Shape;70;p11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71" name="Google Shape;71;p11"/>
          <p:cNvSpPr txBox="1"/>
          <p:nvPr>
            <p:ph idx="1" type="body"/>
          </p:nvPr>
        </p:nvSpPr>
        <p:spPr>
          <a:xfrm>
            <a:off x="599040" y="1828800"/>
            <a:ext cx="10830900" cy="53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Philosophy of system administration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○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Know how things really work.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○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 it before you do it.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○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Make it 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revertible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○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Make changes incrementally and backward-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compatible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○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thoroughly before 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unleash 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2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/>
              <a:t>What System Administrator Should do?</a:t>
            </a:r>
            <a:endParaRPr sz="5200"/>
          </a:p>
        </p:txBody>
      </p:sp>
      <p:sp>
        <p:nvSpPr>
          <p:cNvPr id="77" name="Google Shape;77;p12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78" name="Google Shape;78;p12"/>
          <p:cNvSpPr txBox="1"/>
          <p:nvPr>
            <p:ph idx="1" type="body"/>
          </p:nvPr>
        </p:nvSpPr>
        <p:spPr>
          <a:xfrm>
            <a:off x="599040" y="1828800"/>
            <a:ext cx="10830900" cy="53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Flow of Change</a:t>
            </a:r>
            <a:endParaRPr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9" name="Google Shape;79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76926" y="1394826"/>
            <a:ext cx="4646500" cy="5828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/>
              <a:t>What System Administrator Should do?</a:t>
            </a:r>
            <a:endParaRPr sz="5200"/>
          </a:p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86" name="Google Shape;86;p13"/>
          <p:cNvSpPr txBox="1"/>
          <p:nvPr>
            <p:ph idx="1" type="body"/>
          </p:nvPr>
        </p:nvSpPr>
        <p:spPr>
          <a:xfrm>
            <a:off x="599040" y="1828800"/>
            <a:ext cx="10830900" cy="53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The skills to be a candidate of system administrator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We are not going to teach you cool &amp; new things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But the how to master these skills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Find and read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authoritative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docs, not just copy &amp; paste from a random webpage on Internet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System Administration (110A)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Manage one server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Network Administration (110B)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anage a network consist of multiple servers and devices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/>
              <a:t>About the Operating System</a:t>
            </a:r>
            <a:endParaRPr sz="5200"/>
          </a:p>
        </p:txBody>
      </p:sp>
      <p:sp>
        <p:nvSpPr>
          <p:cNvPr id="92" name="Google Shape;92;p14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599040" y="1828800"/>
            <a:ext cx="10830900" cy="53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Most of the course materials will take FreeBSD as examples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Homework is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guaranteed to be doable under FreeBSD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Linux?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Lots of distributions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You are still allowed to use them in homework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■"/>
            </a:pPr>
            <a:r>
              <a:rPr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 your own risk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/>
              <a:t>Why FreeBSD</a:t>
            </a:r>
            <a:endParaRPr sz="5200"/>
          </a:p>
        </p:txBody>
      </p:sp>
      <p:sp>
        <p:nvSpPr>
          <p:cNvPr id="99" name="Google Shape;99;p15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100" name="Google Shape;100;p15"/>
          <p:cNvSpPr txBox="1"/>
          <p:nvPr>
            <p:ph idx="1" type="body"/>
          </p:nvPr>
        </p:nvSpPr>
        <p:spPr>
          <a:xfrm>
            <a:off x="599040" y="1828800"/>
            <a:ext cx="10830900" cy="53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goal is to learn "How it works"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○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FreeBSD is simple and easy to learn the internals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○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Unified environment is good for educational purpose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BSDs are still popular in some ways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Apple MacOS, iOS and many other products or services are based or heavily using BSDs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https://en.wikipedia.org/wiki/Darwin_(operating_system)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/>
              <a:t>Attitude</a:t>
            </a:r>
            <a:endParaRPr sz="5200"/>
          </a:p>
        </p:txBody>
      </p:sp>
      <p:sp>
        <p:nvSpPr>
          <p:cNvPr id="106" name="Google Shape;106;p16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107" name="Google Shape;107;p16"/>
          <p:cNvSpPr txBox="1"/>
          <p:nvPr>
            <p:ph idx="1" type="body"/>
          </p:nvPr>
        </p:nvSpPr>
        <p:spPr>
          <a:xfrm>
            <a:off x="599040" y="1828800"/>
            <a:ext cx="10830900" cy="53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Attend every class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Do every exercise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As early as possible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000"/>
              <a:buFont typeface="Times New Roman"/>
              <a:buChar char="○"/>
            </a:pPr>
            <a:r>
              <a:rPr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 your own</a:t>
            </a:r>
            <a:endParaRPr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Read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book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and practice at least 6 hours every week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Use unix-like environment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Recommend: more than 1.5 hours/day averagely.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Collect information on the internet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The newer, the better.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/>
              <a:t>Syllabus</a:t>
            </a:r>
            <a:endParaRPr sz="5200"/>
          </a:p>
        </p:txBody>
      </p:sp>
      <p:sp>
        <p:nvSpPr>
          <p:cNvPr id="113" name="Google Shape;113;p17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114" name="Google Shape;114;p17"/>
          <p:cNvSpPr txBox="1"/>
          <p:nvPr>
            <p:ph idx="1" type="body"/>
          </p:nvPr>
        </p:nvSpPr>
        <p:spPr>
          <a:xfrm>
            <a:off x="599040" y="1828800"/>
            <a:ext cx="10830900" cy="53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Instructors: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>
                <a:latin typeface="Microsoft JhengHei"/>
                <a:ea typeface="Microsoft JhengHei"/>
                <a:cs typeface="Microsoft JhengHei"/>
                <a:sym typeface="Microsoft JhengHei"/>
              </a:rPr>
              <a:t>曾亮齊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lctseng@cs.nctu.edu.tw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>
                <a:latin typeface="Microsoft JhengHei"/>
                <a:ea typeface="Microsoft JhengHei"/>
                <a:cs typeface="Microsoft JhengHei"/>
                <a:sym typeface="Microsoft JhengHei"/>
              </a:rPr>
              <a:t>王則涵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wangth@cs.nctu.edu.tw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>
                <a:latin typeface="Microsoft JhengHei"/>
                <a:ea typeface="Microsoft JhengHei"/>
                <a:cs typeface="Microsoft JhengHei"/>
                <a:sym typeface="Microsoft JhengHei"/>
              </a:rPr>
              <a:t>林瑞男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/>
              </a:rPr>
              <a:t>jnlin@cs.nctu.edu.tw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>
                <a:latin typeface="Microsoft JhengHei"/>
                <a:ea typeface="Microsoft JhengHei"/>
                <a:cs typeface="Microsoft JhengHei"/>
                <a:sym typeface="Microsoft JhengHei"/>
              </a:rPr>
              <a:t>許立文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6"/>
              </a:rPr>
              <a:t>lwhsu@cs.nctu.edu.tw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Time: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Thu. abc (18:30 ~ 21:20)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Place: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 strike="sngStrike">
                <a:latin typeface="Times New Roman"/>
                <a:ea typeface="Times New Roman"/>
                <a:cs typeface="Times New Roman"/>
                <a:sym typeface="Times New Roman"/>
              </a:rPr>
              <a:t>EC122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Online Course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/>
              <a:t>Syllabus</a:t>
            </a:r>
            <a:endParaRPr sz="5200"/>
          </a:p>
        </p:txBody>
      </p:sp>
      <p:sp>
        <p:nvSpPr>
          <p:cNvPr id="120" name="Google Shape;120;p18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121" name="Google Shape;121;p18"/>
          <p:cNvSpPr txBox="1"/>
          <p:nvPr>
            <p:ph idx="1" type="body"/>
          </p:nvPr>
        </p:nvSpPr>
        <p:spPr>
          <a:xfrm>
            <a:off x="599040" y="1828800"/>
            <a:ext cx="10830900" cy="53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Discussion Forum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https://groups.google.com/forum/#!forum/nctunasa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We suggest you to join - TAs might give homework hints there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Request join and tell us your student ID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Ask</a:t>
            </a:r>
            <a:r>
              <a:rPr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course-related/technical questions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there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Everyone in the group can answer/vote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000"/>
              <a:buFont typeface="Times New Roman"/>
              <a:buChar char="○"/>
            </a:pPr>
            <a:r>
              <a:rPr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But DON'T post direct answer/configuration there!</a:t>
            </a:r>
            <a:endParaRPr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■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You will be banned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/>
              <a:t>Syllabus</a:t>
            </a:r>
            <a:endParaRPr sz="5200"/>
          </a:p>
        </p:txBody>
      </p:sp>
      <p:sp>
        <p:nvSpPr>
          <p:cNvPr id="127" name="Google Shape;127;p19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128" name="Google Shape;128;p19"/>
          <p:cNvSpPr txBox="1"/>
          <p:nvPr>
            <p:ph idx="1" type="body"/>
          </p:nvPr>
        </p:nvSpPr>
        <p:spPr>
          <a:xfrm>
            <a:off x="599040" y="1828800"/>
            <a:ext cx="10830900" cy="53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Lecture/Exam in Chinese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Not recommend for those do not speak Chinese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TAs: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We might have about 6 TAs.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Email to TAs: </a:t>
            </a:r>
            <a:r>
              <a:rPr lang="en-US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ta@nasa.cs.nctu.edu.tw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■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Also received by all lecturers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○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 hour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■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Wed, 15:30 ~ 17:20, by appointment, @CSIT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Website: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■"/>
            </a:pPr>
            <a:r>
              <a:rPr lang="en-US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https://nasa.cs.nctu.edu.tw/sa/2021/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/>
              <a:t>Syllabus</a:t>
            </a:r>
            <a:endParaRPr sz="5200"/>
          </a:p>
        </p:txBody>
      </p:sp>
      <p:sp>
        <p:nvSpPr>
          <p:cNvPr id="134" name="Google Shape;134;p20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135" name="Google Shape;135;p20"/>
          <p:cNvSpPr txBox="1"/>
          <p:nvPr>
            <p:ph idx="1" type="body"/>
          </p:nvPr>
        </p:nvSpPr>
        <p:spPr>
          <a:xfrm>
            <a:off x="599040" y="1828800"/>
            <a:ext cx="10830900" cy="53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Email Policy (</a:t>
            </a:r>
            <a:r>
              <a:rPr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IMPORTANT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Don't send course-related/technical questions to TAs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■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TAs won't answer you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■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Please ask them on course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forum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instead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Only ask TAs for personal/non-technical questions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■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Course registration/dropping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■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Grading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■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Office hour appointment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■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Demo appointment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1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/>
              <a:t>Syllabus</a:t>
            </a:r>
            <a:endParaRPr sz="5200"/>
          </a:p>
        </p:txBody>
      </p:sp>
      <p:sp>
        <p:nvSpPr>
          <p:cNvPr id="141" name="Google Shape;141;p21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142" name="Google Shape;142;p21"/>
          <p:cNvSpPr txBox="1"/>
          <p:nvPr>
            <p:ph idx="1" type="body"/>
          </p:nvPr>
        </p:nvSpPr>
        <p:spPr>
          <a:xfrm>
            <a:off x="599040" y="1828800"/>
            <a:ext cx="10830900" cy="53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Registration (if you are not able to register on web)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Fill the registration form and email to </a:t>
            </a:r>
            <a:r>
              <a:rPr lang="en-US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ta@nasa.cs.nctu.edu.tw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Dropping (after midterm)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Contact CS Department Office if you cannot find lecturers near the deadline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Or email to </a:t>
            </a:r>
            <a:r>
              <a:rPr lang="en-US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ta@nasa.cs.nctu.edu.tw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/>
              <a:t>Syllabus – Text book outline</a:t>
            </a:r>
            <a:endParaRPr sz="5200"/>
          </a:p>
        </p:txBody>
      </p:sp>
      <p:sp>
        <p:nvSpPr>
          <p:cNvPr id="148" name="Google Shape;148;p22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149" name="Google Shape;149;p22"/>
          <p:cNvSpPr txBox="1"/>
          <p:nvPr>
            <p:ph idx="1" type="body"/>
          </p:nvPr>
        </p:nvSpPr>
        <p:spPr>
          <a:xfrm>
            <a:off x="599040" y="1828800"/>
            <a:ext cx="10830900" cy="53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Part I. Basic Administration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Chap   1 – Where to start.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Chap   2 – Booting and Shutting Down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Chap   3 – The Filesystem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Chap   4 – Access control and rootly powers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Chap   5 – Controlling processes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Chap   6 – User Management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Chap   7 – Storage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Chap   8 – Periodic processes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Chap   9 – Backups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/>
              <a:t>Syllabus – Text book outline</a:t>
            </a:r>
            <a:endParaRPr sz="5200"/>
          </a:p>
        </p:txBody>
      </p:sp>
      <p:sp>
        <p:nvSpPr>
          <p:cNvPr id="155" name="Google Shape;155;p23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156" name="Google Shape;156;p23"/>
          <p:cNvSpPr txBox="1"/>
          <p:nvPr>
            <p:ph idx="1" type="body"/>
          </p:nvPr>
        </p:nvSpPr>
        <p:spPr>
          <a:xfrm>
            <a:off x="599040" y="1828800"/>
            <a:ext cx="10830900" cy="53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Part I. Basic Administration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Chap 10 – Syslog and log files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Chap 11 – Software installation and management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Chap 12 – The Kernel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Chap 13 – Scripting and the Shell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Chap 14 – Configuration Management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/>
              <a:t>Syllabus – Text book outline</a:t>
            </a:r>
            <a:endParaRPr sz="5200"/>
          </a:p>
        </p:txBody>
      </p:sp>
      <p:sp>
        <p:nvSpPr>
          <p:cNvPr id="162" name="Google Shape;162;p24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163" name="Google Shape;163;p24"/>
          <p:cNvSpPr txBox="1"/>
          <p:nvPr>
            <p:ph idx="1" type="body"/>
          </p:nvPr>
        </p:nvSpPr>
        <p:spPr>
          <a:xfrm>
            <a:off x="599040" y="1828800"/>
            <a:ext cx="10830900" cy="53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Part II. Networking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Chap 19 – NFS: Network File System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Chap 20 – HTTP: Hypertext Transfer Protocol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Operations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Chap 27 – Security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Chap 31 – Performance Analysis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5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/>
              <a:t>Syllabus – Grade Policy</a:t>
            </a:r>
            <a:endParaRPr sz="5200"/>
          </a:p>
        </p:txBody>
      </p:sp>
      <p:sp>
        <p:nvSpPr>
          <p:cNvPr id="169" name="Google Shape;169;p25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170" name="Google Shape;170;p25"/>
          <p:cNvSpPr txBox="1"/>
          <p:nvPr>
            <p:ph idx="1" type="body"/>
          </p:nvPr>
        </p:nvSpPr>
        <p:spPr>
          <a:xfrm>
            <a:off x="599040" y="1828800"/>
            <a:ext cx="10830900" cy="53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Mid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15 ~ 20%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Final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15 ~ 20%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Exercise (Homeworks)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60 ~ 70%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000"/>
              <a:buFont typeface="Times New Roman"/>
              <a:buChar char="○"/>
            </a:pPr>
            <a:r>
              <a:rPr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Delay Submission</a:t>
            </a:r>
            <a:endParaRPr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4 exercises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1 term project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6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/>
              <a:t>What you should prepare?</a:t>
            </a:r>
            <a:endParaRPr sz="5200"/>
          </a:p>
        </p:txBody>
      </p:sp>
      <p:sp>
        <p:nvSpPr>
          <p:cNvPr id="176" name="Google Shape;176;p26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177" name="Google Shape;177;p26"/>
          <p:cNvSpPr txBox="1"/>
          <p:nvPr>
            <p:ph idx="1" type="body"/>
          </p:nvPr>
        </p:nvSpPr>
        <p:spPr>
          <a:xfrm>
            <a:off x="599040" y="1828800"/>
            <a:ext cx="10830900" cy="53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Background knowledge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Basic knowledge of UNIX commands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Basic Programming skills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Basic of TCP/IP Networking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Environment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Virtual Machine (Virtualbox, VMware)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Bare-metal Machine is also fine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Yourself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Your hard study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7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/>
              <a:t>Finally, Am I OK to take this course?</a:t>
            </a:r>
            <a:endParaRPr sz="5200"/>
          </a:p>
        </p:txBody>
      </p:sp>
      <p:sp>
        <p:nvSpPr>
          <p:cNvPr id="183" name="Google Shape;183;p27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184" name="Google Shape;184;p27"/>
          <p:cNvSpPr txBox="1"/>
          <p:nvPr>
            <p:ph idx="1" type="body"/>
          </p:nvPr>
        </p:nvSpPr>
        <p:spPr>
          <a:xfrm>
            <a:off x="599040" y="1828800"/>
            <a:ext cx="10830900" cy="53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Are you willing to devote yourself to exercise?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Yes! Please come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Are you newbie in this area?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Yes!? It's ok, Please come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Do you take more than 3 major courses?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Sometimes your may spend the whole weekend to just figure out what to do in the homework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Loading of this course </a:t>
            </a:r>
            <a:r>
              <a:rPr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roughly</a:t>
            </a:r>
            <a:r>
              <a:rPr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equals to 2~3 major courses</a:t>
            </a:r>
            <a:endParaRPr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●"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You will learn a lot if you study hard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8"/>
          <p:cNvSpPr txBox="1"/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/>
              <a:t>Basic knowledge in this course</a:t>
            </a:r>
            <a:endParaRPr sz="6600"/>
          </a:p>
        </p:txBody>
      </p:sp>
      <p:sp>
        <p:nvSpPr>
          <p:cNvPr id="190" name="Google Shape;190;p28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1" name="Google Shape;191;p28"/>
          <p:cNvSpPr txBox="1"/>
          <p:nvPr>
            <p:ph idx="1" type="subTitle"/>
          </p:nvPr>
        </p:nvSpPr>
        <p:spPr>
          <a:xfrm>
            <a:off x="599875" y="5339225"/>
            <a:ext cx="102675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9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/>
              <a:t>Play with Unix-Like system</a:t>
            </a:r>
            <a:endParaRPr sz="5200"/>
          </a:p>
        </p:txBody>
      </p:sp>
      <p:sp>
        <p:nvSpPr>
          <p:cNvPr id="197" name="Google Shape;197;p29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198" name="Google Shape;198;p29"/>
          <p:cNvSpPr txBox="1"/>
          <p:nvPr>
            <p:ph idx="1" type="body"/>
          </p:nvPr>
        </p:nvSpPr>
        <p:spPr>
          <a:xfrm>
            <a:off x="599040" y="1828800"/>
            <a:ext cx="10830900" cy="53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Our department has FreeBSD/Linux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workstations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for all students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bsd{1,2,3,4}.cs.nctu.edu.tw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linux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{1,2,3,4}.cs.nctu.edu.tw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alumni.cs.nctu.edu.tw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About CS workstation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■"/>
            </a:pPr>
            <a:r>
              <a:rPr lang="en-US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https://it.cs.nycu.edu.tw/workstation-guide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Get familiar with CLI (command line interface)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Without GUI (graphics user interface)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Don't be afraid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0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/>
              <a:t>Usage</a:t>
            </a:r>
            <a:endParaRPr sz="5200"/>
          </a:p>
        </p:txBody>
      </p:sp>
      <p:sp>
        <p:nvSpPr>
          <p:cNvPr id="204" name="Google Shape;204;p30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05" name="Google Shape;205;p30"/>
          <p:cNvSpPr txBox="1"/>
          <p:nvPr>
            <p:ph idx="1" type="body"/>
          </p:nvPr>
        </p:nvSpPr>
        <p:spPr>
          <a:xfrm>
            <a:off x="599040" y="1828800"/>
            <a:ext cx="10830900" cy="53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SSH (Secure Shell)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Putty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(Windows)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Terminal (macOS)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GNOME Terminal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6" name="Google Shape;206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10150" y="297625"/>
            <a:ext cx="6187399" cy="6964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1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/>
              <a:t>Commands</a:t>
            </a:r>
            <a:endParaRPr sz="5200"/>
          </a:p>
        </p:txBody>
      </p:sp>
      <p:sp>
        <p:nvSpPr>
          <p:cNvPr id="212" name="Google Shape;212;p31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13" name="Google Shape;213;p31"/>
          <p:cNvSpPr txBox="1"/>
          <p:nvPr>
            <p:ph idx="1" type="body"/>
          </p:nvPr>
        </p:nvSpPr>
        <p:spPr>
          <a:xfrm>
            <a:off x="599040" y="1828800"/>
            <a:ext cx="10830900" cy="53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Useful commands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Ubuntu Mono"/>
              <a:buChar char="○"/>
            </a:pPr>
            <a:r>
              <a:rPr lang="en-US" sz="2600">
                <a:latin typeface="Ubuntu Mono"/>
                <a:ea typeface="Ubuntu Mono"/>
                <a:cs typeface="Ubuntu Mono"/>
                <a:sym typeface="Ubuntu Mono"/>
              </a:rPr>
              <a:t>ls</a:t>
            </a:r>
            <a:endParaRPr sz="2600">
              <a:latin typeface="Ubuntu Mono"/>
              <a:ea typeface="Ubuntu Mono"/>
              <a:cs typeface="Ubuntu Mono"/>
              <a:sym typeface="Ubuntu Mono"/>
            </a:endParaRPr>
          </a:p>
          <a:p>
            <a:pPr indent="-3937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Ubuntu Mono"/>
              <a:buChar char="○"/>
            </a:pPr>
            <a:r>
              <a:rPr lang="en-US" sz="2600">
                <a:latin typeface="Ubuntu Mono"/>
                <a:ea typeface="Ubuntu Mono"/>
                <a:cs typeface="Ubuntu Mono"/>
                <a:sym typeface="Ubuntu Mono"/>
              </a:rPr>
              <a:t>passwd</a:t>
            </a:r>
            <a:endParaRPr sz="2600">
              <a:latin typeface="Ubuntu Mono"/>
              <a:ea typeface="Ubuntu Mono"/>
              <a:cs typeface="Ubuntu Mono"/>
              <a:sym typeface="Ubuntu Mono"/>
            </a:endParaRPr>
          </a:p>
          <a:p>
            <a:pPr indent="-3937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Ubuntu Mono"/>
              <a:buChar char="○"/>
            </a:pPr>
            <a:r>
              <a:rPr lang="en-US" sz="2600">
                <a:latin typeface="Ubuntu Mono"/>
                <a:ea typeface="Ubuntu Mono"/>
                <a:cs typeface="Ubuntu Mono"/>
                <a:sym typeface="Ubuntu Mono"/>
              </a:rPr>
              <a:t>mkdir, rmdir</a:t>
            </a:r>
            <a:endParaRPr sz="2600">
              <a:latin typeface="Ubuntu Mono"/>
              <a:ea typeface="Ubuntu Mono"/>
              <a:cs typeface="Ubuntu Mono"/>
              <a:sym typeface="Ubuntu Mono"/>
            </a:endParaRPr>
          </a:p>
          <a:p>
            <a:pPr indent="-3937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Ubuntu Mono"/>
              <a:buChar char="○"/>
            </a:pPr>
            <a:r>
              <a:rPr lang="en-US" sz="2600">
                <a:latin typeface="Ubuntu Mono"/>
                <a:ea typeface="Ubuntu Mono"/>
                <a:cs typeface="Ubuntu Mono"/>
                <a:sym typeface="Ubuntu Mono"/>
              </a:rPr>
              <a:t>cp, </a:t>
            </a:r>
            <a:r>
              <a:rPr lang="en-US" sz="2600">
                <a:latin typeface="Ubuntu Mono"/>
                <a:ea typeface="Ubuntu Mono"/>
                <a:cs typeface="Ubuntu Mono"/>
                <a:sym typeface="Ubuntu Mono"/>
              </a:rPr>
              <a:t>m</a:t>
            </a:r>
            <a:r>
              <a:rPr lang="en-US" sz="2600">
                <a:latin typeface="Ubuntu Mono"/>
                <a:ea typeface="Ubuntu Mono"/>
                <a:cs typeface="Ubuntu Mono"/>
                <a:sym typeface="Ubuntu Mono"/>
              </a:rPr>
              <a:t>v, rm</a:t>
            </a:r>
            <a:endParaRPr sz="2600">
              <a:latin typeface="Ubuntu Mono"/>
              <a:ea typeface="Ubuntu Mono"/>
              <a:cs typeface="Ubuntu Mono"/>
              <a:sym typeface="Ubuntu Mono"/>
            </a:endParaRPr>
          </a:p>
          <a:p>
            <a:pPr indent="-3937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Ubuntu Mono"/>
              <a:buChar char="○"/>
            </a:pPr>
            <a:r>
              <a:rPr lang="en-US" sz="26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poweroff, shutdown -p now</a:t>
            </a:r>
            <a:endParaRPr sz="26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-3937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Ubuntu Mono"/>
              <a:buChar char="○"/>
            </a:pPr>
            <a:r>
              <a:rPr lang="en-US" sz="26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reboot, shutdown -r now</a:t>
            </a:r>
            <a:endParaRPr sz="26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-3937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Ubuntu Mono"/>
              <a:buChar char="○"/>
            </a:pPr>
            <a:r>
              <a:rPr lang="en-US" sz="26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…</a:t>
            </a:r>
            <a:endParaRPr sz="26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Ubuntu Mono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Most important command: </a:t>
            </a:r>
            <a:r>
              <a:rPr lang="en-US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man</a:t>
            </a:r>
            <a:endParaRPr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Basic command tutorials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https://it.cs.nycu.edu.tw/unix-basic-commands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2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/>
              <a:t>Conventions</a:t>
            </a:r>
            <a:endParaRPr sz="5200"/>
          </a:p>
        </p:txBody>
      </p:sp>
      <p:sp>
        <p:nvSpPr>
          <p:cNvPr id="219" name="Google Shape;219;p32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20" name="Google Shape;220;p32"/>
          <p:cNvSpPr txBox="1"/>
          <p:nvPr>
            <p:ph idx="1" type="body"/>
          </p:nvPr>
        </p:nvSpPr>
        <p:spPr>
          <a:xfrm>
            <a:off x="599040" y="1828800"/>
            <a:ext cx="10830900" cy="53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●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Syntax of commands: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Anything between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"</a:t>
            </a:r>
            <a:r>
              <a:rPr lang="en-US" sz="3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"</a:t>
            </a: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"</a:t>
            </a:r>
            <a:r>
              <a:rPr lang="en-US" sz="3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"</a:t>
            </a: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 is optional.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Anything followed by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"</a:t>
            </a:r>
            <a:r>
              <a:rPr lang="en-US" sz="3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"</a:t>
            </a: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 can be repeated.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○"/>
            </a:pPr>
            <a:r>
              <a:rPr lang="en-US" sz="3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{a | b}</a:t>
            </a: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 – you should choose one of them.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00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ourier New"/>
              <a:buChar char="■"/>
            </a:pPr>
            <a:r>
              <a:rPr lang="en-US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bork [-x] { on | off } filename...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221" name="Google Shape;221;p32"/>
          <p:cNvGraphicFramePr/>
          <p:nvPr/>
        </p:nvGraphicFramePr>
        <p:xfrm>
          <a:off x="848050" y="45044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{56BAA1FF-33E8-4C70-B64D-731CC956EBF8}</a:tableStyleId>
              </a:tblPr>
              <a:tblGrid>
                <a:gridCol w="1177575"/>
                <a:gridCol w="89157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Yes/No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Commands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bork on /etc/hosts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bork -x off /etc/hosts /etc/passwd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bork -x /etc/hosts	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bork -h /etc/hosts	</a:t>
                      </a:r>
                      <a:endParaRPr sz="22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3"/>
          <p:cNvSpPr txBox="1"/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 &amp; A</a:t>
            </a:r>
            <a:endParaRPr/>
          </a:p>
        </p:txBody>
      </p:sp>
      <p:sp>
        <p:nvSpPr>
          <p:cNvPr id="227" name="Google Shape;227;p33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8" name="Google Shape;228;p33"/>
          <p:cNvSpPr txBox="1"/>
          <p:nvPr>
            <p:ph idx="1" type="subTitle"/>
          </p:nvPr>
        </p:nvSpPr>
        <p:spPr>
          <a:xfrm>
            <a:off x="599875" y="5339225"/>
            <a:ext cx="102675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SCC NASA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