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4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9" r:id="rId13"/>
    <p:sldId id="266" r:id="rId14"/>
  </p:sldIdLst>
  <p:sldSz cx="11998325" cy="7559675"/>
  <p:notesSz cx="7559675" cy="10691813"/>
  <p:embeddedFontLst>
    <p:embeddedFont>
      <p:font typeface="Microsoft JhengHei" panose="020B0604030504040204" pitchFamily="34" charset="-120"/>
      <p:regular r:id="rId16"/>
      <p:bold r:id="rId17"/>
    </p:embeddedFont>
    <p:embeddedFont>
      <p:font typeface="Source Sans Pro" panose="020B0503030403020204" pitchFamily="34" charset="0"/>
      <p:regular r:id="rId18"/>
      <p:bold r:id="rId19"/>
      <p:italic r:id="rId20"/>
      <p:boldItalic r:id="rId21"/>
    </p:embeddedFont>
    <p:embeddedFont>
      <p:font typeface="Ubuntu Mono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-Wen Hsu" initials="" lastIdx="3" clrIdx="0"/>
  <p:cmAuthor id="1" name="Jui-Nan Eric Lin" initials="" lastIdx="3" clrIdx="1"/>
  <p:cmAuthor id="2" name="李富源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813" autoAdjust="0"/>
  </p:normalViewPr>
  <p:slideViewPr>
    <p:cSldViewPr snapToGrid="0">
      <p:cViewPr varScale="1">
        <p:scale>
          <a:sx n="82" d="100"/>
          <a:sy n="82" d="100"/>
        </p:scale>
        <p:origin x="76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3424f427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3424f4278_0_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3424f4278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3424f4278_0_4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you’re using an open source software without </a:t>
            </a:r>
            <a:r>
              <a:rPr lang="en-US" dirty="0" err="1"/>
              <a:t>envoving</a:t>
            </a:r>
            <a:r>
              <a:rPr lang="en-US" dirty="0"/>
              <a:t> the community, you’re just using the software unpaid.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a3424f4278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a3424f4278_0_3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blue pill </a:t>
            </a:r>
            <a:r>
              <a:rPr lang="zh-TW" altLang="en-US" dirty="0"/>
              <a:t>不一定讓你的生活更舒服</a:t>
            </a:r>
            <a:br>
              <a:rPr lang="zh-TW" altLang="en-US" dirty="0"/>
            </a:br>
            <a:r>
              <a:rPr lang="zh-TW" altLang="en-US" dirty="0"/>
              <a:t>自由是要讓你可以掌握你的生活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know the limitation, know the details, know the implementation.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a3424f4278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a3424f4278_0_4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a3424f427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a3424f4278_0_2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a3424f427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a3424f4278_0_5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a3424f4278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a3424f4278_0_6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Case study: RCU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Case study: NTFS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Case study: </a:t>
            </a:r>
            <a:r>
              <a:rPr lang="en-US" dirty="0" err="1"/>
              <a:t>exFAT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Case study: </a:t>
            </a:r>
            <a:r>
              <a:rPr lang="en-US" dirty="0" err="1"/>
              <a:t>DTrace</a:t>
            </a:r>
            <a:r>
              <a:rPr lang="en-US" dirty="0"/>
              <a:t>, ZFS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3424f4278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3424f4278_0_5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a3424f4278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a3424f4278_0_8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3424f427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a3424f4278_0_1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Etiquette or CoC is too heavy, optimize for fun for everyone is the most important.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 preserve="1">
  <p:cSld name="大標題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Center, Department of Computer Science, NYCU</a:t>
            </a: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4500" dirty="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zh-TW" altLang="en-US"/>
              <a:t>按一下以編輯母片子標題樣式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588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 preserve="1">
  <p:cSld name="版面一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838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 preserve="1">
  <p:cSld name="版面一 (程式碼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62091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 preserve="1">
  <p:cSld name="版面二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3291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 preserve="1">
  <p:cSld name="版面二 (程式碼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54070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33006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source.org/os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Open-source_softwar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emver.or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ugzilla.mozilla.org/page.cgi?id=bug-writing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freebsd.org/IdeasPage" TargetMode="External"/><Relationship Id="rId2" Type="http://schemas.openxmlformats.org/officeDocument/2006/relationships/hyperlink" Target="https://wiki.freebsd.org/JuniorJob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autang/open-source-enlightenmen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A6bBcvSyg0k" TargetMode="External"/><Relationship Id="rId4" Type="http://schemas.openxmlformats.org/officeDocument/2006/relationships/hyperlink" Target="https://gist.github.com/audreyt/240031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Source Engagement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lwhsu (2020-2021, CC BY)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Source: What</a:t>
            </a: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Open-Source Software != Free Software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https://opensource.org/osd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https://en.wikipedia.org/wiki/Open-source_software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Freeware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&lt;-&gt; Proprietary Software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Public Domain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Open Source: Why</a:t>
            </a:r>
            <a:endParaRPr dirty="0"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Nowadays the information industry is heavily based on open source software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as well as hardware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Many benefits if you can leverage them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Excellent learning resource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Accumulate experience and reputation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Fun</a:t>
            </a:r>
          </a:p>
          <a:p>
            <a:pPr indent="-406400">
              <a:buSzPts val="2800"/>
              <a:buChar char="○"/>
            </a:pPr>
            <a:r>
              <a:rPr lang="en-US" b="1" dirty="0">
                <a:solidFill>
                  <a:srgbClr val="FF0000"/>
                </a:solidFill>
              </a:rPr>
              <a:t>Freedom</a:t>
            </a:r>
          </a:p>
          <a:p>
            <a:pPr lvl="1" indent="-406400">
              <a:buChar char="○"/>
            </a:pPr>
            <a:r>
              <a:rPr lang="en-US" dirty="0"/>
              <a:t>Right to have choices</a:t>
            </a:r>
          </a:p>
          <a:p>
            <a:pPr lvl="1" indent="-406400">
              <a:buChar char="○"/>
            </a:pPr>
            <a:r>
              <a:rPr lang="en-US" dirty="0"/>
              <a:t>Open format</a:t>
            </a:r>
            <a:endParaRPr dirty="0"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903643-2242-42AF-A6B8-FD2BB3DE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Source: Freedom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36B433-7EC5-4172-854E-035535222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zh-TW" altLang="en-US" dirty="0"/>
              <a:t>自由不是離開某套軟體、某種系統，而是找到自由</a:t>
            </a:r>
            <a:endParaRPr lang="en-US" altLang="zh-TW" dirty="0"/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altLang="zh-TW" dirty="0"/>
              <a:t>by </a:t>
            </a:r>
            <a:r>
              <a:rPr lang="zh-TW" altLang="en-US" dirty="0"/>
              <a:t>李士傑</a:t>
            </a:r>
            <a:r>
              <a:rPr lang="en-US" altLang="zh-TW" dirty="0"/>
              <a:t>, </a:t>
            </a:r>
            <a:r>
              <a:rPr lang="en-US" altLang="zh-TW" dirty="0" err="1"/>
              <a:t>Ptt</a:t>
            </a:r>
            <a:r>
              <a:rPr lang="en-US" altLang="zh-TW" dirty="0"/>
              <a:t> FreeBSD Board entry screen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altLang="zh-TW" sz="2400" dirty="0"/>
              <a:t>https://lists.freebsd.org/pipermail/svn-src-head/2015-November/078440.html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altLang="zh-TW" sz="2200" dirty="0"/>
              <a:t>Most of us do a lot of this work (FreeBSD) as volunteers.  Even if some of us work on some of it for ${WORK} we work on other bits in our spare time for $0 as well, so that's a lame cop out.  Part of the reason we do this in our spare time is because it's a chance to do things "right", not just quick hacks to satisfy a business-deadline at ${WORK}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54143C-243D-4CB1-AA7C-511D398C39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79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Things You Should Know Earlier</a:t>
            </a: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Not always the best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Sometimes it costs most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Things suitable for others aren’t always suitable for you.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An open source project shouldn’t be a place you can ask for anything  for free, but should be a place you can work on anything freely.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What is your primary goal?</a:t>
            </a:r>
            <a:endParaRPr dirty="0"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 and then, then and now</a:t>
            </a:r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Hacker Culture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Commercial Strategy</a:t>
            </a:r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Roles</a:t>
            </a:r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One of, some of, or all of: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Contributor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Developer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COSCU`P`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Promoter</a:t>
            </a:r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Tracking</a:t>
            </a: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Release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Version number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Semantic Versioning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https://semver.org</a:t>
            </a:r>
            <a:r>
              <a:rPr lang="en-US"/>
              <a:t>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Announcements</a:t>
            </a:r>
            <a:endParaRPr>
              <a:solidFill>
                <a:schemeClr val="dk1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Release Note, </a:t>
            </a:r>
            <a:r>
              <a:rPr lang="en-US">
                <a:solidFill>
                  <a:schemeClr val="dk1"/>
                </a:solidFill>
              </a:rPr>
              <a:t>ChangeLog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Errata, Security Advisories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Preview (RC, BETA, ...)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Development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Commit message in VCS (version control system)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Issue tracker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Mailing lists, Forums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You need to test everything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Legal</a:t>
            </a:r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License</a:t>
            </a:r>
            <a:endParaRPr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Patent</a:t>
            </a:r>
            <a:endParaRPr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(CLA) Contributor License Agreement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IANAL - I Am Not A Lawyer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But knowing this will benefit (save?) you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Understand technical and non-technical details of what you use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Joining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dirty="0">
                <a:solidFill>
                  <a:schemeClr val="dk1"/>
                </a:solidFill>
              </a:rPr>
              <a:t>Contribute back &amp; Evolve together</a:t>
            </a:r>
            <a:endParaRPr dirty="0"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>
                <a:solidFill>
                  <a:schemeClr val="dk1"/>
                </a:solidFill>
              </a:rPr>
              <a:t>Documenting</a:t>
            </a:r>
            <a:endParaRPr dirty="0"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dirty="0">
                <a:solidFill>
                  <a:schemeClr val="dk1"/>
                </a:solidFill>
              </a:rPr>
              <a:t>Also for the future you</a:t>
            </a:r>
            <a:endParaRPr dirty="0"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Reporting Issue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See how others solve issue</a:t>
            </a:r>
            <a:endParaRPr dirty="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 dirty="0">
                <a:hlinkClick r:id="rId3"/>
              </a:rPr>
              <a:t>https://bugzilla.mozilla.org/page.cgi?id=bug-writing.html</a:t>
            </a:r>
            <a:endParaRPr lang="en-US" sz="2300" dirty="0"/>
          </a:p>
          <a:p>
            <a:pPr indent="-374650">
              <a:buSzPts val="2300"/>
              <a:buChar char="■"/>
            </a:pPr>
            <a:r>
              <a:rPr lang="en-US" dirty="0">
                <a:solidFill>
                  <a:schemeClr val="dk1"/>
                </a:solidFill>
              </a:rPr>
              <a:t>Discussing (Design)</a:t>
            </a: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dirty="0">
                <a:solidFill>
                  <a:schemeClr val="dk1"/>
                </a:solidFill>
              </a:rPr>
              <a:t>Patching (Implement)</a:t>
            </a:r>
            <a:endParaRPr dirty="0"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dirty="0">
                <a:solidFill>
                  <a:schemeClr val="dk1"/>
                </a:solidFill>
              </a:rPr>
              <a:t>Code review</a:t>
            </a:r>
            <a:endParaRPr dirty="0"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dirty="0">
                <a:solidFill>
                  <a:schemeClr val="dk1"/>
                </a:solidFill>
              </a:rPr>
              <a:t>Atomic commits</a:t>
            </a:r>
            <a:endParaRPr dirty="0"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dirty="0">
                <a:solidFill>
                  <a:schemeClr val="dk1"/>
                </a:solidFill>
              </a:rPr>
              <a:t>Commit message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98" name="Google Shape;98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Community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>
                <a:solidFill>
                  <a:schemeClr val="dk1"/>
                </a:solidFill>
              </a:rPr>
              <a:t>Asynchronized</a:t>
            </a:r>
            <a:endParaRPr dirty="0"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 dirty="0">
                <a:solidFill>
                  <a:schemeClr val="dk1"/>
                </a:solidFill>
              </a:rPr>
              <a:t>Mailing list</a:t>
            </a:r>
            <a:endParaRPr sz="2800" dirty="0"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 dirty="0">
                <a:solidFill>
                  <a:schemeClr val="dk1"/>
                </a:solidFill>
              </a:rPr>
              <a:t>Forums</a:t>
            </a:r>
            <a:endParaRPr dirty="0"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(Semi-)Synchronized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>
                <a:solidFill>
                  <a:schemeClr val="dk1"/>
                </a:solidFill>
              </a:rPr>
              <a:t>IRC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Instant message groups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(and many other modern options)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Meetup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Conference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Online/offline note, article, books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Commercial Support</a:t>
            </a:r>
            <a:endParaRPr dirty="0"/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8B282E-15AB-4EA4-9D5D-519FD70B3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Start?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7BD83A-A7A9-42FD-B49C-CD460BB14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0" indent="-419100">
              <a:buSzPts val="3000"/>
              <a:buFont typeface="Times New Roman"/>
              <a:buChar char="●"/>
            </a:pPr>
            <a:r>
              <a:rPr lang="en-US" dirty="0">
                <a:solidFill>
                  <a:schemeClr val="dk1"/>
                </a:solidFill>
              </a:rPr>
              <a:t>Never too early</a:t>
            </a:r>
          </a:p>
          <a:p>
            <a:pPr marL="457200" lvl="0" indent="-419100">
              <a:buSzPts val="3000"/>
              <a:buFont typeface="Times New Roman"/>
              <a:buChar char="●"/>
            </a:pPr>
            <a:r>
              <a:rPr lang="en-US" dirty="0">
                <a:solidFill>
                  <a:schemeClr val="dk1"/>
                </a:solidFill>
              </a:rPr>
              <a:t>Never too late</a:t>
            </a:r>
          </a:p>
          <a:p>
            <a:pPr indent="-419100">
              <a:buFont typeface="Times New Roman"/>
              <a:buChar char="●"/>
            </a:pPr>
            <a:r>
              <a:rPr lang="en-US" dirty="0">
                <a:solidFill>
                  <a:schemeClr val="dk1"/>
                </a:solidFill>
              </a:rPr>
              <a:t>From what you are using now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dirty="0"/>
              <a:t>Development version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dirty="0"/>
              <a:t>Build the project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dirty="0"/>
              <a:t>Fix your issues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dirty="0"/>
              <a:t>Customize for your needs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dirty="0"/>
              <a:t>Junior tasks</a:t>
            </a:r>
          </a:p>
          <a:p>
            <a:pPr lvl="2" indent="-406400">
              <a:buClr>
                <a:schemeClr val="dk1"/>
              </a:buClr>
              <a:buSzPts val="2800"/>
              <a:buChar char="○"/>
            </a:pPr>
            <a:r>
              <a:rPr lang="en-US" sz="2000" dirty="0">
                <a:hlinkClick r:id="rId2"/>
              </a:rPr>
              <a:t>https://wiki.freebsd.org/JuniorJobs</a:t>
            </a:r>
            <a:endParaRPr lang="en-US" sz="20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dirty="0"/>
              <a:t>Ideas list</a:t>
            </a:r>
          </a:p>
          <a:p>
            <a:pPr lvl="2" indent="-406400">
              <a:buClr>
                <a:schemeClr val="dk1"/>
              </a:buClr>
              <a:buSzPts val="2800"/>
              <a:buChar char="○"/>
            </a:pPr>
            <a:r>
              <a:rPr lang="en-US" sz="2000" dirty="0">
                <a:solidFill>
                  <a:schemeClr val="dk1"/>
                </a:solidFill>
                <a:hlinkClick r:id="rId3"/>
              </a:rPr>
              <a:t>https://wiki.freebsd.org/IdeasPage</a:t>
            </a:r>
            <a:endParaRPr lang="en-US" sz="2000" dirty="0">
              <a:solidFill>
                <a:schemeClr val="dk1"/>
              </a:solidFill>
            </a:endParaRPr>
          </a:p>
          <a:p>
            <a:pPr marL="457200" lvl="0" indent="-419100">
              <a:buSzPts val="3000"/>
              <a:buFont typeface="Times New Roman"/>
              <a:buChar char="●"/>
            </a:pPr>
            <a:r>
              <a:rPr lang="en-US" dirty="0">
                <a:solidFill>
                  <a:schemeClr val="dk1"/>
                </a:solidFill>
              </a:rPr>
              <a:t>Eat your own dogfood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7689EF-DF17-449F-9114-9F020D577E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14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Working with others</a:t>
            </a: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Open Source Enlightenment </a:t>
            </a:r>
            <a:r>
              <a:rPr lang="zh-TW" altLang="en-US" dirty="0"/>
              <a:t>開源之道</a:t>
            </a:r>
            <a:endParaRPr dirty="0"/>
          </a:p>
          <a:p>
            <a:pPr lvl="1" indent="-406400">
              <a:buFont typeface="Times New Roman"/>
              <a:buChar char="○"/>
            </a:pPr>
            <a:r>
              <a:rPr lang="en-US" dirty="0"/>
              <a:t>Allison Randal &amp; Audrey Tang</a:t>
            </a:r>
            <a:endParaRPr lang="en-US" u="sng" dirty="0">
              <a:solidFill>
                <a:schemeClr val="hlink"/>
              </a:solidFill>
              <a:hlinkClick r:id="rId3"/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https://www.slideshare.net/autang/open-source-enlightenment</a:t>
            </a:r>
            <a:endParaRPr lang="en-US" u="sng" dirty="0">
              <a:solidFill>
                <a:schemeClr val="hlink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>
                <a:hlinkClick r:id="rId4"/>
              </a:rPr>
              <a:t>https://gist.github.com/audreyt/2400315</a:t>
            </a:r>
            <a:endParaRPr lang="en-US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>
                <a:hlinkClick r:id="rId5"/>
              </a:rPr>
              <a:t>https://www.youtube.com/watch?v=A6bBcvSyg0k</a:t>
            </a:r>
            <a:endParaRPr lang="en-US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dirty="0"/>
              <a:t>-</a:t>
            </a:r>
            <a:r>
              <a:rPr lang="en-US" sz="6400" dirty="0" err="1"/>
              <a:t>Ofun</a:t>
            </a:r>
            <a:endParaRPr sz="6400" dirty="0"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3" id="{AF2700AA-4C18-4E07-9861-8125D27C7E13}" vid="{9DFC94F1-C4F1-4F8A-9F88-3762BB8FA196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1048</TotalTime>
  <Words>672</Words>
  <Application>Microsoft Office PowerPoint</Application>
  <PresentationFormat>自訂</PresentationFormat>
  <Paragraphs>128</Paragraphs>
  <Slides>13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Arial</vt:lpstr>
      <vt:lpstr>Ubuntu Mono</vt:lpstr>
      <vt:lpstr>Source Sans Pro</vt:lpstr>
      <vt:lpstr>Times New Roman</vt:lpstr>
      <vt:lpstr>Microsoft JhengHei</vt:lpstr>
      <vt:lpstr>1_CSCC NASA</vt:lpstr>
      <vt:lpstr>Open Source Engagement</vt:lpstr>
      <vt:lpstr>Open Source: What</vt:lpstr>
      <vt:lpstr>Open Source: Why</vt:lpstr>
      <vt:lpstr>Open Source: Freedom</vt:lpstr>
      <vt:lpstr>Things You Should Know Earlier</vt:lpstr>
      <vt:lpstr>Now and then, then and now</vt:lpstr>
      <vt:lpstr>Roles</vt:lpstr>
      <vt:lpstr>Tracking</vt:lpstr>
      <vt:lpstr>Legal</vt:lpstr>
      <vt:lpstr>Joining</vt:lpstr>
      <vt:lpstr>Community</vt:lpstr>
      <vt:lpstr>How to Start?</vt:lpstr>
      <vt:lpstr>Working with others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Source Engagement</dc:title>
  <cp:lastModifiedBy>Li-Wen Hsu</cp:lastModifiedBy>
  <cp:revision>18</cp:revision>
  <dcterms:modified xsi:type="dcterms:W3CDTF">2021-11-25T10:04:50Z</dcterms:modified>
</cp:coreProperties>
</file>