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1998325" cy="7559675"/>
  <p:notesSz cx="7559675" cy="10691813"/>
  <p:embeddedFontLst>
    <p:embeddedFont>
      <p:font typeface="Microsoft JhengHei" panose="020B0604030504040204" pitchFamily="34" charset="-120"/>
      <p:regular r:id="rId30"/>
      <p:bold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1" clrIdx="0"/>
  <p:cmAuthor id="1" name="Liang-Chi Tseng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C2F294-59BC-44FE-B37F-A43B3F83FE2D}">
  <a:tblStyle styleId="{EEC2F294-59BC-44FE-B37F-A43B3F83FE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B8185B2-F5BA-4032-8ACC-DF3B37D17D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7"/>
  </p:normalViewPr>
  <p:slideViewPr>
    <p:cSldViewPr snapToGrid="0" snapToObjects="1">
      <p:cViewPr varScale="1">
        <p:scale>
          <a:sx n="92" d="100"/>
          <a:sy n="92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b42e44c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b42e44c9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42e44c9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42e44c96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b42e44c9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b42e44c96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b42e44c9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b42e44c96_0_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b42e44c9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b42e44c96_0_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b42e44c9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b42e44c96_0_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b42e44c9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b42e44c96_0_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b42e44c9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b42e44c96_0_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b42e44c9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b42e44c96_0_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b42e44c9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b42e44c96_0_10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b42e44c9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b42e44c96_0_1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b42e44c96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ab42e44c96_0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b42e44c96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b42e44c96_0_16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b42e44c96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b42e44c96_0_16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b42e44c96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b42e44c96_0_1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b42e44c96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b42e44c96_0_19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b42e44c96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b42e44c96_0_1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b42e44c96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ab42e44c96_0_2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2061800e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2061800ec_0_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a2061800e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a2061800ec_0_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a2061800e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a2061800ec_0_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a2061800e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a2061800ec_0_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a2061800e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a2061800ec_0_1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a2061800ec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a2061800ec_0_1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a2061800e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a2061800ec_0_1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a2061800ec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a2061800ec_0_2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pixnet.pro/#!/doc/pixnetApi/oauthAp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evelopers.facebook.com/docs/graph-api?locale=zh_TW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qs.org/rfcs/rfc2068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jmarshall.com/easy/http/" TargetMode="External"/><Relationship Id="rId4" Type="http://schemas.openxmlformats.org/officeDocument/2006/relationships/hyperlink" Target="http://www.faqs.org/rfcs/rfc2616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nctu.edu.t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zh-TW/docs/Web/HTTP/Method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mozilla.org/zh-TW/docs/Web/HTTP/Method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tut.fi/~jkorpela/http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754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/>
              <a:t>jnlin</a:t>
            </a:r>
            <a:r>
              <a:rPr lang="en-US" sz="2200" dirty="0"/>
              <a:t> (2019-2021, CC BY)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/>
              <a:t>? (?-2018) 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Web hosting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Basics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Client-Server architecture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HTTP protocol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Static vs. dynamic pages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Virtual hosts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Proxy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Forward proxy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Reverse proxy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(1)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Three major techniques in WWW (World Wide Web) System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HTML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HTTP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URL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HTML (1) – HyperText Markup Language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Providing a means to describe the structure of text-based information in a document.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The original HTML is created by Tim Berners-Lee.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Published in 1993 by the IETF as a formal "application" of SGML (with an SGML Document Type Definition defining the grammar). 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The HTML specifications have been maintained by the World Wide Web Consortium (W3C).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http://www.w3.org/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(2)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HTML (2)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Mark-up the text and define presentation effect by HTML Tags.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1676350" y="2675475"/>
            <a:ext cx="8676300" cy="32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&lt;!DOCTYPE HTML PUBLIC "-//W3C//DTD HTML 4.01//EN"&gt;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&lt;html&gt;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&lt;head&gt;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&lt;title&gt;Hello World!&lt;/title&gt;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&lt;/head&gt;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&lt;body&gt;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&lt;p&gt;Hello World!&lt;/p&gt;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&lt;/body&gt;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&lt;/html&gt;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(3)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HTML5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Published in October 2014 by the World Wide Web Consortium (W3C)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Many new syntactic features are included.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article, aside, footer, header, nav, section, …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include and handle multimedia and graphical content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video, canvas, audio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&lt;!DOCTYPE html&gt;</a:t>
            </a:r>
            <a:endParaRPr/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7623388" y="4557513"/>
          <a:ext cx="2334400" cy="2745150"/>
        </p:xfrm>
        <a:graphic>
          <a:graphicData uri="http://schemas.openxmlformats.org/drawingml/2006/table">
            <a:tbl>
              <a:tblPr>
                <a:noFill/>
                <a:tableStyleId>{EEC2F294-59BC-44FE-B37F-A43B3F83FE2D}</a:tableStyleId>
              </a:tblPr>
              <a:tblGrid>
                <a:gridCol w="113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8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8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nav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aside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8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footer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3" name="Google Shape;73;p11"/>
          <p:cNvGraphicFramePr/>
          <p:nvPr/>
        </p:nvGraphicFramePr>
        <p:xfrm>
          <a:off x="7724025" y="5921038"/>
          <a:ext cx="948775" cy="826950"/>
        </p:xfrm>
        <a:graphic>
          <a:graphicData uri="http://schemas.openxmlformats.org/drawingml/2006/table">
            <a:tbl>
              <a:tblPr>
                <a:noFill/>
                <a:tableStyleId>{EEC2F294-59BC-44FE-B37F-A43B3F83FE2D}</a:tableStyleId>
              </a:tblPr>
              <a:tblGrid>
                <a:gridCol w="94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HTTP – Hyper-Text Transfer Protocol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A TCP-based protocol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Stateless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Communication method between client and server. All browsers and web servers have to follow this standard.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Originally designed to transmit HTML pages.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Now it is used to format, transmit, and link documents of variety media types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Text, picture, sound, animation, video, …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Mobile App APIs</a:t>
            </a:r>
            <a:endParaRPr sz="2300"/>
          </a:p>
          <a:p>
            <a:pPr marL="1828800" lvl="3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 u="sng">
                <a:solidFill>
                  <a:schemeClr val="hlink"/>
                </a:solidFill>
                <a:hlinkClick r:id="rId3"/>
              </a:rPr>
              <a:t>https://developer.pixnet.pro/#!/doc/pixnetApi/oauthApi</a:t>
            </a:r>
            <a:r>
              <a:rPr lang="en-US" sz="2100"/>
              <a:t> </a:t>
            </a:r>
            <a:endParaRPr sz="2100"/>
          </a:p>
          <a:p>
            <a:pPr marL="1828800" lvl="3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 u="sng">
                <a:solidFill>
                  <a:schemeClr val="hlink"/>
                </a:solidFill>
                <a:hlinkClick r:id="rId4"/>
              </a:rPr>
              <a:t>https://developers.facebook.com/docs/graph-api?locale=zh_TW</a:t>
            </a:r>
            <a:endParaRPr sz="21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HTTPS – secured version.</a:t>
            </a:r>
            <a:endParaRPr sz="2500"/>
          </a:p>
        </p:txBody>
      </p:sp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(4)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/>
              <a:t>URL – Uniform Resource Locator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Describe how to access an object shared on the Internet</a:t>
            </a:r>
            <a:r>
              <a:rPr lang="en-US"/>
              <a:t> </a:t>
            </a:r>
            <a:r>
              <a:rPr lang="en-US" sz="2800"/>
              <a:t>(RFC 1738)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Format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Protocol :// [ [ username [ :password ] @ ] hostname [ :port ] ] [ /directory ] [ /filename ]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e.g.,</a:t>
            </a:r>
            <a:endParaRPr sz="28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800"/>
              <a:t>http://www.cs.nctu.edu.tw/</a:t>
            </a:r>
            <a:endParaRPr sz="28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800"/>
              <a:t>ftp://ca.nctu.edu.tw/</a:t>
            </a:r>
            <a:endParaRPr sz="28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800"/>
              <a:t>telnet://ptt.cc/</a:t>
            </a:r>
            <a:endParaRPr sz="2800"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(5)</a:t>
            </a:r>
            <a:endParaRPr/>
          </a:p>
        </p:txBody>
      </p:sp>
      <p:grpSp>
        <p:nvGrpSpPr>
          <p:cNvPr id="88" name="Google Shape;88;p13"/>
          <p:cNvGrpSpPr/>
          <p:nvPr/>
        </p:nvGrpSpPr>
        <p:grpSpPr>
          <a:xfrm>
            <a:off x="5102525" y="5061000"/>
            <a:ext cx="5692075" cy="2194175"/>
            <a:chOff x="5102525" y="5061000"/>
            <a:chExt cx="5692075" cy="2194175"/>
          </a:xfrm>
        </p:grpSpPr>
        <p:sp>
          <p:nvSpPr>
            <p:cNvPr id="89" name="Google Shape;89;p13"/>
            <p:cNvSpPr txBox="1"/>
            <p:nvPr/>
          </p:nvSpPr>
          <p:spPr>
            <a:xfrm>
              <a:off x="5102525" y="6065675"/>
              <a:ext cx="5184300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u="sng">
                  <a:latin typeface="Times New Roman"/>
                  <a:ea typeface="Times New Roman"/>
                  <a:cs typeface="Times New Roman"/>
                  <a:sym typeface="Times New Roman"/>
                </a:rPr>
                <a:t>http</a:t>
              </a:r>
              <a:r>
                <a:rPr lang="en-US" sz="3000">
                  <a:latin typeface="Times New Roman"/>
                  <a:ea typeface="Times New Roman"/>
                  <a:cs typeface="Times New Roman"/>
                  <a:sym typeface="Times New Roman"/>
                </a:rPr>
                <a:t>://</a:t>
              </a:r>
              <a:r>
                <a:rPr lang="en-US" sz="3000" u="sng">
                  <a:latin typeface="Times New Roman"/>
                  <a:ea typeface="Times New Roman"/>
                  <a:cs typeface="Times New Roman"/>
                  <a:sym typeface="Times New Roman"/>
                </a:rPr>
                <a:t>localhost/page</a:t>
              </a:r>
              <a:r>
                <a:rPr lang="en-US" sz="3000">
                  <a:latin typeface="Times New Roman"/>
                  <a:ea typeface="Times New Roman"/>
                  <a:cs typeface="Times New Roman"/>
                  <a:sym typeface="Times New Roman"/>
                </a:rPr>
                <a:t>/</a:t>
              </a:r>
              <a:r>
                <a:rPr lang="en-US" sz="3000" u="sng">
                  <a:latin typeface="Times New Roman"/>
                  <a:ea typeface="Times New Roman"/>
                  <a:cs typeface="Times New Roman"/>
                  <a:sym typeface="Times New Roman"/>
                </a:rPr>
                <a:t>index.html</a:t>
              </a:r>
              <a:endParaRPr sz="3000" u="sng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204400" y="6676475"/>
              <a:ext cx="2487900" cy="578700"/>
            </a:xfrm>
            <a:prstGeom prst="rect">
              <a:avLst/>
            </a:pr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/>
                <a:t>HOW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Hyper-Text Transfer Protocol</a:t>
              </a:r>
              <a:endParaRPr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6131125" y="5061000"/>
              <a:ext cx="2211300" cy="108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/>
                <a:t>WHERE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The file is on the machine localhost in the directory /page</a:t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8423700" y="6676475"/>
              <a:ext cx="2370900" cy="578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/>
                <a:t>WHAT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The file I want is index.html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– Basics (6)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URL Protocols</a:t>
            </a:r>
            <a:endParaRPr/>
          </a:p>
        </p:txBody>
      </p:sp>
      <p:graphicFrame>
        <p:nvGraphicFramePr>
          <p:cNvPr id="100" name="Google Shape;100;p14"/>
          <p:cNvGraphicFramePr/>
          <p:nvPr/>
        </p:nvGraphicFramePr>
        <p:xfrm>
          <a:off x="1068025" y="2149100"/>
          <a:ext cx="9860550" cy="3200470"/>
        </p:xfrm>
        <a:graphic>
          <a:graphicData uri="http://schemas.openxmlformats.org/drawingml/2006/table">
            <a:tbl>
              <a:tblPr>
                <a:noFill/>
                <a:tableStyleId>{6B8185B2-F5BA-4032-8ACC-DF3B37D17DEC}</a:tableStyleId>
              </a:tblPr>
              <a:tblGrid>
                <a:gridCol w="10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it does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http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Accesses a remote file via HTTP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http://www.cs.nctu.edu.tw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https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Accesses a remote file via HTTP/SSL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https://www.cs.nctu.edu.tw 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ftp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Accesses a remote file via FTP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ftp://ftp.cs.nctu.edu.tw/ 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a local file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file:///home/lwhsu/.tcshrc 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mailto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Sends mail 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mailto:liuyh@cs.nctu.edu.tw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Accesses Usenet newsgroups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news:tw.bbs.comp.386bsd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Web Hosting – Client-Server Architecture (1)</a:t>
            </a:r>
            <a:endParaRPr sz="4500"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Client-server architecture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Web Server: Answer HTTP request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Web Client: Request certain page using URL</a:t>
            </a:r>
            <a:endParaRPr/>
          </a:p>
        </p:txBody>
      </p:sp>
      <p:grpSp>
        <p:nvGrpSpPr>
          <p:cNvPr id="109" name="Google Shape;109;p15"/>
          <p:cNvGrpSpPr/>
          <p:nvPr/>
        </p:nvGrpSpPr>
        <p:grpSpPr>
          <a:xfrm>
            <a:off x="1958900" y="3562725"/>
            <a:ext cx="7777263" cy="2883685"/>
            <a:chOff x="576" y="960"/>
            <a:chExt cx="4428" cy="1301"/>
          </a:xfrm>
        </p:grpSpPr>
        <p:sp>
          <p:nvSpPr>
            <p:cNvPr id="110" name="Google Shape;110;p15"/>
            <p:cNvSpPr/>
            <p:nvPr/>
          </p:nvSpPr>
          <p:spPr>
            <a:xfrm>
              <a:off x="672" y="1285"/>
              <a:ext cx="900" cy="6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Browser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704" y="1285"/>
              <a:ext cx="1200" cy="6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Web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" name="Google Shape;112;p15"/>
            <p:cNvCxnSpPr/>
            <p:nvPr/>
          </p:nvCxnSpPr>
          <p:spPr>
            <a:xfrm>
              <a:off x="1581" y="1536"/>
              <a:ext cx="2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3" name="Google Shape;113;p15"/>
            <p:cNvCxnSpPr/>
            <p:nvPr/>
          </p:nvCxnSpPr>
          <p:spPr>
            <a:xfrm rot="10800000">
              <a:off x="1604" y="1728"/>
              <a:ext cx="2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4" name="Google Shape;114;p15"/>
            <p:cNvSpPr txBox="1"/>
            <p:nvPr/>
          </p:nvSpPr>
          <p:spPr>
            <a:xfrm>
              <a:off x="1872" y="1385"/>
              <a:ext cx="1500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 HTTP Request</a:t>
              </a:r>
              <a:endParaRPr dirty="0"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824" y="1744"/>
              <a:ext cx="1800" cy="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 HTTP Response</a:t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576" y="96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Send the request to server which URL point to</a:t>
              </a:r>
              <a:endParaRPr sz="18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3504" y="96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Respond the HTML resource pointed by URL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585" y="196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5. Show the data which HTML resource describes.</a:t>
              </a:r>
              <a:endParaRPr sz="18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Web Hosting – Client-Server Architecture (2)</a:t>
            </a:r>
            <a:endParaRPr sz="4500"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Using "telnet" to retrieve data from web server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2"/>
          </p:nvPr>
        </p:nvSpPr>
        <p:spPr>
          <a:xfrm>
            <a:off x="3047050" y="2084375"/>
            <a:ext cx="5934900" cy="51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liuyh@bsd5 ~/public_html $ telnet </a:t>
            </a:r>
            <a:r>
              <a:rPr lang="en-US" sz="1300" b="1">
                <a:solidFill>
                  <a:srgbClr val="FF0000"/>
                </a:solidFill>
              </a:rPr>
              <a:t>www.cs.nctu.edu.tw 80</a:t>
            </a:r>
            <a:endParaRPr sz="13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Trying 140.113.235.47...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Connected to www.cs.nctu.edu.tw.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Escape character is '^]'.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0000"/>
                </a:solidFill>
              </a:rPr>
              <a:t>GET /~liuyh/sa.html HTTP/1.0</a:t>
            </a:r>
            <a:endParaRPr sz="13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HTTP/1.1 200 OK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Server: nginx/0.7.62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Date: Sat, 12 Dec 2009 02:14:45 GMT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Content-Type: text/html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Connection: close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Last-Modified: Sat, 12 Dec 2009 02:14:09 GMT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Accept-Ranges: bytes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Content-Length: 201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Vary: Accept-Encoding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&lt;!DOCTYPE HTML PUBLIC "-//W3C//DTD HTML 4.01//EN"&gt;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&lt;html&gt;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&lt;head&gt;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&lt;title&gt;Hello World!&lt;/title&gt;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&lt;/head&gt;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&lt;body&gt;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        &lt;p&gt;Hello Wrold!&lt;/p&gt;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        &lt;/body&gt;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&lt;/html&gt;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(1)</a:t>
            </a:r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HTTP: </a:t>
            </a:r>
            <a:r>
              <a:rPr lang="en-US">
                <a:solidFill>
                  <a:srgbClr val="FF0000"/>
                </a:solidFill>
              </a:rPr>
              <a:t>H</a:t>
            </a:r>
            <a:r>
              <a:rPr lang="en-US"/>
              <a:t>ypertext 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/>
              <a:t>ransfer </a:t>
            </a:r>
            <a:r>
              <a:rPr lang="en-US">
                <a:solidFill>
                  <a:srgbClr val="FF0000"/>
                </a:solidFill>
              </a:rPr>
              <a:t>P</a:t>
            </a:r>
            <a:r>
              <a:rPr lang="en-US"/>
              <a:t>rotocol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RFCs: (HTTP 1.1)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http://www.faqs.org/rfcs/rfc2068.html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http://www.faqs.org/rfcs/rfc2616.html</a:t>
            </a:r>
            <a:r>
              <a:rPr lang="en-US"/>
              <a:t>  (Updated Version)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Useful Reference: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http://jmarshall.com/easy/http/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network protocol used to deliver virtually all files and other data on the World Wide Web.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HTML files, image files, query results, or anything else.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Client-Server Architecture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browser is an HTTP client because it sends requests to an HTTP server (Web server), which then sends responses back to the client.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(2)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6364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Clients: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※ Send Requests to Servers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Action "path or URL" Protocol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Actions: GET, POST, HEAD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 : GET /index.php HTTP/1.1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Headers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Header_Name: value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 : Host: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www.cs.nctu.edu.tw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(blank line)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Data …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5699550" y="1563425"/>
            <a:ext cx="5391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Servers: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※ Respond to the clients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Status: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200: OK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403: Forbidden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404: Not Found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426: Upgrade Required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…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 : HTTP/1.1 200 OK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Headers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Same as clients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 : Content-Type: text/html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(blank line)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Data…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(3)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2"/>
          </p:nvPr>
        </p:nvSpPr>
        <p:spPr>
          <a:xfrm>
            <a:off x="3459450" y="1563425"/>
            <a:ext cx="5616600" cy="5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liuyh@bsd5 ~/public_html $ telnet www.cs.nctu.edu.tw 80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Trying 140.113.235.47...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Connected to www.cs.nctu.edu.tw.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Escape character is '^]'.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GET /~liuyh/sa.html HTTP/1.0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HTTP/1.1 200 OK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Server: nginx/0.7.62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Date: Sat, 12 Dec 2009 02:14:45 GMT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Content-Type: text/html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Connection: close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Last-Modified: Sat, 12 Dec 2009 02:14:09 GMT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Accept-Ranges: bytes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Content-Length: 201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Vary: Accept-Encoding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&lt;!DOCTYPE HTML PUBLIC "-//W3C//DTD HTML 4.01//EN"&gt;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&lt;html&gt;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&lt;head&gt;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&lt;title&gt;Hello World!&lt;/title&gt;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&lt;/head&gt;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&lt;body&gt;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        &lt;p&gt;Hello Wrold!&lt;/p&gt;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      &lt;/body&gt;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&lt;/html&gt;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</p:txBody>
      </p:sp>
      <p:sp>
        <p:nvSpPr>
          <p:cNvPr id="151" name="Google Shape;151;p19"/>
          <p:cNvSpPr txBox="1"/>
          <p:nvPr/>
        </p:nvSpPr>
        <p:spPr>
          <a:xfrm>
            <a:off x="1707075" y="2354150"/>
            <a:ext cx="1222500" cy="36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1707075" y="2811350"/>
            <a:ext cx="1222500" cy="36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Headers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1707075" y="3268550"/>
            <a:ext cx="1222500" cy="36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1707075" y="4004900"/>
            <a:ext cx="1222500" cy="36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Headers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1707075" y="5985575"/>
            <a:ext cx="1222500" cy="36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" name="Google Shape;156;p19"/>
          <p:cNvCxnSpPr>
            <a:stCxn id="151" idx="3"/>
          </p:cNvCxnSpPr>
          <p:nvPr/>
        </p:nvCxnSpPr>
        <p:spPr>
          <a:xfrm>
            <a:off x="2929575" y="2537600"/>
            <a:ext cx="519600" cy="28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19"/>
          <p:cNvCxnSpPr>
            <a:stCxn id="152" idx="3"/>
          </p:cNvCxnSpPr>
          <p:nvPr/>
        </p:nvCxnSpPr>
        <p:spPr>
          <a:xfrm>
            <a:off x="2929575" y="2994800"/>
            <a:ext cx="540000" cy="11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19"/>
          <p:cNvCxnSpPr>
            <a:stCxn id="153" idx="3"/>
          </p:cNvCxnSpPr>
          <p:nvPr/>
        </p:nvCxnSpPr>
        <p:spPr>
          <a:xfrm rot="10800000" flipH="1">
            <a:off x="2929575" y="3240500"/>
            <a:ext cx="540000" cy="21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19"/>
          <p:cNvCxnSpPr>
            <a:stCxn id="154" idx="3"/>
            <a:endCxn id="160" idx="1"/>
          </p:cNvCxnSpPr>
          <p:nvPr/>
        </p:nvCxnSpPr>
        <p:spPr>
          <a:xfrm rot="10800000" flipH="1">
            <a:off x="2929575" y="4185050"/>
            <a:ext cx="580800" cy="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" name="Google Shape;161;p19"/>
          <p:cNvSpPr/>
          <p:nvPr/>
        </p:nvSpPr>
        <p:spPr>
          <a:xfrm>
            <a:off x="3510400" y="2721050"/>
            <a:ext cx="3168600" cy="211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510400" y="3346250"/>
            <a:ext cx="4778400" cy="16773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510400" y="5246375"/>
            <a:ext cx="5450700" cy="18453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cxnSp>
        <p:nvCxnSpPr>
          <p:cNvPr id="163" name="Google Shape;163;p19"/>
          <p:cNvCxnSpPr>
            <a:stCxn id="155" idx="3"/>
            <a:endCxn id="162" idx="1"/>
          </p:cNvCxnSpPr>
          <p:nvPr/>
        </p:nvCxnSpPr>
        <p:spPr>
          <a:xfrm>
            <a:off x="2929575" y="6169025"/>
            <a:ext cx="580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(4)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GET vs. POST (client side)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GET: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Parameters in URL: </a:t>
            </a:r>
            <a:r>
              <a:rPr lang="en-US" u="sng"/>
              <a:t>GET /get.php?a=1&amp;b=3 HTTP/1.1</a:t>
            </a:r>
            <a:endParaRPr u="sng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No data content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Corresponding in HTML files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Link URL: http://nasa.cs.nctu.edu.tw/get.php?a=1&amp;b=3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Using Form: </a:t>
            </a:r>
            <a:r>
              <a:rPr lang="en-US" u="sng"/>
              <a:t>&lt;form method="GET" action="get.php"&gt; … &lt;/form&gt;</a:t>
            </a:r>
            <a:endParaRPr u="sng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POST: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Parameters in Data Content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POST /post.php HTTP/1.1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Corresponding in HTML files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Using Form: </a:t>
            </a:r>
            <a:r>
              <a:rPr lang="en-US" u="sng"/>
              <a:t>&lt;form method="POST" action="post.php"&gt; … &lt;/form&gt;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(5)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Get vs. Post Security Issue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GET: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can be cached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remain in the browser history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can be bookmarked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should never be used when dealing with sensitive 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have length restrictions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GET requests should be used only to retrieve data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POST: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POST requests are never cached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POST requests do not remain in the browser history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POST requests cannot be bookmarked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POST requests have no restrictions on data length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7C943F-ABE0-DE4B-9C0F-C9EC4E0E71BD}"/>
              </a:ext>
            </a:extLst>
          </p:cNvPr>
          <p:cNvSpPr/>
          <p:nvPr/>
        </p:nvSpPr>
        <p:spPr>
          <a:xfrm>
            <a:off x="5610477" y="6981108"/>
            <a:ext cx="5099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hlinkClick r:id="rId3"/>
              </a:rPr>
              <a:t>https://developer.mozilla.org/zh-TW/docs/Web/HTTP/Methods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(6)</a:t>
            </a:r>
            <a:endParaRPr/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050" y="1327997"/>
            <a:ext cx="10908501" cy="565310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2687775" y="6898525"/>
            <a:ext cx="738448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https://developer.mozilla.org/zh-TW/docs/Web/HTTP/Methods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91" name="Google Shape;191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(7)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HTTP Headers: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What HTTP Headers can do?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Content information (type, date, size, encoding, …)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Cache control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Authentication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URL Redirection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Transmitting cookies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Knowing where client come from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Knowing what software client use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…</a:t>
            </a:r>
            <a:endParaRPr sz="2600"/>
          </a:p>
        </p:txBody>
      </p:sp>
      <p:sp>
        <p:nvSpPr>
          <p:cNvPr id="193" name="Google Shape;193;p23"/>
          <p:cNvSpPr txBox="1"/>
          <p:nvPr/>
        </p:nvSpPr>
        <p:spPr>
          <a:xfrm>
            <a:off x="3915700" y="6981100"/>
            <a:ext cx="4197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http://www.cs.tut.fi/~jkorpela/http.html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The HTTP Protocol (7)</a:t>
            </a:r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HTTP/2: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RFC 7540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https://tools.ietf.org/html/rfc7540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Solve some problems of HTTP/1.1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Server Push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Multiplexing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Previously: domain sharding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Reuse TCP Connection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Smaller header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HPACK Compression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Static vs. Dynamic Pages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Technologies of Dynamic Web Pages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Client Script Language</a:t>
            </a:r>
            <a:endParaRPr sz="240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JavaScript, Jscript, VBScript</a:t>
            </a:r>
            <a:endParaRPr sz="22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Client Interactive Technology</a:t>
            </a:r>
            <a:endParaRPr sz="240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AJAX, SPA (Single Page Application)</a:t>
            </a:r>
            <a:endParaRPr sz="22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Server Side</a:t>
            </a:r>
            <a:endParaRPr sz="240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CGI</a:t>
            </a:r>
            <a:endParaRPr sz="220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Languages: Perl, ASP, JSP, PHP, NodeJS, Golang, C/C++, …etc.</a:t>
            </a:r>
            <a:endParaRPr sz="2200"/>
          </a:p>
        </p:txBody>
      </p: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Web Hosting 	– Static vs. Dynamic Pages (1)</a:t>
            </a:r>
            <a:endParaRPr sz="4600"/>
          </a:p>
        </p:txBody>
      </p:sp>
      <p:grpSp>
        <p:nvGrpSpPr>
          <p:cNvPr id="208" name="Google Shape;208;p25"/>
          <p:cNvGrpSpPr/>
          <p:nvPr/>
        </p:nvGrpSpPr>
        <p:grpSpPr>
          <a:xfrm>
            <a:off x="6236350" y="5709175"/>
            <a:ext cx="5612450" cy="1698450"/>
            <a:chOff x="6236350" y="5632975"/>
            <a:chExt cx="5612450" cy="1698450"/>
          </a:xfrm>
        </p:grpSpPr>
        <p:sp>
          <p:nvSpPr>
            <p:cNvPr id="209" name="Google Shape;209;p25"/>
            <p:cNvSpPr/>
            <p:nvPr/>
          </p:nvSpPr>
          <p:spPr>
            <a:xfrm>
              <a:off x="6236350" y="6004225"/>
              <a:ext cx="1033200" cy="6417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25"/>
            <p:cNvSpPr/>
            <p:nvPr/>
          </p:nvSpPr>
          <p:spPr>
            <a:xfrm>
              <a:off x="8636650" y="6004225"/>
              <a:ext cx="1033200" cy="6417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1" name="Google Shape;211;p25"/>
            <p:cNvCxnSpPr/>
            <p:nvPr/>
          </p:nvCxnSpPr>
          <p:spPr>
            <a:xfrm>
              <a:off x="7269550" y="6172675"/>
              <a:ext cx="1367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2" name="Google Shape;212;p25"/>
            <p:cNvCxnSpPr/>
            <p:nvPr/>
          </p:nvCxnSpPr>
          <p:spPr>
            <a:xfrm>
              <a:off x="7269550" y="6477475"/>
              <a:ext cx="1367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213" name="Google Shape;213;p25"/>
            <p:cNvSpPr txBox="1"/>
            <p:nvPr/>
          </p:nvSpPr>
          <p:spPr>
            <a:xfrm>
              <a:off x="7507150" y="5824750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p25"/>
            <p:cNvSpPr txBox="1"/>
            <p:nvPr/>
          </p:nvSpPr>
          <p:spPr>
            <a:xfrm>
              <a:off x="7507150" y="6396025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Answer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10264075" y="5868025"/>
              <a:ext cx="720000" cy="456900"/>
            </a:xfrm>
            <a:prstGeom prst="rect">
              <a:avLst/>
            </a:prstGeom>
            <a:solidFill>
              <a:srgbClr val="76A5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10264075" y="6874525"/>
              <a:ext cx="720000" cy="456900"/>
            </a:xfrm>
            <a:prstGeom prst="rect">
              <a:avLst/>
            </a:prstGeom>
            <a:solidFill>
              <a:srgbClr val="76A5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7" name="Google Shape;217;p25"/>
            <p:cNvCxnSpPr/>
            <p:nvPr/>
          </p:nvCxnSpPr>
          <p:spPr>
            <a:xfrm>
              <a:off x="9669850" y="6096475"/>
              <a:ext cx="5670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8" name="Google Shape;218;p25"/>
            <p:cNvSpPr txBox="1"/>
            <p:nvPr/>
          </p:nvSpPr>
          <p:spPr>
            <a:xfrm>
              <a:off x="9488350" y="5786425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Fetch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9" name="Google Shape;219;p25"/>
            <p:cNvCxnSpPr>
              <a:stCxn id="215" idx="2"/>
              <a:endCxn id="216" idx="0"/>
            </p:cNvCxnSpPr>
            <p:nvPr/>
          </p:nvCxnSpPr>
          <p:spPr>
            <a:xfrm>
              <a:off x="10624075" y="6324925"/>
              <a:ext cx="0" cy="54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0" name="Google Shape;220;p25"/>
            <p:cNvSpPr txBox="1"/>
            <p:nvPr/>
          </p:nvSpPr>
          <p:spPr>
            <a:xfrm>
              <a:off x="10555150" y="6396025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Generate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11326800" y="5632975"/>
              <a:ext cx="522000" cy="578700"/>
            </a:xfrm>
            <a:prstGeom prst="can">
              <a:avLst>
                <a:gd name="adj" fmla="val 25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2" name="Google Shape;222;p25"/>
            <p:cNvCxnSpPr>
              <a:stCxn id="215" idx="3"/>
              <a:endCxn id="221" idx="2"/>
            </p:cNvCxnSpPr>
            <p:nvPr/>
          </p:nvCxnSpPr>
          <p:spPr>
            <a:xfrm rot="10800000" flipH="1">
              <a:off x="10984075" y="5922475"/>
              <a:ext cx="342600" cy="174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23" name="Google Shape;223;p25"/>
          <p:cNvSpPr txBox="1"/>
          <p:nvPr/>
        </p:nvSpPr>
        <p:spPr>
          <a:xfrm>
            <a:off x="8324676" y="5525650"/>
            <a:ext cx="15735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2329713" y="5525650"/>
            <a:ext cx="14358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45150" y="5900950"/>
            <a:ext cx="5204925" cy="843075"/>
            <a:chOff x="1511950" y="5824750"/>
            <a:chExt cx="5204925" cy="843075"/>
          </a:xfrm>
        </p:grpSpPr>
        <p:sp>
          <p:nvSpPr>
            <p:cNvPr id="226" name="Google Shape;226;p25"/>
            <p:cNvSpPr/>
            <p:nvPr/>
          </p:nvSpPr>
          <p:spPr>
            <a:xfrm>
              <a:off x="1511950" y="6004225"/>
              <a:ext cx="1033200" cy="6417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3912250" y="6004225"/>
              <a:ext cx="1033200" cy="6417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8" name="Google Shape;228;p25"/>
            <p:cNvGrpSpPr/>
            <p:nvPr/>
          </p:nvGrpSpPr>
          <p:grpSpPr>
            <a:xfrm>
              <a:off x="5768275" y="5982325"/>
              <a:ext cx="948600" cy="685500"/>
              <a:chOff x="4407550" y="6004225"/>
              <a:chExt cx="948600" cy="685500"/>
            </a:xfrm>
          </p:grpSpPr>
          <p:sp>
            <p:nvSpPr>
              <p:cNvPr id="229" name="Google Shape;229;p25"/>
              <p:cNvSpPr/>
              <p:nvPr/>
            </p:nvSpPr>
            <p:spPr>
              <a:xfrm>
                <a:off x="4407550" y="6004225"/>
                <a:ext cx="720000" cy="456900"/>
              </a:xfrm>
              <a:prstGeom prst="rect">
                <a:avLst/>
              </a:prstGeom>
              <a:solidFill>
                <a:srgbClr val="76A5A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" name="Google Shape;230;p25"/>
              <p:cNvSpPr/>
              <p:nvPr/>
            </p:nvSpPr>
            <p:spPr>
              <a:xfrm>
                <a:off x="4483750" y="6080425"/>
                <a:ext cx="720000" cy="456900"/>
              </a:xfrm>
              <a:prstGeom prst="rect">
                <a:avLst/>
              </a:prstGeom>
              <a:solidFill>
                <a:srgbClr val="76A5A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" name="Google Shape;231;p25"/>
              <p:cNvSpPr/>
              <p:nvPr/>
            </p:nvSpPr>
            <p:spPr>
              <a:xfrm>
                <a:off x="4559950" y="6156625"/>
                <a:ext cx="720000" cy="456900"/>
              </a:xfrm>
              <a:prstGeom prst="rect">
                <a:avLst/>
              </a:prstGeom>
              <a:solidFill>
                <a:srgbClr val="76A5A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" name="Google Shape;232;p25"/>
              <p:cNvSpPr/>
              <p:nvPr/>
            </p:nvSpPr>
            <p:spPr>
              <a:xfrm>
                <a:off x="4636150" y="6232825"/>
                <a:ext cx="720000" cy="456900"/>
              </a:xfrm>
              <a:prstGeom prst="rect">
                <a:avLst/>
              </a:prstGeom>
              <a:solidFill>
                <a:srgbClr val="76A5A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33" name="Google Shape;233;p25"/>
            <p:cNvCxnSpPr/>
            <p:nvPr/>
          </p:nvCxnSpPr>
          <p:spPr>
            <a:xfrm>
              <a:off x="2545150" y="6172675"/>
              <a:ext cx="1367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4" name="Google Shape;234;p25"/>
            <p:cNvSpPr txBox="1"/>
            <p:nvPr/>
          </p:nvSpPr>
          <p:spPr>
            <a:xfrm>
              <a:off x="2782750" y="5824750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25"/>
            <p:cNvSpPr txBox="1"/>
            <p:nvPr/>
          </p:nvSpPr>
          <p:spPr>
            <a:xfrm>
              <a:off x="2782750" y="6396025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Answer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6" name="Google Shape;236;p25"/>
            <p:cNvCxnSpPr>
              <a:stCxn id="227" idx="3"/>
            </p:cNvCxnSpPr>
            <p:nvPr/>
          </p:nvCxnSpPr>
          <p:spPr>
            <a:xfrm rot="10800000" flipH="1">
              <a:off x="4945450" y="6319675"/>
              <a:ext cx="852900" cy="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7" name="Google Shape;237;p25"/>
            <p:cNvSpPr txBox="1"/>
            <p:nvPr/>
          </p:nvSpPr>
          <p:spPr>
            <a:xfrm>
              <a:off x="4925950" y="6036775"/>
              <a:ext cx="8919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Fetch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8" name="Google Shape;238;p25"/>
            <p:cNvCxnSpPr/>
            <p:nvPr/>
          </p:nvCxnSpPr>
          <p:spPr>
            <a:xfrm>
              <a:off x="2545150" y="6477475"/>
              <a:ext cx="1367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  <p:cxnSp>
        <p:nvCxnSpPr>
          <p:cNvPr id="239" name="Google Shape;239;p25"/>
          <p:cNvCxnSpPr>
            <a:stCxn id="210" idx="3"/>
            <a:endCxn id="216" idx="1"/>
          </p:cNvCxnSpPr>
          <p:nvPr/>
        </p:nvCxnSpPr>
        <p:spPr>
          <a:xfrm>
            <a:off x="9669850" y="6401275"/>
            <a:ext cx="594300" cy="777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CGI (Common Gateway Interface)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specification that allows an HTTP server to exchange information with other programs</a:t>
            </a:r>
            <a:endParaRPr/>
          </a:p>
        </p:txBody>
      </p:sp>
      <p:sp>
        <p:nvSpPr>
          <p:cNvPr id="246" name="Google Shape;246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Web Hosting 	– Static vs. Dynamic Pages (2)</a:t>
            </a:r>
            <a:endParaRPr sz="4600"/>
          </a:p>
        </p:txBody>
      </p:sp>
      <p:grpSp>
        <p:nvGrpSpPr>
          <p:cNvPr id="247" name="Google Shape;247;p26"/>
          <p:cNvGrpSpPr/>
          <p:nvPr/>
        </p:nvGrpSpPr>
        <p:grpSpPr>
          <a:xfrm>
            <a:off x="1860000" y="3491700"/>
            <a:ext cx="1686000" cy="1577225"/>
            <a:chOff x="1860000" y="3491700"/>
            <a:chExt cx="1686000" cy="1577225"/>
          </a:xfrm>
        </p:grpSpPr>
        <p:sp>
          <p:nvSpPr>
            <p:cNvPr id="248" name="Google Shape;248;p26"/>
            <p:cNvSpPr/>
            <p:nvPr/>
          </p:nvSpPr>
          <p:spPr>
            <a:xfrm>
              <a:off x="1860000" y="3861425"/>
              <a:ext cx="1686000" cy="12075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WWW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Browser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26"/>
            <p:cNvSpPr txBox="1"/>
            <p:nvPr/>
          </p:nvSpPr>
          <p:spPr>
            <a:xfrm>
              <a:off x="1936150" y="3491700"/>
              <a:ext cx="15336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(MOSAIC)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0" name="Google Shape;250;p26"/>
          <p:cNvGrpSpPr/>
          <p:nvPr/>
        </p:nvGrpSpPr>
        <p:grpSpPr>
          <a:xfrm>
            <a:off x="4314633" y="3491700"/>
            <a:ext cx="1686000" cy="1577225"/>
            <a:chOff x="4314633" y="3491700"/>
            <a:chExt cx="1686000" cy="1577225"/>
          </a:xfrm>
        </p:grpSpPr>
        <p:sp>
          <p:nvSpPr>
            <p:cNvPr id="251" name="Google Shape;251;p26"/>
            <p:cNvSpPr/>
            <p:nvPr/>
          </p:nvSpPr>
          <p:spPr>
            <a:xfrm>
              <a:off x="4314633" y="3861425"/>
              <a:ext cx="1686000" cy="12075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WWW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26"/>
            <p:cNvSpPr txBox="1"/>
            <p:nvPr/>
          </p:nvSpPr>
          <p:spPr>
            <a:xfrm>
              <a:off x="4374550" y="3491700"/>
              <a:ext cx="15336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(CERN, HTTPD)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" name="Google Shape;253;p26"/>
          <p:cNvGrpSpPr/>
          <p:nvPr/>
        </p:nvGrpSpPr>
        <p:grpSpPr>
          <a:xfrm>
            <a:off x="6769267" y="3491700"/>
            <a:ext cx="1686000" cy="1577225"/>
            <a:chOff x="6769267" y="3491700"/>
            <a:chExt cx="1686000" cy="1577225"/>
          </a:xfrm>
        </p:grpSpPr>
        <p:sp>
          <p:nvSpPr>
            <p:cNvPr id="254" name="Google Shape;254;p26"/>
            <p:cNvSpPr/>
            <p:nvPr/>
          </p:nvSpPr>
          <p:spPr>
            <a:xfrm>
              <a:off x="6769267" y="3861425"/>
              <a:ext cx="1686000" cy="1207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26"/>
            <p:cNvSpPr txBox="1"/>
            <p:nvPr/>
          </p:nvSpPr>
          <p:spPr>
            <a:xfrm>
              <a:off x="6812950" y="3491700"/>
              <a:ext cx="15336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GATEWAY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" name="Google Shape;256;p26"/>
          <p:cNvGrpSpPr/>
          <p:nvPr/>
        </p:nvGrpSpPr>
        <p:grpSpPr>
          <a:xfrm>
            <a:off x="9223900" y="3263100"/>
            <a:ext cx="1561050" cy="2039625"/>
            <a:chOff x="9223900" y="3263100"/>
            <a:chExt cx="1561050" cy="2039625"/>
          </a:xfrm>
        </p:grpSpPr>
        <p:sp>
          <p:nvSpPr>
            <p:cNvPr id="257" name="Google Shape;257;p26"/>
            <p:cNvSpPr/>
            <p:nvPr/>
          </p:nvSpPr>
          <p:spPr>
            <a:xfrm>
              <a:off x="9223900" y="3627625"/>
              <a:ext cx="1533675" cy="1675100"/>
            </a:xfrm>
            <a:prstGeom prst="flowChartMagneticDisk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23850" algn="l" rtl="0">
                <a:spcBef>
                  <a:spcPts val="0"/>
                </a:spcBef>
                <a:spcAft>
                  <a:spcPts val="0"/>
                </a:spcAft>
                <a:buSzPts val="1500"/>
                <a:buFont typeface="Times New Roman"/>
                <a:buChar char="●"/>
              </a:pPr>
              <a:r>
                <a:rPr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Text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323850" algn="l" rtl="0">
                <a:spcBef>
                  <a:spcPts val="0"/>
                </a:spcBef>
                <a:spcAft>
                  <a:spcPts val="0"/>
                </a:spcAft>
                <a:buSzPts val="1500"/>
                <a:buFont typeface="Times New Roman"/>
                <a:buChar char="●"/>
              </a:pPr>
              <a:r>
                <a:rPr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Image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323850" algn="l" rtl="0">
                <a:spcBef>
                  <a:spcPts val="0"/>
                </a:spcBef>
                <a:spcAft>
                  <a:spcPts val="0"/>
                </a:spcAft>
                <a:buSzPts val="1500"/>
                <a:buFont typeface="Times New Roman"/>
                <a:buChar char="●"/>
              </a:pPr>
              <a:r>
                <a:rPr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Sound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lvl="0" indent="-323850" algn="l" rtl="0">
                <a:spcBef>
                  <a:spcPts val="0"/>
                </a:spcBef>
                <a:spcAft>
                  <a:spcPts val="0"/>
                </a:spcAft>
                <a:buSzPts val="1500"/>
                <a:buFont typeface="Times New Roman"/>
                <a:buChar char="●"/>
              </a:pPr>
              <a:r>
                <a:rPr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Video</a:t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9251350" y="3263100"/>
              <a:ext cx="15336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DB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59" name="Google Shape;259;p26"/>
          <p:cNvCxnSpPr>
            <a:stCxn id="248" idx="3"/>
            <a:endCxn id="251" idx="1"/>
          </p:cNvCxnSpPr>
          <p:nvPr/>
        </p:nvCxnSpPr>
        <p:spPr>
          <a:xfrm>
            <a:off x="3546000" y="4465175"/>
            <a:ext cx="76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60" name="Google Shape;260;p26"/>
          <p:cNvGrpSpPr/>
          <p:nvPr/>
        </p:nvGrpSpPr>
        <p:grpSpPr>
          <a:xfrm>
            <a:off x="5593750" y="3796500"/>
            <a:ext cx="1533600" cy="363875"/>
            <a:chOff x="5593750" y="3796500"/>
            <a:chExt cx="1533600" cy="363875"/>
          </a:xfrm>
        </p:grpSpPr>
        <p:cxnSp>
          <p:nvCxnSpPr>
            <p:cNvPr id="261" name="Google Shape;261;p26"/>
            <p:cNvCxnSpPr/>
            <p:nvPr/>
          </p:nvCxnSpPr>
          <p:spPr>
            <a:xfrm>
              <a:off x="6000633" y="4160375"/>
              <a:ext cx="768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2" name="Google Shape;262;p26"/>
            <p:cNvSpPr txBox="1"/>
            <p:nvPr/>
          </p:nvSpPr>
          <p:spPr>
            <a:xfrm>
              <a:off x="5593750" y="3796500"/>
              <a:ext cx="15336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stdin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3" name="Google Shape;263;p26"/>
          <p:cNvGrpSpPr/>
          <p:nvPr/>
        </p:nvGrpSpPr>
        <p:grpSpPr>
          <a:xfrm>
            <a:off x="5618150" y="4688050"/>
            <a:ext cx="1533600" cy="316500"/>
            <a:chOff x="5618150" y="4688050"/>
            <a:chExt cx="1533600" cy="316500"/>
          </a:xfrm>
        </p:grpSpPr>
        <p:cxnSp>
          <p:nvCxnSpPr>
            <p:cNvPr id="264" name="Google Shape;264;p26"/>
            <p:cNvCxnSpPr/>
            <p:nvPr/>
          </p:nvCxnSpPr>
          <p:spPr>
            <a:xfrm>
              <a:off x="6000633" y="4769975"/>
              <a:ext cx="768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265" name="Google Shape;265;p26"/>
            <p:cNvSpPr txBox="1"/>
            <p:nvPr/>
          </p:nvSpPr>
          <p:spPr>
            <a:xfrm>
              <a:off x="5618150" y="4688050"/>
              <a:ext cx="15336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stdout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6" name="Google Shape;266;p26"/>
          <p:cNvSpPr/>
          <p:nvPr/>
        </p:nvSpPr>
        <p:spPr>
          <a:xfrm>
            <a:off x="7174425" y="5659723"/>
            <a:ext cx="875700" cy="808500"/>
          </a:xfrm>
          <a:prstGeom prst="flowChartConnector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267;p26"/>
          <p:cNvCxnSpPr>
            <a:stCxn id="254" idx="2"/>
            <a:endCxn id="266" idx="0"/>
          </p:cNvCxnSpPr>
          <p:nvPr/>
        </p:nvCxnSpPr>
        <p:spPr>
          <a:xfrm>
            <a:off x="7612267" y="5068925"/>
            <a:ext cx="0" cy="590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6"/>
          <p:cNvCxnSpPr>
            <a:stCxn id="254" idx="3"/>
            <a:endCxn id="257" idx="2"/>
          </p:cNvCxnSpPr>
          <p:nvPr/>
        </p:nvCxnSpPr>
        <p:spPr>
          <a:xfrm>
            <a:off x="8455267" y="4465175"/>
            <a:ext cx="768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Virtual Hosting (1)</a:t>
            </a:r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Providing services for more than one domain-name (or IP) in one web server.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IP-Based Virtual Hosting vs. Name-Based Virtual Hosting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IP-Base			– Several IPs (or ports)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Name-Base		– Singe IP, several hostnames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Example (Apache configuration)</a:t>
            </a:r>
            <a:endParaRPr sz="2800"/>
          </a:p>
        </p:txBody>
      </p:sp>
      <p:sp>
        <p:nvSpPr>
          <p:cNvPr id="276" name="Google Shape;276;p27"/>
          <p:cNvSpPr txBox="1"/>
          <p:nvPr/>
        </p:nvSpPr>
        <p:spPr>
          <a:xfrm>
            <a:off x="1371600" y="4832600"/>
            <a:ext cx="3631800" cy="244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NameVirtualHost 140.113.17.225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&lt;VirtualHost 140.113.17.225&gt;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ServerName </a:t>
            </a:r>
            <a:r>
              <a:rPr lang="en-US" sz="14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nabsd.cs.nctu.edu.tw</a:t>
            </a:r>
            <a:endParaRPr sz="1400" b="1" i="0" u="none" strike="noStrike" cap="non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DocumentRoot "/www/na"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&lt;/VirtualHost&gt;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&lt;VirtualHost 140.113.17.225&gt;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ServerName </a:t>
            </a:r>
            <a:r>
              <a:rPr lang="en-US" sz="14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sabsd.cs.nctu.edu.tw</a:t>
            </a:r>
            <a:endParaRPr sz="1400" b="1" i="0" u="none" strike="noStrike" cap="non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DocumentRoot "/www/sa"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&lt;/VirtualHost&gt;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5736325" y="5045450"/>
            <a:ext cx="3890100" cy="2016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&lt;VirtualHost </a:t>
            </a:r>
            <a:r>
              <a:rPr lang="en-US" sz="14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140.113.17.215:80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DocumentRoot /www/sabsd</a:t>
            </a: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ServerName sabsd.cs.nctu.edu.tw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&lt;/VirtualHost&gt;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&lt;VirtualHost </a:t>
            </a:r>
            <a:r>
              <a:rPr lang="en-US" sz="14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140.113.17.221:80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DocumentRoot /www/tphp</a:t>
            </a: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ServerName tphp.cs.nctu.edu.tw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&lt;/VirtualHost&gt;</a:t>
            </a:r>
            <a:endParaRPr sz="14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Hosting 	– Virtual Hosting (2)</a:t>
            </a:r>
            <a:endParaRPr/>
          </a:p>
        </p:txBody>
      </p:sp>
      <p:sp>
        <p:nvSpPr>
          <p:cNvPr id="284" name="Google Shape;284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Q: How Name-Based Virtual Hosting works?</a:t>
            </a: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A: It takes use of HTTP Headers.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85" name="Google Shape;285;p28"/>
          <p:cNvSpPr txBox="1"/>
          <p:nvPr/>
        </p:nvSpPr>
        <p:spPr>
          <a:xfrm>
            <a:off x="391600" y="3023850"/>
            <a:ext cx="4764300" cy="3709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$ telnet www.cs.nctu.edu.tw 80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Trying 140.113.235.47...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Connected to www.cs.nctu.edu.tw.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Escape character is '^]'.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GET / HTTP/1.0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Host: www.cs.nctu.edu.tw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HTTP/1.1 301 Moved Permanently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Server: nginx/0.7.62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Date: Sat, 12 Dec 2009 02:50:22 GMT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Cache-Control: no-cache, must-revalidate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Location: cht/announcements/index.php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Vary: Accept-Encoding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 closed by foreign host.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5420875" y="2621400"/>
            <a:ext cx="5466600" cy="4653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telnet www.cs.nctu.edu.tw 80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Trying 140.113.235.47...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Connected to www.cs.nctu.edu.tw.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Escape character is '^]'.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GET / HTTP/1.0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Host: www.ccs.nctu.edu.tw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Server: nginx/0.7.62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Date: Sat, 12 Dec 2009 02:51:43 GMT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Vary: Accept-Encoding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 PUBLIC "-//W3C//DTD HTML 4.01//EN" "http://www.w3.org/TR/html4/strict.dtd"&gt;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 lang="zh-Hant"&gt;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&lt;meta http-equiv="content-type" content="text/html; charset=utf-8"&gt;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&lt;title&gt;國立交通大學資訊學院&lt;/title&gt;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92" name="Google Shape;292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Web Hosting - Server Name Indication (SNI)</a:t>
            </a:r>
            <a:endParaRPr sz="4600"/>
          </a:p>
        </p:txBody>
      </p:sp>
      <p:sp>
        <p:nvSpPr>
          <p:cNvPr id="293" name="Google Shape;293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An extension to the TLS protocol by which a client indicates which hostname it is attempting to connect to at the start of the handshaking process.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 single IP Address for multiple SSL sites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No encryption of hostname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Possible information leak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294" name="Google Shape;294;p29"/>
          <p:cNvSpPr txBox="1"/>
          <p:nvPr/>
        </p:nvSpPr>
        <p:spPr>
          <a:xfrm>
            <a:off x="2871575" y="4410125"/>
            <a:ext cx="15336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ClientHello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2871575" y="6924725"/>
            <a:ext cx="15336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Application 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6" name="Google Shape;296;p29"/>
          <p:cNvCxnSpPr/>
          <p:nvPr/>
        </p:nvCxnSpPr>
        <p:spPr>
          <a:xfrm>
            <a:off x="4514675" y="4072325"/>
            <a:ext cx="0" cy="338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29"/>
          <p:cNvCxnSpPr/>
          <p:nvPr/>
        </p:nvCxnSpPr>
        <p:spPr>
          <a:xfrm>
            <a:off x="6495875" y="4072325"/>
            <a:ext cx="0" cy="338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 txBox="1"/>
          <p:nvPr/>
        </p:nvSpPr>
        <p:spPr>
          <a:xfrm>
            <a:off x="6605375" y="4791125"/>
            <a:ext cx="16503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ServerHello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6605375" y="5781725"/>
            <a:ext cx="16503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ServerCertification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6605375" y="6315125"/>
            <a:ext cx="16503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ServerHelloDone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6605375" y="6924725"/>
            <a:ext cx="1533600" cy="4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Application 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2" name="Google Shape;302;p29"/>
          <p:cNvCxnSpPr/>
          <p:nvPr/>
        </p:nvCxnSpPr>
        <p:spPr>
          <a:xfrm>
            <a:off x="4524925" y="4622350"/>
            <a:ext cx="1968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3" name="Google Shape;303;p29"/>
          <p:cNvSpPr txBox="1"/>
          <p:nvPr/>
        </p:nvSpPr>
        <p:spPr>
          <a:xfrm>
            <a:off x="4765625" y="3784150"/>
            <a:ext cx="15336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Supported Ciphers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Random Number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Session ID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SNI</a:t>
            </a:r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4" name="Google Shape;304;p29"/>
          <p:cNvCxnSpPr/>
          <p:nvPr/>
        </p:nvCxnSpPr>
        <p:spPr>
          <a:xfrm>
            <a:off x="4524925" y="5003350"/>
            <a:ext cx="1968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05" name="Google Shape;305;p29"/>
          <p:cNvSpPr txBox="1"/>
          <p:nvPr/>
        </p:nvSpPr>
        <p:spPr>
          <a:xfrm>
            <a:off x="4689425" y="4927150"/>
            <a:ext cx="15336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Selected Ciphers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Random Number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Session ID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1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SNI (empty)</a:t>
            </a:r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6" name="Google Shape;306;p29"/>
          <p:cNvCxnSpPr/>
          <p:nvPr/>
        </p:nvCxnSpPr>
        <p:spPr>
          <a:xfrm>
            <a:off x="4524925" y="7136950"/>
            <a:ext cx="1968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7" name="Google Shape;307;p29"/>
          <p:cNvCxnSpPr/>
          <p:nvPr/>
        </p:nvCxnSpPr>
        <p:spPr>
          <a:xfrm>
            <a:off x="4524925" y="6527350"/>
            <a:ext cx="1968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08" name="Google Shape;308;p29"/>
          <p:cNvSpPr txBox="1"/>
          <p:nvPr/>
        </p:nvSpPr>
        <p:spPr>
          <a:xfrm>
            <a:off x="4613225" y="6222550"/>
            <a:ext cx="18045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Continue Handshake steps</a:t>
            </a:r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p29"/>
          <p:cNvCxnSpPr/>
          <p:nvPr/>
        </p:nvCxnSpPr>
        <p:spPr>
          <a:xfrm>
            <a:off x="2871575" y="6832025"/>
            <a:ext cx="526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Proxy</a:t>
            </a:r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Proxy</a:t>
            </a:r>
            <a:endParaRPr sz="23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A proxy server is a server which services the requests of its clients by: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Making requests to other servers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Caching some results for further same requests</a:t>
            </a:r>
            <a:endParaRPr sz="19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Goals: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Performance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Stability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Central Control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…etc.</a:t>
            </a:r>
            <a:endParaRPr sz="19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Roles: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Forward Proxy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Reverse Proxy</a:t>
            </a:r>
            <a:endParaRPr sz="19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Targets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Char char="■"/>
            </a:pPr>
            <a:r>
              <a:rPr lang="en-US" sz="1900">
                <a:solidFill>
                  <a:srgbClr val="FF0000"/>
                </a:solidFill>
              </a:rPr>
              <a:t>Web pages/FTP files</a:t>
            </a:r>
            <a:endParaRPr sz="1900">
              <a:solidFill>
                <a:srgbClr val="FF0000"/>
              </a:solidFill>
            </a:endParaRPr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TCP/IP Connections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…etc.</a:t>
            </a:r>
            <a:endParaRPr sz="1900"/>
          </a:p>
        </p:txBody>
      </p:sp>
      <p:grpSp>
        <p:nvGrpSpPr>
          <p:cNvPr id="317" name="Google Shape;317;p30"/>
          <p:cNvGrpSpPr/>
          <p:nvPr/>
        </p:nvGrpSpPr>
        <p:grpSpPr>
          <a:xfrm>
            <a:off x="4609798" y="3545443"/>
            <a:ext cx="6053540" cy="2654728"/>
            <a:chOff x="3847628" y="3581400"/>
            <a:chExt cx="5346234" cy="2185501"/>
          </a:xfrm>
        </p:grpSpPr>
        <p:grpSp>
          <p:nvGrpSpPr>
            <p:cNvPr id="318" name="Google Shape;318;p30"/>
            <p:cNvGrpSpPr/>
            <p:nvPr/>
          </p:nvGrpSpPr>
          <p:grpSpPr>
            <a:xfrm>
              <a:off x="3962400" y="3581400"/>
              <a:ext cx="5231462" cy="1844565"/>
              <a:chOff x="1722" y="2400"/>
              <a:chExt cx="3611" cy="1248"/>
            </a:xfrm>
          </p:grpSpPr>
          <p:pic>
            <p:nvPicPr>
              <p:cNvPr id="319" name="Google Shape;319;p30"/>
              <p:cNvPicPr preferRelativeResize="0"/>
              <p:nvPr/>
            </p:nvPicPr>
            <p:blipFill rotWithShape="1">
              <a:blip r:embed="rId3">
                <a:alphaModFix/>
              </a:blip>
              <a:srcRect l="21917" t="7338"/>
              <a:stretch/>
            </p:blipFill>
            <p:spPr>
              <a:xfrm>
                <a:off x="4862" y="2400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0" name="Google Shape;320;p30"/>
              <p:cNvPicPr preferRelativeResize="0"/>
              <p:nvPr/>
            </p:nvPicPr>
            <p:blipFill rotWithShape="1">
              <a:blip r:embed="rId4">
                <a:alphaModFix/>
              </a:blip>
              <a:srcRect l="21917" t="7338"/>
              <a:stretch/>
            </p:blipFill>
            <p:spPr>
              <a:xfrm>
                <a:off x="3374" y="2784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1" name="Google Shape;321;p3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2544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2" name="Google Shape;322;p3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3318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23" name="Google Shape;323;p30"/>
              <p:cNvCxnSpPr/>
              <p:nvPr/>
            </p:nvCxnSpPr>
            <p:spPr>
              <a:xfrm>
                <a:off x="2160" y="264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4" name="Google Shape;324;p30"/>
              <p:cNvCxnSpPr/>
              <p:nvPr/>
            </p:nvCxnSpPr>
            <p:spPr>
              <a:xfrm>
                <a:off x="2160" y="273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cxnSp>
            <p:nvCxnSpPr>
              <p:cNvPr id="325" name="Google Shape;325;p30"/>
              <p:cNvCxnSpPr/>
              <p:nvPr/>
            </p:nvCxnSpPr>
            <p:spPr>
              <a:xfrm rot="10800000" flipH="1">
                <a:off x="2160" y="315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6" name="Google Shape;326;p30"/>
              <p:cNvCxnSpPr/>
              <p:nvPr/>
            </p:nvCxnSpPr>
            <p:spPr>
              <a:xfrm rot="10800000" flipH="1">
                <a:off x="2160" y="3252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cxnSp>
            <p:nvCxnSpPr>
              <p:cNvPr id="327" name="Google Shape;327;p30"/>
              <p:cNvCxnSpPr/>
              <p:nvPr/>
            </p:nvCxnSpPr>
            <p:spPr>
              <a:xfrm rot="10800000" flipH="1">
                <a:off x="3710" y="2724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8" name="Google Shape;328;p30"/>
              <p:cNvCxnSpPr/>
              <p:nvPr/>
            </p:nvCxnSpPr>
            <p:spPr>
              <a:xfrm rot="10800000" flipH="1">
                <a:off x="3710" y="282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sp>
            <p:nvSpPr>
              <p:cNvPr id="329" name="Google Shape;329;p30"/>
              <p:cNvSpPr/>
              <p:nvPr/>
            </p:nvSpPr>
            <p:spPr>
              <a:xfrm>
                <a:off x="1728" y="288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1728" y="364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31" name="Google Shape;331;p30"/>
              <p:cNvSpPr/>
              <p:nvPr/>
            </p:nvSpPr>
            <p:spPr>
              <a:xfrm>
                <a:off x="3273" y="2496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Proxy</a:t>
                </a:r>
                <a:b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4733" y="302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Original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33" name="Google Shape;333;p30"/>
            <p:cNvSpPr txBox="1"/>
            <p:nvPr/>
          </p:nvSpPr>
          <p:spPr>
            <a:xfrm rot="878073">
              <a:off x="5078844" y="3884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30"/>
            <p:cNvSpPr txBox="1"/>
            <p:nvPr/>
          </p:nvSpPr>
          <p:spPr>
            <a:xfrm rot="878073">
              <a:off x="4926444" y="4265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30"/>
            <p:cNvSpPr txBox="1"/>
            <p:nvPr/>
          </p:nvSpPr>
          <p:spPr>
            <a:xfrm rot="-861519">
              <a:off x="4850199" y="4647028"/>
              <a:ext cx="1163753" cy="297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30"/>
            <p:cNvSpPr txBox="1"/>
            <p:nvPr/>
          </p:nvSpPr>
          <p:spPr>
            <a:xfrm rot="-857006">
              <a:off x="4926439" y="5028038"/>
              <a:ext cx="1163673" cy="29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30"/>
            <p:cNvSpPr txBox="1"/>
            <p:nvPr/>
          </p:nvSpPr>
          <p:spPr>
            <a:xfrm rot="-861519">
              <a:off x="7136199" y="3961228"/>
              <a:ext cx="1163753" cy="297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p30"/>
            <p:cNvSpPr txBox="1"/>
            <p:nvPr/>
          </p:nvSpPr>
          <p:spPr>
            <a:xfrm rot="-857006">
              <a:off x="7212439" y="4342238"/>
              <a:ext cx="1163673" cy="29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3847628" y="4180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3847628" y="5323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46" name="Google Shape;346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Proxy – The Forward Proxy</a:t>
            </a:r>
            <a:endParaRPr/>
          </a:p>
        </p:txBody>
      </p:sp>
      <p:sp>
        <p:nvSpPr>
          <p:cNvPr id="347" name="Google Shape;347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Forward Proxy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Proxy the outgoing requests, for the reason of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Bandwidth saving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Performance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Central control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objects requested are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 cache, return the cached objects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Otherwise, proxy server requests object from origin server, then cache it and return to client</a:t>
            </a:r>
            <a:endParaRPr/>
          </a:p>
        </p:txBody>
      </p:sp>
      <p:grpSp>
        <p:nvGrpSpPr>
          <p:cNvPr id="348" name="Google Shape;348;p31"/>
          <p:cNvGrpSpPr/>
          <p:nvPr/>
        </p:nvGrpSpPr>
        <p:grpSpPr>
          <a:xfrm>
            <a:off x="5845715" y="5304532"/>
            <a:ext cx="4709497" cy="2104637"/>
            <a:chOff x="3847628" y="3581400"/>
            <a:chExt cx="5346234" cy="2185501"/>
          </a:xfrm>
        </p:grpSpPr>
        <p:grpSp>
          <p:nvGrpSpPr>
            <p:cNvPr id="349" name="Google Shape;349;p31"/>
            <p:cNvGrpSpPr/>
            <p:nvPr/>
          </p:nvGrpSpPr>
          <p:grpSpPr>
            <a:xfrm>
              <a:off x="3962400" y="3581400"/>
              <a:ext cx="5231462" cy="1844565"/>
              <a:chOff x="1722" y="2400"/>
              <a:chExt cx="3611" cy="1248"/>
            </a:xfrm>
          </p:grpSpPr>
          <p:pic>
            <p:nvPicPr>
              <p:cNvPr id="350" name="Google Shape;350;p31"/>
              <p:cNvPicPr preferRelativeResize="0"/>
              <p:nvPr/>
            </p:nvPicPr>
            <p:blipFill rotWithShape="1">
              <a:blip r:embed="rId3">
                <a:alphaModFix/>
              </a:blip>
              <a:srcRect l="21917" t="7338"/>
              <a:stretch/>
            </p:blipFill>
            <p:spPr>
              <a:xfrm>
                <a:off x="4862" y="2400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1" name="Google Shape;351;p31"/>
              <p:cNvPicPr preferRelativeResize="0"/>
              <p:nvPr/>
            </p:nvPicPr>
            <p:blipFill rotWithShape="1">
              <a:blip r:embed="rId4">
                <a:alphaModFix/>
              </a:blip>
              <a:srcRect l="21917" t="7338"/>
              <a:stretch/>
            </p:blipFill>
            <p:spPr>
              <a:xfrm>
                <a:off x="3374" y="2784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2" name="Google Shape;352;p3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2544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3" name="Google Shape;353;p3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3318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54" name="Google Shape;354;p31"/>
              <p:cNvCxnSpPr/>
              <p:nvPr/>
            </p:nvCxnSpPr>
            <p:spPr>
              <a:xfrm>
                <a:off x="2160" y="264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5" name="Google Shape;355;p31"/>
              <p:cNvCxnSpPr/>
              <p:nvPr/>
            </p:nvCxnSpPr>
            <p:spPr>
              <a:xfrm>
                <a:off x="2160" y="273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cxnSp>
            <p:nvCxnSpPr>
              <p:cNvPr id="356" name="Google Shape;356;p31"/>
              <p:cNvCxnSpPr/>
              <p:nvPr/>
            </p:nvCxnSpPr>
            <p:spPr>
              <a:xfrm rot="10800000" flipH="1">
                <a:off x="2160" y="315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7" name="Google Shape;357;p31"/>
              <p:cNvCxnSpPr/>
              <p:nvPr/>
            </p:nvCxnSpPr>
            <p:spPr>
              <a:xfrm rot="10800000" flipH="1">
                <a:off x="2160" y="3252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cxnSp>
            <p:nvCxnSpPr>
              <p:cNvPr id="358" name="Google Shape;358;p31"/>
              <p:cNvCxnSpPr/>
              <p:nvPr/>
            </p:nvCxnSpPr>
            <p:spPr>
              <a:xfrm rot="10800000" flipH="1">
                <a:off x="3710" y="2724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9" name="Google Shape;359;p31"/>
              <p:cNvCxnSpPr/>
              <p:nvPr/>
            </p:nvCxnSpPr>
            <p:spPr>
              <a:xfrm rot="10800000" flipH="1">
                <a:off x="3710" y="282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sp>
            <p:nvSpPr>
              <p:cNvPr id="360" name="Google Shape;360;p31"/>
              <p:cNvSpPr/>
              <p:nvPr/>
            </p:nvSpPr>
            <p:spPr>
              <a:xfrm>
                <a:off x="1728" y="288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61" name="Google Shape;361;p31"/>
              <p:cNvSpPr/>
              <p:nvPr/>
            </p:nvSpPr>
            <p:spPr>
              <a:xfrm>
                <a:off x="1728" y="364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3273" y="2496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Proxy</a:t>
                </a:r>
                <a:b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733" y="302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Original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64" name="Google Shape;364;p31"/>
            <p:cNvSpPr txBox="1"/>
            <p:nvPr/>
          </p:nvSpPr>
          <p:spPr>
            <a:xfrm rot="878073">
              <a:off x="5078844" y="3884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" name="Google Shape;365;p31"/>
            <p:cNvSpPr txBox="1"/>
            <p:nvPr/>
          </p:nvSpPr>
          <p:spPr>
            <a:xfrm rot="878073">
              <a:off x="4926444" y="4265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6" name="Google Shape;366;p31"/>
            <p:cNvSpPr txBox="1"/>
            <p:nvPr/>
          </p:nvSpPr>
          <p:spPr>
            <a:xfrm rot="-861519">
              <a:off x="4850199" y="4647028"/>
              <a:ext cx="1163753" cy="297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" name="Google Shape;367;p31"/>
            <p:cNvSpPr txBox="1"/>
            <p:nvPr/>
          </p:nvSpPr>
          <p:spPr>
            <a:xfrm rot="-857006">
              <a:off x="4926439" y="5028038"/>
              <a:ext cx="1163673" cy="29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" name="Google Shape;368;p31"/>
            <p:cNvSpPr txBox="1"/>
            <p:nvPr/>
          </p:nvSpPr>
          <p:spPr>
            <a:xfrm rot="-861519">
              <a:off x="7136199" y="3961228"/>
              <a:ext cx="1163753" cy="297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p31"/>
            <p:cNvSpPr txBox="1"/>
            <p:nvPr/>
          </p:nvSpPr>
          <p:spPr>
            <a:xfrm rot="-857006">
              <a:off x="7212439" y="4342238"/>
              <a:ext cx="1163673" cy="29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3847628" y="4180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3847628" y="5323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Reverse Proxy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Proxy the incoming requests, for the reason of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Reducing Server Load (by caching)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Load Balance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Fault Tolerant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Reverse proxy acts as the original server, accept incoming requests, reply corresponding result. </a:t>
            </a:r>
            <a:r>
              <a:rPr lang="en-US" sz="2600">
                <a:solidFill>
                  <a:srgbClr val="FF0000"/>
                </a:solidFill>
              </a:rPr>
              <a:t>SEAMLESS for clients!</a:t>
            </a:r>
            <a:endParaRPr sz="2600">
              <a:solidFill>
                <a:srgbClr val="FF0000"/>
              </a:solidFill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3987300" y="5467299"/>
            <a:ext cx="1795176" cy="1262088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8" name="Google Shape;378;p32"/>
          <p:cNvGrpSpPr/>
          <p:nvPr/>
        </p:nvGrpSpPr>
        <p:grpSpPr>
          <a:xfrm>
            <a:off x="8084150" y="6354279"/>
            <a:ext cx="947108" cy="1335242"/>
            <a:chOff x="4733" y="2400"/>
            <a:chExt cx="600" cy="789"/>
          </a:xfrm>
        </p:grpSpPr>
        <p:pic>
          <p:nvPicPr>
            <p:cNvPr id="379" name="Google Shape;379;p32"/>
            <p:cNvPicPr preferRelativeResize="0"/>
            <p:nvPr/>
          </p:nvPicPr>
          <p:blipFill rotWithShape="1">
            <a:blip r:embed="rId3">
              <a:alphaModFix/>
            </a:blip>
            <a:srcRect l="21917" t="7338"/>
            <a:stretch/>
          </p:blipFill>
          <p:spPr>
            <a:xfrm>
              <a:off x="4862" y="2400"/>
              <a:ext cx="342" cy="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32"/>
            <p:cNvSpPr/>
            <p:nvPr/>
          </p:nvSpPr>
          <p:spPr>
            <a:xfrm>
              <a:off x="4733" y="288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Server 2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81" name="Google Shape;381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82" name="Google Shape;382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Proxy – The Reverse Proxy</a:t>
            </a:r>
            <a:endParaRPr/>
          </a:p>
        </p:txBody>
      </p:sp>
      <p:grpSp>
        <p:nvGrpSpPr>
          <p:cNvPr id="383" name="Google Shape;383;p32"/>
          <p:cNvGrpSpPr/>
          <p:nvPr/>
        </p:nvGrpSpPr>
        <p:grpSpPr>
          <a:xfrm>
            <a:off x="3130336" y="4754079"/>
            <a:ext cx="5824721" cy="2502617"/>
            <a:chOff x="3847628" y="3581400"/>
            <a:chExt cx="5346234" cy="2185501"/>
          </a:xfrm>
        </p:grpSpPr>
        <p:grpSp>
          <p:nvGrpSpPr>
            <p:cNvPr id="384" name="Google Shape;384;p32"/>
            <p:cNvGrpSpPr/>
            <p:nvPr/>
          </p:nvGrpSpPr>
          <p:grpSpPr>
            <a:xfrm>
              <a:off x="3962400" y="3581400"/>
              <a:ext cx="5231462" cy="1844565"/>
              <a:chOff x="1722" y="2400"/>
              <a:chExt cx="3611" cy="1248"/>
            </a:xfrm>
          </p:grpSpPr>
          <p:pic>
            <p:nvPicPr>
              <p:cNvPr id="385" name="Google Shape;385;p32"/>
              <p:cNvPicPr preferRelativeResize="0"/>
              <p:nvPr/>
            </p:nvPicPr>
            <p:blipFill rotWithShape="1">
              <a:blip r:embed="rId3">
                <a:alphaModFix/>
              </a:blip>
              <a:srcRect l="21917" t="7338"/>
              <a:stretch/>
            </p:blipFill>
            <p:spPr>
              <a:xfrm>
                <a:off x="4862" y="2400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" name="Google Shape;386;p32"/>
              <p:cNvPicPr preferRelativeResize="0"/>
              <p:nvPr/>
            </p:nvPicPr>
            <p:blipFill rotWithShape="1">
              <a:blip r:embed="rId4">
                <a:alphaModFix/>
              </a:blip>
              <a:srcRect l="21917" t="7338"/>
              <a:stretch/>
            </p:blipFill>
            <p:spPr>
              <a:xfrm>
                <a:off x="3374" y="2784"/>
                <a:ext cx="342" cy="6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7" name="Google Shape;387;p3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2544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8" name="Google Shape;388;p3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722" y="3318"/>
                <a:ext cx="390" cy="33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89" name="Google Shape;389;p32"/>
              <p:cNvCxnSpPr/>
              <p:nvPr/>
            </p:nvCxnSpPr>
            <p:spPr>
              <a:xfrm>
                <a:off x="2160" y="273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triangle" w="sm" len="sm"/>
              </a:ln>
            </p:spPr>
          </p:cxnSp>
          <p:cxnSp>
            <p:nvCxnSpPr>
              <p:cNvPr id="390" name="Google Shape;390;p32"/>
              <p:cNvCxnSpPr/>
              <p:nvPr/>
            </p:nvCxnSpPr>
            <p:spPr>
              <a:xfrm rot="10800000" flipH="1">
                <a:off x="2160" y="3252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triangle" w="sm" len="sm"/>
              </a:ln>
            </p:spPr>
          </p:cxnSp>
          <p:cxnSp>
            <p:nvCxnSpPr>
              <p:cNvPr id="391" name="Google Shape;391;p32"/>
              <p:cNvCxnSpPr/>
              <p:nvPr/>
            </p:nvCxnSpPr>
            <p:spPr>
              <a:xfrm rot="10800000" flipH="1">
                <a:off x="3710" y="2724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2" name="Google Shape;392;p32"/>
              <p:cNvCxnSpPr/>
              <p:nvPr/>
            </p:nvCxnSpPr>
            <p:spPr>
              <a:xfrm rot="10800000" flipH="1">
                <a:off x="3710" y="282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  <p:sp>
            <p:nvSpPr>
              <p:cNvPr id="393" name="Google Shape;393;p32"/>
              <p:cNvSpPr/>
              <p:nvPr/>
            </p:nvSpPr>
            <p:spPr>
              <a:xfrm>
                <a:off x="1728" y="288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1728" y="364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</a:t>
                </a:r>
                <a:endParaRPr sz="1000"/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3273" y="2496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Proxy</a:t>
                </a:r>
                <a:b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US" sz="1300" i="0" u="none" strike="noStrike" cap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4733" y="2889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latin typeface="Times New Roman"/>
                    <a:ea typeface="Times New Roman"/>
                    <a:cs typeface="Times New Roman"/>
                    <a:sym typeface="Times New Roman"/>
                  </a:rPr>
                  <a:t>Server 1</a:t>
                </a:r>
                <a:endParaRPr sz="9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97" name="Google Shape;397;p32"/>
            <p:cNvSpPr txBox="1"/>
            <p:nvPr/>
          </p:nvSpPr>
          <p:spPr>
            <a:xfrm rot="-861519">
              <a:off x="7136199" y="3961228"/>
              <a:ext cx="1163753" cy="297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p32"/>
            <p:cNvSpPr txBox="1"/>
            <p:nvPr/>
          </p:nvSpPr>
          <p:spPr>
            <a:xfrm rot="-857006">
              <a:off x="7212439" y="4342238"/>
              <a:ext cx="1163673" cy="29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3847628" y="4180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3847628" y="5323501"/>
              <a:ext cx="869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1" name="Google Shape;401;p32"/>
          <p:cNvGrpSpPr/>
          <p:nvPr/>
        </p:nvGrpSpPr>
        <p:grpSpPr>
          <a:xfrm>
            <a:off x="6461368" y="6081919"/>
            <a:ext cx="1894215" cy="1102388"/>
            <a:chOff x="4596992" y="3742818"/>
            <a:chExt cx="1738610" cy="962700"/>
          </a:xfrm>
        </p:grpSpPr>
        <p:grpSp>
          <p:nvGrpSpPr>
            <p:cNvPr id="402" name="Google Shape;402;p32"/>
            <p:cNvGrpSpPr/>
            <p:nvPr/>
          </p:nvGrpSpPr>
          <p:grpSpPr>
            <a:xfrm>
              <a:off x="4596992" y="3936124"/>
              <a:ext cx="1738610" cy="585295"/>
              <a:chOff x="2160" y="2640"/>
              <a:chExt cx="1200" cy="396"/>
            </a:xfrm>
          </p:grpSpPr>
          <p:cxnSp>
            <p:nvCxnSpPr>
              <p:cNvPr id="403" name="Google Shape;403;p32"/>
              <p:cNvCxnSpPr/>
              <p:nvPr/>
            </p:nvCxnSpPr>
            <p:spPr>
              <a:xfrm>
                <a:off x="2160" y="2640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04" name="Google Shape;404;p32"/>
              <p:cNvCxnSpPr/>
              <p:nvPr/>
            </p:nvCxnSpPr>
            <p:spPr>
              <a:xfrm>
                <a:off x="2160" y="2736"/>
                <a:ext cx="12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sm" len="sm"/>
              </a:ln>
            </p:spPr>
          </p:cxnSp>
        </p:grpSp>
        <p:sp>
          <p:nvSpPr>
            <p:cNvPr id="405" name="Google Shape;405;p32"/>
            <p:cNvSpPr txBox="1"/>
            <p:nvPr/>
          </p:nvSpPr>
          <p:spPr>
            <a:xfrm rot="878073">
              <a:off x="5078844" y="3884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Requests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32"/>
            <p:cNvSpPr txBox="1"/>
            <p:nvPr/>
          </p:nvSpPr>
          <p:spPr>
            <a:xfrm rot="878073">
              <a:off x="4926444" y="4265972"/>
              <a:ext cx="1163652" cy="297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Reply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12" name="Google Shape;412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Proxy – The Reverse Proxy - Cont. </a:t>
            </a:r>
            <a:endParaRPr/>
          </a:p>
        </p:txBody>
      </p:sp>
      <p:sp>
        <p:nvSpPr>
          <p:cNvPr id="413" name="Google Shape;413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Modem Hardware Server Load Balance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layer load balancing (L7)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layer service health check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Global server load balancing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SSL off load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Data acceleration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Cache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Compression (gzip)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Programmable server load balancing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F5 iRule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A10 aFlex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2531</Words>
  <Application>Microsoft Macintosh PowerPoint</Application>
  <PresentationFormat>自訂</PresentationFormat>
  <Paragraphs>500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4" baseType="lpstr">
      <vt:lpstr>Courier New</vt:lpstr>
      <vt:lpstr>Source Sans Pro</vt:lpstr>
      <vt:lpstr>Noto Sans Symbols</vt:lpstr>
      <vt:lpstr>Times New Roman</vt:lpstr>
      <vt:lpstr>Microsoft JhengHei</vt:lpstr>
      <vt:lpstr>Arial</vt:lpstr>
      <vt:lpstr>CSCC NASA</vt:lpstr>
      <vt:lpstr>Web</vt:lpstr>
      <vt:lpstr>Outline</vt:lpstr>
      <vt:lpstr>Web Hosting – Basics (1)</vt:lpstr>
      <vt:lpstr>Web Hosting – Basics (2)</vt:lpstr>
      <vt:lpstr>Web Hosting – Basics (3)</vt:lpstr>
      <vt:lpstr>Web Hosting – Basics (4)</vt:lpstr>
      <vt:lpstr>Web Hosting – Basics (5)</vt:lpstr>
      <vt:lpstr>Web Hosting – Basics (6)</vt:lpstr>
      <vt:lpstr>Web Hosting – Client-Server Architecture (1)</vt:lpstr>
      <vt:lpstr>Web Hosting – Client-Server Architecture (2)</vt:lpstr>
      <vt:lpstr>Web Hosting  – The HTTP Protocol (1)</vt:lpstr>
      <vt:lpstr>Web Hosting  – The HTTP Protocol (2)</vt:lpstr>
      <vt:lpstr>Web Hosting  – The HTTP Protocol (3)</vt:lpstr>
      <vt:lpstr>Web Hosting  – The HTTP Protocol (4)</vt:lpstr>
      <vt:lpstr>Web Hosting  – The HTTP Protocol (5)</vt:lpstr>
      <vt:lpstr>Web Hosting  – The HTTP Protocol (6)</vt:lpstr>
      <vt:lpstr>Web Hosting  – The HTTP Protocol (7)</vt:lpstr>
      <vt:lpstr>Web Hosting  – The HTTP Protocol (7)</vt:lpstr>
      <vt:lpstr>Web Hosting  – Static vs. Dynamic Pages (1)</vt:lpstr>
      <vt:lpstr>Web Hosting  – Static vs. Dynamic Pages (2)</vt:lpstr>
      <vt:lpstr>Web Hosting  – Virtual Hosting (1)</vt:lpstr>
      <vt:lpstr>Web Hosting  – Virtual Hosting (2)</vt:lpstr>
      <vt:lpstr>Web Hosting - Server Name Indication (SNI)</vt:lpstr>
      <vt:lpstr>Proxy</vt:lpstr>
      <vt:lpstr>Proxy – The Forward Proxy</vt:lpstr>
      <vt:lpstr>Proxy – The Reverse Proxy</vt:lpstr>
      <vt:lpstr>Proxy – The Reverse Proxy - Cont.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cp:lastModifiedBy>Microsoft Office User</cp:lastModifiedBy>
  <cp:revision>5</cp:revision>
  <dcterms:modified xsi:type="dcterms:W3CDTF">2021-11-10T01:24:38Z</dcterms:modified>
</cp:coreProperties>
</file>